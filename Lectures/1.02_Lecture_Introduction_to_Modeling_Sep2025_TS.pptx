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9"/>
  </p:notesMasterIdLst>
  <p:handoutMasterIdLst>
    <p:handoutMasterId r:id="rId30"/>
  </p:handoutMasterIdLst>
  <p:sldIdLst>
    <p:sldId id="286" r:id="rId9"/>
    <p:sldId id="303" r:id="rId10"/>
    <p:sldId id="310" r:id="rId11"/>
    <p:sldId id="624" r:id="rId12"/>
    <p:sldId id="622" r:id="rId13"/>
    <p:sldId id="623" r:id="rId14"/>
    <p:sldId id="309" r:id="rId15"/>
    <p:sldId id="311" r:id="rId16"/>
    <p:sldId id="304" r:id="rId17"/>
    <p:sldId id="312" r:id="rId18"/>
    <p:sldId id="618" r:id="rId19"/>
    <p:sldId id="596" r:id="rId20"/>
    <p:sldId id="590" r:id="rId21"/>
    <p:sldId id="619" r:id="rId22"/>
    <p:sldId id="625" r:id="rId23"/>
    <p:sldId id="307" r:id="rId24"/>
    <p:sldId id="627" r:id="rId25"/>
    <p:sldId id="628" r:id="rId26"/>
    <p:sldId id="621" r:id="rId27"/>
    <p:sldId id="301" r:id="rId28"/>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64"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7EEE"/>
    <a:srgbClr val="9F9C95"/>
    <a:srgbClr val="A4A5A3"/>
    <a:srgbClr val="CBCBCB"/>
    <a:srgbClr val="FFFF66"/>
    <a:srgbClr val="FFFFFF"/>
    <a:srgbClr val="FCAE3B"/>
    <a:srgbClr val="50771B"/>
    <a:srgbClr val="C1985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32" autoAdjust="0"/>
    <p:restoredTop sz="94660"/>
  </p:normalViewPr>
  <p:slideViewPr>
    <p:cSldViewPr snapToGrid="0">
      <p:cViewPr varScale="1">
        <p:scale>
          <a:sx n="95" d="100"/>
          <a:sy n="95" d="100"/>
        </p:scale>
        <p:origin x="216" y="880"/>
      </p:cViewPr>
      <p:guideLst>
        <p:guide orient="horz" pos="2160"/>
        <p:guide pos="3864"/>
        <p:guide pos="4464"/>
        <p:guide pos="6408"/>
        <p:guide orient="horz" pos="288"/>
        <p:guide orient="horz" pos="3456"/>
      </p:guideLst>
    </p:cSldViewPr>
  </p:slideViewPr>
  <p:notesTextViewPr>
    <p:cViewPr>
      <p:scale>
        <a:sx n="100" d="100"/>
        <a:sy n="10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handoutMaster" Target="handoutMasters/handoutMaster1.xml"/><Relationship Id="rId8" Type="http://schemas.openxmlformats.org/officeDocument/2006/relationships/slideMaster" Target="slideMasters/slideMaster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9/15/25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9/15/25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11</a:t>
            </a:fld>
            <a:endParaRPr lang="en-US" dirty="0"/>
          </a:p>
        </p:txBody>
      </p:sp>
    </p:spTree>
    <p:extLst>
      <p:ext uri="{BB962C8B-B14F-4D97-AF65-F5344CB8AC3E}">
        <p14:creationId xmlns:p14="http://schemas.microsoft.com/office/powerpoint/2010/main" val="11863936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12</a:t>
            </a:fld>
            <a:endParaRPr lang="en-US" dirty="0"/>
          </a:p>
        </p:txBody>
      </p:sp>
    </p:spTree>
    <p:extLst>
      <p:ext uri="{BB962C8B-B14F-4D97-AF65-F5344CB8AC3E}">
        <p14:creationId xmlns:p14="http://schemas.microsoft.com/office/powerpoint/2010/main" val="22174182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13</a:t>
            </a:fld>
            <a:endParaRPr lang="en-US" dirty="0"/>
          </a:p>
        </p:txBody>
      </p:sp>
    </p:spTree>
    <p:extLst>
      <p:ext uri="{BB962C8B-B14F-4D97-AF65-F5344CB8AC3E}">
        <p14:creationId xmlns:p14="http://schemas.microsoft.com/office/powerpoint/2010/main" val="2161021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14</a:t>
            </a:fld>
            <a:endParaRPr lang="en-US" dirty="0"/>
          </a:p>
        </p:txBody>
      </p:sp>
    </p:spTree>
    <p:extLst>
      <p:ext uri="{BB962C8B-B14F-4D97-AF65-F5344CB8AC3E}">
        <p14:creationId xmlns:p14="http://schemas.microsoft.com/office/powerpoint/2010/main" val="2576344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762000"/>
          </a:xfrm>
        </p:spPr>
        <p:txBody>
          <a:bodyPr/>
          <a:lstStyle>
            <a:lvl1pPr>
              <a:defRPr sz="3600"/>
            </a:lvl1pPr>
          </a:lstStyle>
          <a:p>
            <a:r>
              <a:rPr lang="en-US" dirty="0"/>
              <a:t>Click to edit Master title style</a:t>
            </a:r>
          </a:p>
        </p:txBody>
      </p:sp>
      <p:sp>
        <p:nvSpPr>
          <p:cNvPr id="3" name="Content Placeholder 2"/>
          <p:cNvSpPr>
            <a:spLocks noGrp="1"/>
          </p:cNvSpPr>
          <p:nvPr>
            <p:ph idx="1"/>
          </p:nvPr>
        </p:nvSpPr>
        <p:spPr>
          <a:xfrm>
            <a:off x="1828800" y="1524000"/>
            <a:ext cx="8534400" cy="4724400"/>
          </a:xfrm>
          <a:solidFill>
            <a:schemeClr val="accent6">
              <a:lumMod val="50000"/>
              <a:alpha val="45000"/>
            </a:schemeClr>
          </a:solidFill>
        </p:spPr>
        <p:txBody>
          <a:bodyPr/>
          <a:lstStyle>
            <a:lvl1pPr>
              <a:buClr>
                <a:srgbClr val="00B0F0"/>
              </a:buClr>
              <a:buSzPct val="120000"/>
              <a:buFont typeface="Arial" pitchFamily="34" charset="0"/>
              <a:buChar char="•"/>
              <a:defRPr sz="2000"/>
            </a:lvl1pPr>
            <a:lvl2pPr>
              <a:buSzPct val="120000"/>
              <a:buFont typeface="Arial" pitchFamily="34" charset="0"/>
              <a:buChar char="•"/>
              <a:defRPr sz="1800"/>
            </a:lvl2pPr>
            <a:lvl3pPr>
              <a:buClr>
                <a:srgbClr val="00B0F0"/>
              </a:buClr>
              <a:buSzPct val="120000"/>
              <a:buFont typeface="Arial" pitchFamily="34" charset="0"/>
              <a:buChar char="•"/>
              <a:defRPr sz="1600"/>
            </a:lvl3pPr>
            <a:lvl4pPr>
              <a:buFont typeface="Courier New" pitchFamily="49" charset="0"/>
              <a:buChar char="o"/>
              <a:defRPr sz="1400"/>
            </a:lvl4pPr>
            <a:lvl5pPr>
              <a:buClr>
                <a:srgbClr val="00B0F0"/>
              </a:buClr>
              <a:buFont typeface="Courier New" pitchFamily="49" charset="0"/>
              <a:buChar char="o"/>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609600" y="6400800"/>
            <a:ext cx="2844800" cy="320675"/>
          </a:xfrm>
        </p:spPr>
        <p:txBody>
          <a:bodyPr/>
          <a:lstStyle>
            <a:lvl1pPr>
              <a:defRPr/>
            </a:lvl1pPr>
          </a:lstStyle>
          <a:p>
            <a:fld id="{3C593294-CFC3-4F9B-9837-8137DD11B3FE}" type="datetime1">
              <a:rPr lang="en-US" smtClean="0"/>
              <a:pPr/>
              <a:t>9/15/25</a:t>
            </a:fld>
            <a:endParaRPr lang="en-US"/>
          </a:p>
        </p:txBody>
      </p:sp>
      <p:sp>
        <p:nvSpPr>
          <p:cNvPr id="5" name="Footer Placeholder 4"/>
          <p:cNvSpPr>
            <a:spLocks noGrp="1"/>
          </p:cNvSpPr>
          <p:nvPr>
            <p:ph type="ftr" sz="quarter" idx="11"/>
          </p:nvPr>
        </p:nvSpPr>
        <p:spPr>
          <a:xfrm>
            <a:off x="4165600" y="6400800"/>
            <a:ext cx="3860800" cy="320675"/>
          </a:xfrm>
        </p:spPr>
        <p:txBody>
          <a:bodyPr/>
          <a:lstStyle>
            <a:lvl1pPr>
              <a:defRPr/>
            </a:lvl1pPr>
          </a:lstStyle>
          <a:p>
            <a:endParaRPr lang="en-US" dirty="0"/>
          </a:p>
        </p:txBody>
      </p:sp>
      <p:sp>
        <p:nvSpPr>
          <p:cNvPr id="6" name="Slide Number Placeholder 5"/>
          <p:cNvSpPr>
            <a:spLocks noGrp="1"/>
          </p:cNvSpPr>
          <p:nvPr>
            <p:ph type="sldNum" sz="quarter" idx="12"/>
          </p:nvPr>
        </p:nvSpPr>
        <p:spPr>
          <a:xfrm>
            <a:off x="8737600" y="6400800"/>
            <a:ext cx="2844800" cy="320675"/>
          </a:xfrm>
        </p:spPr>
        <p:txBody>
          <a:bodyPr/>
          <a:lstStyle>
            <a:lvl1pPr>
              <a:defRPr/>
            </a:lvl1pPr>
          </a:lstStyle>
          <a:p>
            <a:fld id="{2D23EAB1-8EA4-4CE5-A8AE-9AB5B71DF111}" type="slidenum">
              <a:rPr lang="en-US"/>
              <a:pPr/>
              <a:t>‹#›</a:t>
            </a:fld>
            <a:endParaRPr lang="en-US"/>
          </a:p>
        </p:txBody>
      </p:sp>
    </p:spTree>
    <p:extLst>
      <p:ext uri="{BB962C8B-B14F-4D97-AF65-F5344CB8AC3E}">
        <p14:creationId xmlns:p14="http://schemas.microsoft.com/office/powerpoint/2010/main" val="35629727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4.xml"/><Relationship Id="rId7" Type="http://schemas.openxmlformats.org/officeDocument/2006/relationships/image" Target="../media/image5.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6.png"/></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image" Target="../media/image6.png"/><Relationship Id="rId4" Type="http://schemas.openxmlformats.org/officeDocument/2006/relationships/slideLayout" Target="../slideLayouts/slideLayout16.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4"/>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5"/>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6"/>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chemeClr val="tx1"/>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chemeClr val="tx1"/>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chemeClr val="tx1"/>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8"/>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9"/>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 id="2147484327" r:id="rId6"/>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5.jp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jp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4" Type="http://schemas.openxmlformats.org/officeDocument/2006/relationships/image" Target="../media/image18.jpg"/></Relationships>
</file>

<file path=ppt/slides/_rels/slide9.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jpeg"/></Relationships>
</file>

<file path=ppt/slides/_rels/slide1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4.jp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5" Type="http://schemas.openxmlformats.org/officeDocument/2006/relationships/image" Target="../media/image33.jpeg"/><Relationship Id="rId4" Type="http://schemas.openxmlformats.org/officeDocument/2006/relationships/image" Target="../media/image24.jpg"/></Relationships>
</file>

<file path=ppt/slides/_rels/slide17.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hyperlink" Target="Edited%20Files/framer%20c:/scott/movies/vel95.rm"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95640"/>
            <a:ext cx="4113122" cy="400110"/>
          </a:xfrm>
        </p:spPr>
        <p:txBody>
          <a:bodyPr vert="horz" wrap="square" lIns="91440" tIns="45720" rIns="91440" bIns="45720" rtlCol="0" anchor="t">
            <a:spAutoFit/>
          </a:bodyPr>
          <a:lstStyle/>
          <a:p>
            <a:r>
              <a:rPr lang="en-US" sz="2000" dirty="0"/>
              <a:t>Introduction to Modeling</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9" name="Text Placeholder 2">
            <a:extLst>
              <a:ext uri="{FF2B5EF4-FFF2-40B4-BE49-F238E27FC236}">
                <a16:creationId xmlns:a16="http://schemas.microsoft.com/office/drawing/2014/main" id="{F0C38335-1D39-760D-4FB8-7EFA5DC47956}"/>
              </a:ext>
            </a:extLst>
          </p:cNvPr>
          <p:cNvSpPr>
            <a:spLocks noGrp="1"/>
          </p:cNvSpPr>
          <p:nvPr>
            <p:ph type="body" sz="quarter" idx="12"/>
          </p:nvPr>
        </p:nvSpPr>
        <p:spPr>
          <a:xfrm>
            <a:off x="609603" y="2375748"/>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Systems Modeling: Guiding Principles</a:t>
            </a:r>
          </a:p>
        </p:txBody>
      </p:sp>
      <p:sp>
        <p:nvSpPr>
          <p:cNvPr id="3" name="Content Placeholder 2"/>
          <p:cNvSpPr>
            <a:spLocks noGrp="1"/>
          </p:cNvSpPr>
          <p:nvPr>
            <p:ph idx="1"/>
          </p:nvPr>
        </p:nvSpPr>
        <p:spPr>
          <a:xfrm>
            <a:off x="406400" y="1008014"/>
            <a:ext cx="8157983" cy="5220664"/>
          </a:xfrm>
        </p:spPr>
        <p:txBody>
          <a:bodyPr/>
          <a:lstStyle/>
          <a:p>
            <a:pPr>
              <a:spcAft>
                <a:spcPts val="600"/>
              </a:spcAft>
              <a:buClr>
                <a:schemeClr val="tx1"/>
              </a:buClr>
            </a:pPr>
            <a:r>
              <a:rPr lang="en-US" dirty="0">
                <a:solidFill>
                  <a:schemeClr val="tx1"/>
                </a:solidFill>
                <a:latin typeface="+mn-lt"/>
              </a:rPr>
              <a:t>George Box:</a:t>
            </a:r>
          </a:p>
          <a:p>
            <a:pPr marL="357187" lvl="1" indent="0">
              <a:spcAft>
                <a:spcPts val="600"/>
              </a:spcAft>
              <a:buClr>
                <a:schemeClr val="tx1"/>
              </a:buClr>
              <a:buNone/>
            </a:pPr>
            <a:r>
              <a:rPr lang="en-US" b="0" i="1" dirty="0">
                <a:solidFill>
                  <a:schemeClr val="tx1"/>
                </a:solidFill>
                <a:latin typeface="+mn-lt"/>
              </a:rPr>
              <a:t>... all models are approximations. Essentially,</a:t>
            </a:r>
            <a:r>
              <a:rPr lang="en-US" i="1" dirty="0">
                <a:solidFill>
                  <a:schemeClr val="tx1"/>
                </a:solidFill>
                <a:latin typeface="+mn-lt"/>
              </a:rPr>
              <a:t> all models are wrong, but some are useful.</a:t>
            </a:r>
            <a:r>
              <a:rPr lang="en-US" b="0" i="1" dirty="0">
                <a:solidFill>
                  <a:schemeClr val="tx1"/>
                </a:solidFill>
                <a:latin typeface="+mn-lt"/>
              </a:rPr>
              <a:t> However, the approximate nature of the model must always be borne in mind....</a:t>
            </a: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“All models are wrong, but some are useful.”</a:t>
            </a:r>
          </a:p>
          <a:p>
            <a:pPr>
              <a:spcAft>
                <a:spcPts val="600"/>
              </a:spcAft>
              <a:buClr>
                <a:schemeClr val="tx1"/>
              </a:buClr>
            </a:pPr>
            <a:r>
              <a:rPr lang="en-US" dirty="0">
                <a:solidFill>
                  <a:schemeClr val="tx1"/>
                </a:solidFill>
                <a:latin typeface="+mn-lt"/>
              </a:rPr>
              <a:t>Albert Einstein:</a:t>
            </a:r>
          </a:p>
          <a:p>
            <a:pPr marL="357187" lvl="1" indent="0">
              <a:spcAft>
                <a:spcPts val="600"/>
              </a:spcAft>
              <a:buClr>
                <a:schemeClr val="tx1"/>
              </a:buClr>
              <a:buNone/>
            </a:pPr>
            <a:r>
              <a:rPr lang="en-US" b="0" i="1" dirty="0">
                <a:solidFill>
                  <a:schemeClr val="tx1"/>
                </a:solidFill>
              </a:rPr>
              <a:t>It can scarcely be denied that the supreme goal of all theory is to make the irreducible basic elements as simple and as few as possible without having to surrender the adequate representation of a single datum of experience.</a:t>
            </a:r>
            <a:endParaRPr lang="en-US" b="0" i="1" dirty="0">
              <a:solidFill>
                <a:schemeClr val="tx1"/>
              </a:solidFill>
              <a:latin typeface="+mn-lt"/>
            </a:endParaRP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“Everything should be made as simple as possible, but no simpler.”</a:t>
            </a:r>
          </a:p>
          <a:p>
            <a:pPr indent="-214313">
              <a:spcAft>
                <a:spcPts val="600"/>
              </a:spcAft>
              <a:buClr>
                <a:schemeClr val="tx1"/>
              </a:buClr>
            </a:pPr>
            <a:r>
              <a:rPr lang="en-US" dirty="0">
                <a:solidFill>
                  <a:schemeClr val="tx1"/>
                </a:solidFill>
                <a:latin typeface="+mn-lt"/>
              </a:rPr>
              <a:t>Hans Albert Einstein (Hydraulic Engineer):</a:t>
            </a:r>
          </a:p>
          <a:p>
            <a:pPr marL="357187" lvl="1" indent="0">
              <a:spcAft>
                <a:spcPts val="600"/>
              </a:spcAft>
              <a:buClr>
                <a:schemeClr val="tx1"/>
              </a:buClr>
              <a:buNone/>
            </a:pPr>
            <a:r>
              <a:rPr lang="en-US" b="0" i="1" dirty="0">
                <a:solidFill>
                  <a:schemeClr val="tx1"/>
                </a:solidFill>
                <a:latin typeface="+mn-lt"/>
              </a:rPr>
              <a:t>You can assume anything you want. The water won’t! </a:t>
            </a:r>
          </a:p>
          <a:p>
            <a:pPr marL="357187" lvl="1" indent="0">
              <a:spcAft>
                <a:spcPts val="600"/>
              </a:spcAft>
              <a:buClr>
                <a:schemeClr val="tx1"/>
              </a:buClr>
              <a:buNone/>
            </a:pPr>
            <a:r>
              <a:rPr lang="en-US" b="0" u="sng" dirty="0">
                <a:solidFill>
                  <a:schemeClr val="tx1"/>
                </a:solidFill>
                <a:latin typeface="+mn-lt"/>
              </a:rPr>
              <a:t>Moral</a:t>
            </a:r>
            <a:r>
              <a:rPr lang="en-US" b="0" dirty="0">
                <a:solidFill>
                  <a:schemeClr val="tx1"/>
                </a:solidFill>
                <a:latin typeface="+mn-lt"/>
              </a:rPr>
              <a:t>: Be careful with your assumptions.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a:t>
            </a:fld>
            <a:endParaRPr lang="en-US"/>
          </a:p>
        </p:txBody>
      </p:sp>
      <p:pic>
        <p:nvPicPr>
          <p:cNvPr id="1026" name="Picture 2">
            <a:extLst>
              <a:ext uri="{FF2B5EF4-FFF2-40B4-BE49-F238E27FC236}">
                <a16:creationId xmlns:a16="http://schemas.microsoft.com/office/drawing/2014/main" id="{12B3E320-1ACB-8453-7368-EE4E204C87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9409" y="1037959"/>
            <a:ext cx="1531842" cy="230416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C64A574E-B65E-42C9-6CF5-1BF131F0DA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7163" y="4430332"/>
            <a:ext cx="1739288" cy="17392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FDB090A-CB57-E9ED-03D4-E79FCCBF630D}"/>
              </a:ext>
            </a:extLst>
          </p:cNvPr>
          <p:cNvSpPr txBox="1"/>
          <p:nvPr/>
        </p:nvSpPr>
        <p:spPr>
          <a:xfrm>
            <a:off x="9926451" y="4588845"/>
            <a:ext cx="1666705" cy="1569660"/>
          </a:xfrm>
          <a:prstGeom prst="rect">
            <a:avLst/>
          </a:prstGeom>
          <a:noFill/>
        </p:spPr>
        <p:txBody>
          <a:bodyPr wrap="square" rtlCol="0">
            <a:spAutoFit/>
          </a:bodyPr>
          <a:lstStyle/>
          <a:p>
            <a:r>
              <a:rPr lang="en-US" sz="1600" dirty="0"/>
              <a:t>Albert Einstein, said of his son’s career, “He is working on a more difficult problem.”</a:t>
            </a:r>
          </a:p>
        </p:txBody>
      </p:sp>
      <p:pic>
        <p:nvPicPr>
          <p:cNvPr id="1028" name="Picture 4" descr="Albert Einstein - Wikipedia">
            <a:extLst>
              <a:ext uri="{FF2B5EF4-FFF2-40B4-BE49-F238E27FC236}">
                <a16:creationId xmlns:a16="http://schemas.microsoft.com/office/drawing/2014/main" id="{173D6314-156C-2F5F-8A28-430DAA9570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64761" y="2296632"/>
            <a:ext cx="1728395" cy="22701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0610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3</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471233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4</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170371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5</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8455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6</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A picture containing background pattern&#10;&#10;Description automatically generated">
            <a:extLst>
              <a:ext uri="{FF2B5EF4-FFF2-40B4-BE49-F238E27FC236}">
                <a16:creationId xmlns:a16="http://schemas.microsoft.com/office/drawing/2014/main" id="{2F55BA1C-7903-004A-A3CC-C4BCBA87ED5E}"/>
              </a:ext>
            </a:extLst>
          </p:cNvPr>
          <p:cNvPicPr>
            <a:picLocks noChangeAspect="1"/>
          </p:cNvPicPr>
          <p:nvPr/>
        </p:nvPicPr>
        <p:blipFill>
          <a:blip r:embed="rId6"/>
          <a:stretch>
            <a:fillRect/>
          </a:stretch>
        </p:blipFill>
        <p:spPr>
          <a:xfrm>
            <a:off x="3836117" y="3731292"/>
            <a:ext cx="3279820" cy="2186547"/>
          </a:xfrm>
          <a:prstGeom prst="rect">
            <a:avLst/>
          </a:prstGeom>
        </p:spPr>
      </p:pic>
      <p:pic>
        <p:nvPicPr>
          <p:cNvPr id="17" name="Picture 16" descr="A picture containing text, grass, blackboard&#10;&#10;Description automatically generated">
            <a:extLst>
              <a:ext uri="{FF2B5EF4-FFF2-40B4-BE49-F238E27FC236}">
                <a16:creationId xmlns:a16="http://schemas.microsoft.com/office/drawing/2014/main" id="{EC580901-1F95-8CDE-4C36-6AF7C2E0B03E}"/>
              </a:ext>
            </a:extLst>
          </p:cNvPr>
          <p:cNvPicPr>
            <a:picLocks noChangeAspect="1"/>
          </p:cNvPicPr>
          <p:nvPr/>
        </p:nvPicPr>
        <p:blipFill>
          <a:blip r:embed="rId7"/>
          <a:stretch>
            <a:fillRect/>
          </a:stretch>
        </p:blipFill>
        <p:spPr>
          <a:xfrm>
            <a:off x="483674" y="3731292"/>
            <a:ext cx="3276600" cy="2184400"/>
          </a:xfrm>
          <a:prstGeom prst="rect">
            <a:avLst/>
          </a:prstGeom>
        </p:spPr>
      </p:pic>
      <p:sp>
        <p:nvSpPr>
          <p:cNvPr id="18" name="TextBox 17">
            <a:extLst>
              <a:ext uri="{FF2B5EF4-FFF2-40B4-BE49-F238E27FC236}">
                <a16:creationId xmlns:a16="http://schemas.microsoft.com/office/drawing/2014/main" id="{DD8B416E-29A6-B8D3-6C1F-5B1257A3D136}"/>
              </a:ext>
            </a:extLst>
          </p:cNvPr>
          <p:cNvSpPr txBox="1"/>
          <p:nvPr/>
        </p:nvSpPr>
        <p:spPr>
          <a:xfrm>
            <a:off x="483674" y="5941273"/>
            <a:ext cx="3279820" cy="338554"/>
          </a:xfrm>
          <a:prstGeom prst="rect">
            <a:avLst/>
          </a:prstGeom>
          <a:noFill/>
        </p:spPr>
        <p:txBody>
          <a:bodyPr wrap="square" rtlCol="0">
            <a:spAutoFit/>
          </a:bodyPr>
          <a:lstStyle/>
          <a:p>
            <a:pPr algn="ctr"/>
            <a:r>
              <a:rPr lang="en-US" sz="1600" dirty="0"/>
              <a:t>Amazon River, 1985</a:t>
            </a:r>
          </a:p>
        </p:txBody>
      </p:sp>
      <p:sp>
        <p:nvSpPr>
          <p:cNvPr id="21" name="TextBox 20">
            <a:extLst>
              <a:ext uri="{FF2B5EF4-FFF2-40B4-BE49-F238E27FC236}">
                <a16:creationId xmlns:a16="http://schemas.microsoft.com/office/drawing/2014/main" id="{0D852614-868A-B6D3-C9C2-2C9018CA6A1C}"/>
              </a:ext>
            </a:extLst>
          </p:cNvPr>
          <p:cNvSpPr txBox="1"/>
          <p:nvPr/>
        </p:nvSpPr>
        <p:spPr>
          <a:xfrm>
            <a:off x="3836117" y="5941273"/>
            <a:ext cx="3279820" cy="338554"/>
          </a:xfrm>
          <a:prstGeom prst="rect">
            <a:avLst/>
          </a:prstGeom>
          <a:noFill/>
        </p:spPr>
        <p:txBody>
          <a:bodyPr wrap="square" rtlCol="0">
            <a:spAutoFit/>
          </a:bodyPr>
          <a:lstStyle/>
          <a:p>
            <a:pPr algn="ctr"/>
            <a:r>
              <a:rPr lang="en-US" sz="1600" dirty="0"/>
              <a:t>Amazon River, 2014</a:t>
            </a:r>
          </a:p>
        </p:txBody>
      </p:sp>
      <p:sp>
        <p:nvSpPr>
          <p:cNvPr id="22" name="TextBox 21">
            <a:extLst>
              <a:ext uri="{FF2B5EF4-FFF2-40B4-BE49-F238E27FC236}">
                <a16:creationId xmlns:a16="http://schemas.microsoft.com/office/drawing/2014/main" id="{8B417399-1454-1A0E-D140-90C3AA2EE741}"/>
              </a:ext>
            </a:extLst>
          </p:cNvPr>
          <p:cNvSpPr txBox="1"/>
          <p:nvPr/>
        </p:nvSpPr>
        <p:spPr>
          <a:xfrm>
            <a:off x="3851321" y="5564082"/>
            <a:ext cx="3249411" cy="338554"/>
          </a:xfrm>
          <a:prstGeom prst="rect">
            <a:avLst/>
          </a:prstGeom>
          <a:noFill/>
        </p:spPr>
        <p:txBody>
          <a:bodyPr wrap="square" rtlCol="0">
            <a:spAutoFit/>
          </a:bodyPr>
          <a:lstStyle/>
          <a:p>
            <a:pPr algn="ctr"/>
            <a:r>
              <a:rPr lang="en-US" sz="1600" dirty="0">
                <a:solidFill>
                  <a:schemeClr val="bg1"/>
                </a:solidFill>
              </a:rPr>
              <a:t>https:earthobservatory.nasa.gov</a:t>
            </a:r>
          </a:p>
        </p:txBody>
      </p:sp>
    </p:spTree>
    <p:extLst>
      <p:ext uri="{BB962C8B-B14F-4D97-AF65-F5344CB8AC3E}">
        <p14:creationId xmlns:p14="http://schemas.microsoft.com/office/powerpoint/2010/main" val="4267673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0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sz="2000" b="0" dirty="0">
                <a:solidFill>
                  <a:schemeClr val="tx1"/>
                </a:solidFill>
              </a:rPr>
              <a:t>Mathematical modeling is the process of developing a mathematical representation of a system using mathematical concepts and techniques to describe the processes, interactions, and parameters of that system.</a:t>
            </a:r>
          </a:p>
          <a:p>
            <a:pPr marL="228600" indent="-228600">
              <a:buClr>
                <a:schemeClr val="tx1"/>
              </a:buClr>
              <a:buFont typeface="Arial" panose="020B0604020202020204" pitchFamily="34" charset="0"/>
              <a:buChar char="•"/>
            </a:pPr>
            <a:r>
              <a:rPr lang="en-US" sz="2000" b="0" dirty="0">
                <a:solidFill>
                  <a:schemeClr val="tx1"/>
                </a:solidFill>
              </a:rPr>
              <a:t>Computer modeling is the process of developing mathematical algorithms that describe a system and then developing the computer code to simulate them.</a:t>
            </a:r>
          </a:p>
          <a:p>
            <a:pPr marL="228600" indent="-228600">
              <a:buClr>
                <a:schemeClr val="tx1"/>
              </a:buClr>
              <a:buFont typeface="Arial" panose="020B0604020202020204" pitchFamily="34" charset="0"/>
              <a:buChar char="•"/>
            </a:pPr>
            <a:r>
              <a:rPr lang="en-US" sz="2000" b="0" dirty="0">
                <a:solidFill>
                  <a:schemeClr val="tx1"/>
                </a:solidFill>
              </a:rPr>
              <a:t>Modeling vs. Simulation:</a:t>
            </a:r>
          </a:p>
          <a:p>
            <a:pPr marL="685800" lvl="1" indent="-228600">
              <a:buClr>
                <a:schemeClr val="tx1"/>
              </a:buClr>
            </a:pPr>
            <a:r>
              <a:rPr lang="en-US" sz="2000" b="0" dirty="0">
                <a:solidFill>
                  <a:schemeClr val="tx1"/>
                </a:solidFill>
              </a:rPr>
              <a:t>Modeling is the process of </a:t>
            </a:r>
            <a:r>
              <a:rPr lang="en-US" sz="2000" b="0" i="1" dirty="0">
                <a:solidFill>
                  <a:schemeClr val="tx1"/>
                </a:solidFill>
              </a:rPr>
              <a:t>building</a:t>
            </a:r>
            <a:r>
              <a:rPr lang="en-US" sz="2000" b="0" dirty="0">
                <a:solidFill>
                  <a:schemeClr val="tx1"/>
                </a:solidFill>
              </a:rPr>
              <a:t> a model</a:t>
            </a:r>
          </a:p>
          <a:p>
            <a:pPr marL="685800" lvl="1" indent="-228600">
              <a:buClr>
                <a:schemeClr val="tx1"/>
              </a:buClr>
            </a:pPr>
            <a:r>
              <a:rPr lang="en-US" sz="2000" b="0" dirty="0">
                <a:solidFill>
                  <a:schemeClr val="tx1"/>
                </a:solidFill>
              </a:rPr>
              <a:t>Simulation is the process of </a:t>
            </a:r>
            <a:r>
              <a:rPr lang="en-US" sz="2000" b="0" i="1" dirty="0">
                <a:solidFill>
                  <a:schemeClr val="tx1"/>
                </a:solidFill>
              </a:rPr>
              <a:t>using</a:t>
            </a:r>
            <a:r>
              <a:rPr lang="en-US" sz="2000" b="0" dirty="0">
                <a:solidFill>
                  <a:schemeClr val="tx1"/>
                </a:solidFill>
              </a:rPr>
              <a:t> a mathematical model to study the behavior of a system </a:t>
            </a:r>
            <a:r>
              <a:rPr lang="en-US" sz="2000" b="0" i="1" dirty="0">
                <a:solidFill>
                  <a:schemeClr val="tx1"/>
                </a:solidFill>
              </a:rPr>
              <a:t>for a particular time period</a:t>
            </a:r>
            <a:r>
              <a:rPr lang="en-US" sz="2000" b="0" dirty="0">
                <a:solidFill>
                  <a:schemeClr val="tx1"/>
                </a:solidFill>
              </a:rPr>
              <a:t>.</a:t>
            </a:r>
          </a:p>
        </p:txBody>
      </p:sp>
      <p:sp>
        <p:nvSpPr>
          <p:cNvPr id="5" name="Slide Number Placeholder 4"/>
          <p:cNvSpPr>
            <a:spLocks noGrp="1"/>
          </p:cNvSpPr>
          <p:nvPr>
            <p:ph type="sldNum" sz="quarter" idx="11"/>
          </p:nvPr>
        </p:nvSpPr>
        <p:spPr/>
        <p:txBody>
          <a:bodyPr/>
          <a:lstStyle/>
          <a:p>
            <a:fld id="{9A257827-C34C-4251-B995-96C9C233CCC8}" type="slidenum">
              <a:rPr lang="en-US" smtClean="0"/>
              <a:pPr/>
              <a:t>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13314" name="Picture 2">
            <a:extLst>
              <a:ext uri="{FF2B5EF4-FFF2-40B4-BE49-F238E27FC236}">
                <a16:creationId xmlns:a16="http://schemas.microsoft.com/office/drawing/2014/main" id="{4F536536-3346-8C15-B6BD-E48CF9C460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69537" y="602459"/>
            <a:ext cx="3770927" cy="51389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BFE7B6-A17F-332C-8981-05B7B9373E50}"/>
              </a:ext>
            </a:extLst>
          </p:cNvPr>
          <p:cNvSpPr txBox="1"/>
          <p:nvPr/>
        </p:nvSpPr>
        <p:spPr>
          <a:xfrm>
            <a:off x="7247173" y="5822069"/>
            <a:ext cx="4538427" cy="338554"/>
          </a:xfrm>
          <a:prstGeom prst="rect">
            <a:avLst/>
          </a:prstGeom>
          <a:noFill/>
        </p:spPr>
        <p:txBody>
          <a:bodyPr wrap="square" rtlCol="0">
            <a:spAutoFit/>
          </a:bodyPr>
          <a:lstStyle/>
          <a:p>
            <a:r>
              <a:rPr lang="en-US" sz="1600" dirty="0"/>
              <a:t>Source: https://</a:t>
            </a:r>
            <a:r>
              <a:rPr lang="en-US" sz="1600" dirty="0" err="1"/>
              <a:t>en.wikipedia.org</a:t>
            </a:r>
            <a:r>
              <a:rPr lang="en-US" sz="1600" dirty="0"/>
              <a:t>/wiki/Flowchart</a:t>
            </a:r>
          </a:p>
        </p:txBody>
      </p:sp>
    </p:spTree>
    <p:extLst>
      <p:ext uri="{BB962C8B-B14F-4D97-AF65-F5344CB8AC3E}">
        <p14:creationId xmlns:p14="http://schemas.microsoft.com/office/powerpoint/2010/main" val="3902890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497001" cy="5220664"/>
          </a:xfrm>
        </p:spPr>
        <p:txBody>
          <a:bodyPr/>
          <a:lstStyle/>
          <a:p>
            <a:pPr marL="228600" indent="-228600">
              <a:buClr>
                <a:schemeClr val="tx1"/>
              </a:buClr>
              <a:buFont typeface="Arial" panose="020B0604020202020204" pitchFamily="34" charset="0"/>
              <a:buChar char="•"/>
            </a:pPr>
            <a:r>
              <a:rPr lang="en-US" sz="2000" b="0" i="1" dirty="0">
                <a:solidFill>
                  <a:schemeClr val="tx1"/>
                </a:solidFill>
              </a:rPr>
              <a:t>Empirical </a:t>
            </a:r>
            <a:r>
              <a:rPr lang="en-US" sz="2000" b="0" dirty="0">
                <a:solidFill>
                  <a:schemeClr val="tx1"/>
                </a:solidFill>
              </a:rPr>
              <a:t>modeling</a:t>
            </a:r>
            <a:r>
              <a:rPr lang="en-US" sz="2000" b="0" i="1" dirty="0">
                <a:solidFill>
                  <a:schemeClr val="tx1"/>
                </a:solidFill>
              </a:rPr>
              <a:t> </a:t>
            </a:r>
            <a:r>
              <a:rPr lang="en-US" sz="2000" b="0" dirty="0">
                <a:solidFill>
                  <a:schemeClr val="tx1"/>
                </a:solidFill>
              </a:rPr>
              <a:t>uses an inductive approach, based on observations (data) and the relationships between system components, such as determined through linear and non-linear regression.</a:t>
            </a:r>
          </a:p>
          <a:p>
            <a:pPr marL="228600" indent="-228600">
              <a:buClr>
                <a:schemeClr val="tx1"/>
              </a:buClr>
              <a:buFont typeface="Arial" panose="020B0604020202020204" pitchFamily="34" charset="0"/>
              <a:buChar char="•"/>
            </a:pPr>
            <a:r>
              <a:rPr lang="en-US" sz="2000" b="0" i="1" dirty="0">
                <a:solidFill>
                  <a:schemeClr val="tx1"/>
                </a:solidFill>
              </a:rPr>
              <a:t>Mechanistic</a:t>
            </a:r>
            <a:r>
              <a:rPr lang="en-US" sz="2000" b="0" dirty="0">
                <a:solidFill>
                  <a:schemeClr val="tx1"/>
                </a:solidFill>
              </a:rPr>
              <a:t> (process-based) models use a deductive approach, based on the principles of physics, chemistry, and biology.</a:t>
            </a:r>
          </a:p>
          <a:p>
            <a:pPr marL="228600" indent="-228600">
              <a:buClr>
                <a:schemeClr val="tx1"/>
              </a:buClr>
              <a:buFont typeface="Arial" panose="020B0604020202020204" pitchFamily="34" charset="0"/>
              <a:buChar char="•"/>
            </a:pPr>
            <a:r>
              <a:rPr lang="en-US" sz="2000" b="0" dirty="0">
                <a:solidFill>
                  <a:schemeClr val="tx1"/>
                </a:solidFill>
              </a:rPr>
              <a:t>Most water quality models use a mixture of empirically-derived relationships combined with iterative calculations that describe the physical and biogeochemical processes.</a:t>
            </a:r>
          </a:p>
          <a:p>
            <a:pPr marL="342900" indent="-342900">
              <a:buClr>
                <a:schemeClr val="tx1"/>
              </a:buClr>
              <a:buFont typeface="Arial" panose="020B0604020202020204" pitchFamily="34" charset="0"/>
              <a:buChar char="•"/>
            </a:pPr>
            <a:endParaRPr lang="en-US" sz="20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r>
              <a:rPr lang="en-US" sz="1600" b="0" dirty="0">
                <a:solidFill>
                  <a:schemeClr val="tx1"/>
                </a:solidFill>
              </a:rPr>
              <a:t>Source: Steven C. Chapra (1997). Surface Water-Quality Modeling. Waveland Press, Long Grove, IL.</a:t>
            </a:r>
          </a:p>
        </p:txBody>
      </p:sp>
      <p:sp>
        <p:nvSpPr>
          <p:cNvPr id="5" name="Slide Number Placeholder 4"/>
          <p:cNvSpPr>
            <a:spLocks noGrp="1"/>
          </p:cNvSpPr>
          <p:nvPr>
            <p:ph type="sldNum" sz="quarter" idx="11"/>
          </p:nvPr>
        </p:nvSpPr>
        <p:spPr/>
        <p:txBody>
          <a:bodyPr/>
          <a:lstStyle/>
          <a:p>
            <a:fld id="{9A257827-C34C-4251-B995-96C9C233CCC8}" type="slidenum">
              <a:rPr lang="en-US" smtClean="0"/>
              <a:pPr/>
              <a:t>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4" name="Picture 3">
            <a:extLst>
              <a:ext uri="{FF2B5EF4-FFF2-40B4-BE49-F238E27FC236}">
                <a16:creationId xmlns:a16="http://schemas.microsoft.com/office/drawing/2014/main" id="{408FA94B-A3CE-DCC4-E627-B39361DCB29B}"/>
              </a:ext>
            </a:extLst>
          </p:cNvPr>
          <p:cNvPicPr>
            <a:picLocks noChangeAspect="1"/>
          </p:cNvPicPr>
          <p:nvPr/>
        </p:nvPicPr>
        <p:blipFill>
          <a:blip r:embed="rId3"/>
          <a:stretch>
            <a:fillRect/>
          </a:stretch>
        </p:blipFill>
        <p:spPr>
          <a:xfrm>
            <a:off x="7940509" y="515153"/>
            <a:ext cx="3634680" cy="2726012"/>
          </a:xfrm>
          <a:prstGeom prst="rect">
            <a:avLst/>
          </a:prstGeom>
          <a:ln w="19050">
            <a:solidFill>
              <a:schemeClr val="bg1"/>
            </a:solidFill>
          </a:ln>
        </p:spPr>
      </p:pic>
      <p:pic>
        <p:nvPicPr>
          <p:cNvPr id="6" name="Picture 5" descr="A boat in the water&#10;&#10;Description automatically generated with medium confidence">
            <a:extLst>
              <a:ext uri="{FF2B5EF4-FFF2-40B4-BE49-F238E27FC236}">
                <a16:creationId xmlns:a16="http://schemas.microsoft.com/office/drawing/2014/main" id="{A9F726E1-8864-E309-F6ED-F72C4DFCB43E}"/>
              </a:ext>
            </a:extLst>
          </p:cNvPr>
          <p:cNvPicPr>
            <a:picLocks noChangeAspect="1"/>
          </p:cNvPicPr>
          <p:nvPr/>
        </p:nvPicPr>
        <p:blipFill>
          <a:blip r:embed="rId4"/>
          <a:stretch>
            <a:fillRect/>
          </a:stretch>
        </p:blipFill>
        <p:spPr>
          <a:xfrm>
            <a:off x="7940508" y="3237566"/>
            <a:ext cx="3634681" cy="3010465"/>
          </a:xfrm>
          <a:prstGeom prst="rect">
            <a:avLst/>
          </a:prstGeom>
          <a:ln>
            <a:solidFill>
              <a:schemeClr val="accent1"/>
            </a:solidFill>
          </a:ln>
        </p:spPr>
      </p:pic>
    </p:spTree>
    <p:extLst>
      <p:ext uri="{BB962C8B-B14F-4D97-AF65-F5344CB8AC3E}">
        <p14:creationId xmlns:p14="http://schemas.microsoft.com/office/powerpoint/2010/main" val="1597935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Computer Models &amp; Programming</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b="0" dirty="0">
                <a:solidFill>
                  <a:schemeClr val="tx1"/>
                </a:solidFill>
              </a:rPr>
              <a:t>Early computer models were custom-developed applications programmed for a specific purpose, such as a water quality model of a particular lake or reservoir.</a:t>
            </a:r>
          </a:p>
          <a:p>
            <a:pPr marL="228600" indent="-228600">
              <a:buClr>
                <a:schemeClr val="tx1"/>
              </a:buClr>
              <a:buFont typeface="Arial" panose="020B0604020202020204" pitchFamily="34" charset="0"/>
              <a:buChar char="•"/>
            </a:pPr>
            <a:r>
              <a:rPr lang="en-US" b="0" dirty="0">
                <a:solidFill>
                  <a:schemeClr val="tx1"/>
                </a:solidFill>
                <a:latin typeface="+mn-lt"/>
              </a:rPr>
              <a:t>The first </a:t>
            </a:r>
            <a:r>
              <a:rPr lang="en-US" b="0" i="1" dirty="0">
                <a:solidFill>
                  <a:schemeClr val="tx1"/>
                </a:solidFill>
                <a:latin typeface="+mn-lt"/>
              </a:rPr>
              <a:t>mathematical</a:t>
            </a:r>
            <a:r>
              <a:rPr lang="en-US" b="0" dirty="0">
                <a:solidFill>
                  <a:schemeClr val="tx1"/>
                </a:solidFill>
                <a:latin typeface="+mn-lt"/>
              </a:rPr>
              <a:t> water quality model was developed by Streeter and Phelps in 1925. It predicted the dissolved oxygen “sag curve” in rivers.</a:t>
            </a:r>
          </a:p>
          <a:p>
            <a:pPr marL="228600" indent="-228600">
              <a:buClr>
                <a:schemeClr val="tx1"/>
              </a:buClr>
              <a:buFont typeface="Arial" panose="020B0604020202020204" pitchFamily="34" charset="0"/>
              <a:buChar char="•"/>
            </a:pPr>
            <a:r>
              <a:rPr lang="en-US" b="0" dirty="0">
                <a:solidFill>
                  <a:schemeClr val="tx1"/>
                </a:solidFill>
                <a:latin typeface="+mn-lt"/>
              </a:rPr>
              <a:t>In the 1960’s, computer models began to be developed. By the early 1970’s, general-purpose models began to emerge.</a:t>
            </a:r>
          </a:p>
          <a:p>
            <a:pPr marL="228600" indent="-228600">
              <a:buClr>
                <a:schemeClr val="tx1"/>
              </a:buClr>
              <a:buFont typeface="Arial" panose="020B0604020202020204" pitchFamily="34" charset="0"/>
              <a:buChar char="•"/>
            </a:pPr>
            <a:r>
              <a:rPr lang="en-US" b="0" dirty="0">
                <a:solidFill>
                  <a:schemeClr val="tx1"/>
                </a:solidFill>
                <a:latin typeface="+mn-lt"/>
              </a:rPr>
              <a:t>Today’s general-purpose water resources models, e.g., HEC-RAS, HEC-ResSim, and CE-QUAL-W2, typically do not require the modeler to do any programming.</a:t>
            </a:r>
          </a:p>
          <a:p>
            <a:pPr marL="685800" lvl="1" indent="-228600">
              <a:buClr>
                <a:schemeClr val="tx1"/>
              </a:buClr>
            </a:pPr>
            <a:r>
              <a:rPr lang="en-US" b="0" dirty="0">
                <a:solidFill>
                  <a:schemeClr val="tx1"/>
                </a:solidFill>
              </a:rPr>
              <a:t>CE-QUAL-W2 is a general-purpose model, but it allows custom computations through modifying and enhancing the </a:t>
            </a:r>
            <a:r>
              <a:rPr lang="en-US" b="0" i="1" dirty="0">
                <a:solidFill>
                  <a:schemeClr val="tx1"/>
                </a:solidFill>
              </a:rPr>
              <a:t>source code</a:t>
            </a:r>
            <a:r>
              <a:rPr lang="en-US" b="0" dirty="0">
                <a:solidFill>
                  <a:schemeClr val="tx1"/>
                </a:solidFill>
              </a:rPr>
              <a:t>.</a:t>
            </a:r>
          </a:p>
          <a:p>
            <a:pPr marL="685800" lvl="1" indent="-228600">
              <a:buClr>
                <a:schemeClr val="tx1"/>
              </a:buClr>
            </a:pPr>
            <a:r>
              <a:rPr lang="en-US" b="0" dirty="0">
                <a:solidFill>
                  <a:schemeClr val="tx1"/>
                </a:solidFill>
                <a:latin typeface="+mn-lt"/>
              </a:rPr>
              <a:t>HEC-ResSim allows custom computations through “scripting.” Modelers cannot alter the source code.</a:t>
            </a:r>
          </a:p>
          <a:p>
            <a:pPr marL="685800" lvl="1" indent="-228600">
              <a:buClr>
                <a:schemeClr val="tx1"/>
              </a:buClr>
            </a:pPr>
            <a:r>
              <a:rPr lang="en-US" b="0" dirty="0">
                <a:solidFill>
                  <a:schemeClr val="tx1"/>
                </a:solidFill>
                <a:latin typeface="+mn-lt"/>
              </a:rPr>
              <a:t>Scripting (Python, R, MATLAB) is increasingly used for visualization and analysis of the results.</a:t>
            </a:r>
            <a:endParaRPr lang="en-US" sz="18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9</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3077" name="Picture 5">
            <a:extLst>
              <a:ext uri="{FF2B5EF4-FFF2-40B4-BE49-F238E27FC236}">
                <a16:creationId xmlns:a16="http://schemas.microsoft.com/office/drawing/2014/main" id="{167D7BFE-6EB3-FD69-7855-3FD387CCC1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19205" y="636871"/>
            <a:ext cx="4450081" cy="399024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6A500C85-D5CC-22CD-B331-5CC439F3C162}"/>
              </a:ext>
            </a:extLst>
          </p:cNvPr>
          <p:cNvSpPr txBox="1"/>
          <p:nvPr/>
        </p:nvSpPr>
        <p:spPr>
          <a:xfrm>
            <a:off x="7169509" y="4627111"/>
            <a:ext cx="4752415" cy="1569660"/>
          </a:xfrm>
          <a:prstGeom prst="rect">
            <a:avLst/>
          </a:prstGeom>
          <a:noFill/>
        </p:spPr>
        <p:txBody>
          <a:bodyPr wrap="square" rtlCol="0">
            <a:spAutoFit/>
          </a:bodyPr>
          <a:lstStyle/>
          <a:p>
            <a:r>
              <a:rPr lang="en-US" sz="1600" dirty="0"/>
              <a:t>A 48-hour computer simulation of Typhoon Mawar using the Weather Research and Forecasting model.</a:t>
            </a:r>
          </a:p>
          <a:p>
            <a:endParaRPr lang="en-US" sz="1600" dirty="0"/>
          </a:p>
          <a:p>
            <a:r>
              <a:rPr lang="en-US" sz="1600" dirty="0"/>
              <a:t>Source: </a:t>
            </a:r>
          </a:p>
          <a:p>
            <a:r>
              <a:rPr lang="en-US" sz="1600" dirty="0"/>
              <a:t>https://</a:t>
            </a:r>
            <a:r>
              <a:rPr lang="en-US" sz="1600" dirty="0" err="1"/>
              <a:t>en.wikipedia.org</a:t>
            </a:r>
            <a:r>
              <a:rPr lang="en-US" sz="1600" dirty="0"/>
              <a:t>/wiki/</a:t>
            </a:r>
            <a:r>
              <a:rPr lang="en-US" sz="1600" dirty="0" err="1"/>
              <a:t>Computer_simulation</a:t>
            </a:r>
            <a:endParaRPr lang="en-US" sz="1600" dirty="0"/>
          </a:p>
        </p:txBody>
      </p:sp>
    </p:spTree>
    <p:extLst>
      <p:ext uri="{BB962C8B-B14F-4D97-AF65-F5344CB8AC3E}">
        <p14:creationId xmlns:p14="http://schemas.microsoft.com/office/powerpoint/2010/main" val="2042926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Water Quality Modeling</a:t>
            </a:r>
          </a:p>
        </p:txBody>
      </p:sp>
      <p:sp>
        <p:nvSpPr>
          <p:cNvPr id="3" name="Content Placeholder 2"/>
          <p:cNvSpPr>
            <a:spLocks noGrp="1"/>
          </p:cNvSpPr>
          <p:nvPr>
            <p:ph idx="1"/>
          </p:nvPr>
        </p:nvSpPr>
        <p:spPr>
          <a:xfrm>
            <a:off x="406400" y="1032424"/>
            <a:ext cx="6040119" cy="5220664"/>
          </a:xfrm>
        </p:spPr>
        <p:txBody>
          <a:bodyPr/>
          <a:lstStyle/>
          <a:p>
            <a:pPr marL="228600" indent="-228600">
              <a:buClr>
                <a:schemeClr val="tx1"/>
              </a:buClr>
              <a:buFont typeface="Arial" panose="020B0604020202020204" pitchFamily="34" charset="0"/>
              <a:buChar char="•"/>
            </a:pPr>
            <a:r>
              <a:rPr lang="en-US" sz="1800" b="0" dirty="0">
                <a:solidFill>
                  <a:schemeClr val="tx1"/>
                </a:solidFill>
                <a:latin typeface="+mn-lt"/>
              </a:rPr>
              <a:t>Water quality modeling combines mathematical descriptions of the physical and biogeochemical processes </a:t>
            </a:r>
            <a:r>
              <a:rPr lang="en-US" b="0" dirty="0">
                <a:solidFill>
                  <a:schemeClr val="tx1"/>
                </a:solidFill>
                <a:latin typeface="+mn-lt"/>
              </a:rPr>
              <a:t>to characterize behavior of a waterbody or water resource. </a:t>
            </a:r>
          </a:p>
          <a:p>
            <a:pPr marL="228600" indent="-228600">
              <a:buClr>
                <a:schemeClr val="tx1"/>
              </a:buClr>
              <a:buFont typeface="Arial" panose="020B0604020202020204" pitchFamily="34" charset="0"/>
              <a:buChar char="•"/>
            </a:pPr>
            <a:r>
              <a:rPr lang="en-US" b="0" dirty="0">
                <a:solidFill>
                  <a:schemeClr val="tx1"/>
                </a:solidFill>
                <a:latin typeface="+mn-lt"/>
              </a:rPr>
              <a:t>Water resource and water quality models have been developed to understand and predict the processes in reservoirs, rivers, and watershed runoff.</a:t>
            </a:r>
          </a:p>
          <a:p>
            <a:pPr marL="228600" indent="-228600">
              <a:buClr>
                <a:schemeClr val="tx1"/>
              </a:buClr>
              <a:buFont typeface="Arial" panose="020B0604020202020204" pitchFamily="34" charset="0"/>
              <a:buChar char="•"/>
            </a:pPr>
            <a:r>
              <a:rPr lang="en-US" sz="1800" b="0" dirty="0">
                <a:solidFill>
                  <a:schemeClr val="tx1"/>
                </a:solidFill>
                <a:latin typeface="+mn-lt"/>
              </a:rPr>
              <a:t>The following </a:t>
            </a:r>
            <a:r>
              <a:rPr lang="en-US" b="0" dirty="0">
                <a:solidFill>
                  <a:schemeClr val="tx1"/>
                </a:solidFill>
                <a:latin typeface="+mn-lt"/>
              </a:rPr>
              <a:t>fields comprise the body of knowledge required for accurate water quality modeling and analysis:</a:t>
            </a:r>
            <a:endParaRPr lang="en-US" sz="1800" b="0" dirty="0">
              <a:solidFill>
                <a:schemeClr val="tx1"/>
              </a:solidFill>
              <a:latin typeface="+mn-lt"/>
            </a:endParaRPr>
          </a:p>
          <a:p>
            <a:pPr marL="685800" lvl="1" indent="-228600">
              <a:buClr>
                <a:schemeClr val="tx1"/>
              </a:buClr>
            </a:pPr>
            <a:r>
              <a:rPr lang="en-US" b="0" dirty="0">
                <a:solidFill>
                  <a:schemeClr val="tx1"/>
                </a:solidFill>
                <a:latin typeface="+mn-lt"/>
              </a:rPr>
              <a:t>Hydrodynamics (physical limnology)</a:t>
            </a:r>
          </a:p>
          <a:p>
            <a:pPr marL="685800" lvl="1" indent="-228600">
              <a:buClr>
                <a:schemeClr val="tx1"/>
              </a:buClr>
            </a:pPr>
            <a:r>
              <a:rPr lang="en-US" b="0" dirty="0">
                <a:solidFill>
                  <a:schemeClr val="tx1"/>
                </a:solidFill>
                <a:latin typeface="+mn-lt"/>
              </a:rPr>
              <a:t>Meteorology</a:t>
            </a:r>
          </a:p>
          <a:p>
            <a:pPr marL="685800" lvl="1" indent="-228600">
              <a:buClr>
                <a:schemeClr val="tx1"/>
              </a:buClr>
            </a:pPr>
            <a:r>
              <a:rPr lang="en-US" b="0" dirty="0">
                <a:solidFill>
                  <a:schemeClr val="tx1"/>
                </a:solidFill>
                <a:latin typeface="+mn-lt"/>
              </a:rPr>
              <a:t>Aquatic chemistry (chemical limnology)</a:t>
            </a:r>
          </a:p>
          <a:p>
            <a:pPr marL="685800" lvl="1" indent="-228600">
              <a:buClr>
                <a:schemeClr val="tx1"/>
              </a:buClr>
            </a:pPr>
            <a:r>
              <a:rPr lang="en-US" b="0" dirty="0">
                <a:solidFill>
                  <a:schemeClr val="tx1"/>
                </a:solidFill>
                <a:latin typeface="+mn-lt"/>
              </a:rPr>
              <a:t>Aquatic biology (biological limnology)</a:t>
            </a:r>
          </a:p>
          <a:p>
            <a:pPr marL="685800" lvl="1" indent="-228600">
              <a:buClr>
                <a:schemeClr val="tx1"/>
              </a:buClr>
            </a:pPr>
            <a:r>
              <a:rPr lang="en-US" b="0" dirty="0">
                <a:solidFill>
                  <a:schemeClr val="tx1"/>
                </a:solidFill>
                <a:latin typeface="+mn-lt"/>
              </a:rPr>
              <a:t>Geology (sedimentation, sediment settling, resuspension, and transport)</a:t>
            </a:r>
          </a:p>
          <a:p>
            <a:pPr marL="685800" lvl="1" indent="-228600">
              <a:buClr>
                <a:schemeClr val="tx1"/>
              </a:buClr>
            </a:pPr>
            <a:r>
              <a:rPr lang="en-US" b="0" dirty="0">
                <a:solidFill>
                  <a:schemeClr val="tx1"/>
                </a:solidFill>
                <a:latin typeface="+mn-lt"/>
              </a:rPr>
              <a:t>Mathematics and numerical methods</a:t>
            </a:r>
          </a:p>
          <a:p>
            <a:pPr marL="685800" lvl="1" indent="-228600">
              <a:buClr>
                <a:schemeClr val="tx1"/>
              </a:buClr>
            </a:pPr>
            <a:r>
              <a:rPr lang="en-US" b="0" dirty="0">
                <a:solidFill>
                  <a:schemeClr val="tx1"/>
                </a:solidFill>
                <a:latin typeface="+mn-lt"/>
              </a:rPr>
              <a:t>Statistics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10</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grpSp>
        <p:nvGrpSpPr>
          <p:cNvPr id="10" name="Group 9">
            <a:extLst>
              <a:ext uri="{FF2B5EF4-FFF2-40B4-BE49-F238E27FC236}">
                <a16:creationId xmlns:a16="http://schemas.microsoft.com/office/drawing/2014/main" id="{8190BB8E-1AAD-2622-807C-BD18F48439F5}"/>
              </a:ext>
            </a:extLst>
          </p:cNvPr>
          <p:cNvGrpSpPr/>
          <p:nvPr/>
        </p:nvGrpSpPr>
        <p:grpSpPr>
          <a:xfrm>
            <a:off x="6479919" y="1180268"/>
            <a:ext cx="5190493" cy="4497464"/>
            <a:chOff x="4243393" y="2589079"/>
            <a:chExt cx="4748207" cy="4002965"/>
          </a:xfrm>
        </p:grpSpPr>
        <p:pic>
          <p:nvPicPr>
            <p:cNvPr id="11" name="Picture 10" descr="C:\Users\q0hectes\Desktop\WMIST Webinar Water Quality in HEC-ResSim and CWMS\images\02-br6-mehr-dam 90.jpg">
              <a:extLst>
                <a:ext uri="{FF2B5EF4-FFF2-40B4-BE49-F238E27FC236}">
                  <a16:creationId xmlns:a16="http://schemas.microsoft.com/office/drawing/2014/main" id="{A1FD1C6E-D933-DD7A-5708-446288C268D8}"/>
                </a:ext>
              </a:extLst>
            </p:cNvPr>
            <p:cNvPicPr>
              <a:picLocks noChangeAspect="1" noChangeArrowheads="1"/>
            </p:cNvPicPr>
            <p:nvPr/>
          </p:nvPicPr>
          <p:blipFill>
            <a:blip r:embed="rId3" cstate="print"/>
            <a:stretch>
              <a:fillRect/>
            </a:stretch>
          </p:blipFill>
          <p:spPr bwMode="auto">
            <a:xfrm>
              <a:off x="5693170" y="4378657"/>
              <a:ext cx="3222230" cy="2213387"/>
            </a:xfrm>
            <a:prstGeom prst="rect">
              <a:avLst/>
            </a:prstGeom>
            <a:noFill/>
            <a:ln w="12700">
              <a:noFill/>
            </a:ln>
          </p:spPr>
        </p:pic>
        <p:pic>
          <p:nvPicPr>
            <p:cNvPr id="12" name="Picture 11" descr="C:\Users\q0hectes\Desktop\WMIST Webinar Water Quality in HEC-ResSim and CWMS\images\RooseveltDam.jpg">
              <a:extLst>
                <a:ext uri="{FF2B5EF4-FFF2-40B4-BE49-F238E27FC236}">
                  <a16:creationId xmlns:a16="http://schemas.microsoft.com/office/drawing/2014/main" id="{BC2E5759-9677-98F4-B39E-6470FB249891}"/>
                </a:ext>
              </a:extLst>
            </p:cNvPr>
            <p:cNvPicPr>
              <a:picLocks noChangeAspect="1" noChangeArrowheads="1"/>
            </p:cNvPicPr>
            <p:nvPr/>
          </p:nvPicPr>
          <p:blipFill>
            <a:blip r:embed="rId4" cstate="print"/>
            <a:stretch>
              <a:fillRect/>
            </a:stretch>
          </p:blipFill>
          <p:spPr bwMode="auto">
            <a:xfrm>
              <a:off x="4243393" y="2635870"/>
              <a:ext cx="3106003" cy="2301922"/>
            </a:xfrm>
            <a:prstGeom prst="rect">
              <a:avLst/>
            </a:prstGeom>
            <a:noFill/>
            <a:ln w="12700">
              <a:noFill/>
            </a:ln>
          </p:spPr>
        </p:pic>
        <p:sp>
          <p:nvSpPr>
            <p:cNvPr id="13" name="TextBox 12">
              <a:extLst>
                <a:ext uri="{FF2B5EF4-FFF2-40B4-BE49-F238E27FC236}">
                  <a16:creationId xmlns:a16="http://schemas.microsoft.com/office/drawing/2014/main" id="{3E3C44E8-22D2-FD53-41BD-C836BC2C239D}"/>
                </a:ext>
              </a:extLst>
            </p:cNvPr>
            <p:cNvSpPr txBox="1"/>
            <p:nvPr/>
          </p:nvSpPr>
          <p:spPr>
            <a:xfrm>
              <a:off x="7373203" y="2589079"/>
              <a:ext cx="1618397" cy="584775"/>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Flows influence water quality</a:t>
              </a:r>
            </a:p>
          </p:txBody>
        </p:sp>
        <p:sp>
          <p:nvSpPr>
            <p:cNvPr id="14" name="TextBox 13">
              <a:extLst>
                <a:ext uri="{FF2B5EF4-FFF2-40B4-BE49-F238E27FC236}">
                  <a16:creationId xmlns:a16="http://schemas.microsoft.com/office/drawing/2014/main" id="{FCCD6219-52A1-F0E2-8EB5-1A95C3FCD6D0}"/>
                </a:ext>
              </a:extLst>
            </p:cNvPr>
            <p:cNvSpPr txBox="1"/>
            <p:nvPr/>
          </p:nvSpPr>
          <p:spPr>
            <a:xfrm>
              <a:off x="7373203" y="4378657"/>
              <a:ext cx="1542197" cy="830997"/>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Water quality must influence flows</a:t>
              </a:r>
            </a:p>
          </p:txBody>
        </p:sp>
        <p:sp>
          <p:nvSpPr>
            <p:cNvPr id="15" name="Down Arrow 14">
              <a:extLst>
                <a:ext uri="{FF2B5EF4-FFF2-40B4-BE49-F238E27FC236}">
                  <a16:creationId xmlns:a16="http://schemas.microsoft.com/office/drawing/2014/main" id="{54E245B3-7DE0-0C00-4D58-84AE164DC544}"/>
                </a:ext>
              </a:extLst>
            </p:cNvPr>
            <p:cNvSpPr/>
            <p:nvPr/>
          </p:nvSpPr>
          <p:spPr>
            <a:xfrm>
              <a:off x="7816483" y="3160709"/>
              <a:ext cx="562970" cy="1194549"/>
            </a:xfrm>
            <a:prstGeom prst="downArrow">
              <a:avLst/>
            </a:prstGeom>
            <a:blipFill>
              <a:blip r:embed="rId5"/>
              <a:stretch>
                <a:fillRect/>
              </a:stretch>
            </a:blip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81493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015" y="244498"/>
            <a:ext cx="11371385" cy="806451"/>
          </a:xfrm>
        </p:spPr>
        <p:txBody>
          <a:bodyPr/>
          <a:lstStyle/>
          <a:p>
            <a:r>
              <a:rPr lang="en-US" dirty="0">
                <a:solidFill>
                  <a:schemeClr val="tx1"/>
                </a:solidFill>
                <a:effectLst/>
                <a:latin typeface="+mj-lt"/>
              </a:rPr>
              <a:t>Benefits of Water Quality Modeling</a:t>
            </a:r>
            <a:endParaRPr lang="en-US" sz="1600" dirty="0">
              <a:solidFill>
                <a:schemeClr val="tx1"/>
              </a:solidFill>
              <a:effectLst/>
              <a:latin typeface="+mj-lt"/>
            </a:endParaRPr>
          </a:p>
        </p:txBody>
      </p:sp>
      <p:sp>
        <p:nvSpPr>
          <p:cNvPr id="7" name="Content Placeholder 4"/>
          <p:cNvSpPr>
            <a:spLocks noGrp="1"/>
          </p:cNvSpPr>
          <p:nvPr>
            <p:ph idx="1"/>
          </p:nvPr>
        </p:nvSpPr>
        <p:spPr>
          <a:xfrm>
            <a:off x="406401" y="1081093"/>
            <a:ext cx="7532744" cy="5126523"/>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Interpolation</a:t>
            </a:r>
          </a:p>
          <a:p>
            <a:pPr marL="685800" lvl="1" indent="-228600">
              <a:buClr>
                <a:schemeClr val="tx1"/>
              </a:buClr>
            </a:pPr>
            <a:r>
              <a:rPr lang="en-US" b="0" dirty="0">
                <a:solidFill>
                  <a:schemeClr val="tx1"/>
                </a:solidFill>
                <a:latin typeface="+mn-lt"/>
              </a:rPr>
              <a:t>Observed data is sparse in space and time.</a:t>
            </a:r>
          </a:p>
          <a:p>
            <a:pPr marL="685800" lvl="1" indent="-228600">
              <a:buClr>
                <a:schemeClr val="tx1"/>
              </a:buClr>
            </a:pPr>
            <a:r>
              <a:rPr lang="en-US" b="0" dirty="0">
                <a:solidFill>
                  <a:schemeClr val="tx1"/>
                </a:solidFill>
                <a:latin typeface="+mn-lt"/>
              </a:rPr>
              <a:t>Interpolation addresses questions like:</a:t>
            </a:r>
          </a:p>
          <a:p>
            <a:pPr marL="1143000" lvl="2" indent="-228600">
              <a:buClr>
                <a:schemeClr val="tx1"/>
              </a:buClr>
              <a:buSzPct val="50000"/>
            </a:pPr>
            <a:r>
              <a:rPr lang="en-US" sz="1800" b="0" dirty="0">
                <a:solidFill>
                  <a:schemeClr val="tx1"/>
                </a:solidFill>
                <a:latin typeface="+mn-lt"/>
              </a:rPr>
              <a:t>Where are the best locations for sampling?</a:t>
            </a:r>
          </a:p>
          <a:p>
            <a:pPr marL="1143000" lvl="2" indent="-228600">
              <a:buClr>
                <a:schemeClr val="tx1"/>
              </a:buClr>
              <a:buSzPct val="50000"/>
            </a:pPr>
            <a:r>
              <a:rPr lang="en-US" sz="1800" b="0" dirty="0">
                <a:solidFill>
                  <a:schemeClr val="tx1"/>
                </a:solidFill>
                <a:latin typeface="+mn-lt"/>
              </a:rPr>
              <a:t>Where are the most severe water quality problems occurring?</a:t>
            </a:r>
          </a:p>
          <a:p>
            <a:pPr marL="228600" indent="-228600">
              <a:buClr>
                <a:schemeClr val="tx1"/>
              </a:buClr>
              <a:buFont typeface="Arial" panose="020B0604020202020204" pitchFamily="34" charset="0"/>
              <a:buChar char="•"/>
            </a:pPr>
            <a:r>
              <a:rPr lang="en-US" b="0" dirty="0">
                <a:solidFill>
                  <a:schemeClr val="tx1"/>
                </a:solidFill>
                <a:latin typeface="+mn-lt"/>
              </a:rPr>
              <a:t>Extrapolation</a:t>
            </a:r>
          </a:p>
          <a:p>
            <a:pPr marL="685800" lvl="1" indent="-228600">
              <a:buClr>
                <a:schemeClr val="tx1"/>
              </a:buClr>
            </a:pPr>
            <a:r>
              <a:rPr lang="en-US" b="0" dirty="0">
                <a:solidFill>
                  <a:schemeClr val="tx1"/>
                </a:solidFill>
                <a:latin typeface="+mn-lt"/>
                <a:ea typeface="ＭＳ Ｐゴシック" charset="0"/>
              </a:rPr>
              <a:t>Forecast water quality in the future.</a:t>
            </a:r>
          </a:p>
          <a:p>
            <a:pPr marL="685800" lvl="1" indent="-228600">
              <a:buClr>
                <a:schemeClr val="tx1"/>
              </a:buClr>
            </a:pPr>
            <a:r>
              <a:rPr lang="en-US" b="0" dirty="0">
                <a:solidFill>
                  <a:schemeClr val="tx1"/>
                </a:solidFill>
                <a:latin typeface="+mn-lt"/>
                <a:ea typeface="ＭＳ Ｐゴシック" charset="0"/>
              </a:rPr>
              <a:t>Predict water quality for different water management scenarios</a:t>
            </a:r>
          </a:p>
          <a:p>
            <a:pPr marL="685800" lvl="1" indent="-228600">
              <a:buClr>
                <a:schemeClr val="tx1"/>
              </a:buClr>
            </a:pPr>
            <a:r>
              <a:rPr lang="en-US" b="0" dirty="0">
                <a:solidFill>
                  <a:schemeClr val="tx1"/>
                </a:solidFill>
                <a:latin typeface="+mn-lt"/>
                <a:ea typeface="ＭＳ Ｐゴシック" charset="0"/>
              </a:rPr>
              <a:t>Extrapolation answers questions like:</a:t>
            </a:r>
          </a:p>
          <a:p>
            <a:pPr marL="1143000" lvl="2" indent="-228600">
              <a:buClr>
                <a:schemeClr val="tx1"/>
              </a:buClr>
              <a:buSzPct val="50000"/>
            </a:pPr>
            <a:r>
              <a:rPr lang="en-US" sz="1800" b="0" dirty="0">
                <a:solidFill>
                  <a:schemeClr val="tx1"/>
                </a:solidFill>
                <a:latin typeface="+mn-lt"/>
                <a:ea typeface="ＭＳ Ｐゴシック" charset="0"/>
              </a:rPr>
              <a:t>How will the watershed function under different climate forcing conditions?</a:t>
            </a:r>
          </a:p>
          <a:p>
            <a:pPr marL="1143000" lvl="2" indent="-228600">
              <a:buClr>
                <a:schemeClr val="tx1"/>
              </a:buClr>
              <a:buSzPct val="50000"/>
            </a:pPr>
            <a:r>
              <a:rPr lang="en-US" sz="1800" b="0" dirty="0">
                <a:solidFill>
                  <a:schemeClr val="tx1"/>
                </a:solidFill>
                <a:latin typeface="+mn-lt"/>
                <a:ea typeface="ＭＳ Ｐゴシック" charset="0"/>
              </a:rPr>
              <a:t>How will the ecosystem respond if flow allocations are changed, hydropower withdrawals increased, and releases altered to meet ecosystem restoration targets (e-flows)?</a:t>
            </a:r>
          </a:p>
          <a:p>
            <a:pPr marL="228600" indent="-228600">
              <a:buClr>
                <a:schemeClr val="tx1"/>
              </a:buClr>
              <a:buFont typeface="Arial" panose="020B0604020202020204" pitchFamily="34" charset="0"/>
              <a:buChar char="•"/>
            </a:pPr>
            <a:r>
              <a:rPr lang="en-US" b="0" dirty="0">
                <a:solidFill>
                  <a:schemeClr val="tx1"/>
                </a:solidFill>
                <a:latin typeface="+mn-lt"/>
              </a:rPr>
              <a:t>Improved understanding of the system.</a:t>
            </a:r>
          </a:p>
          <a:p>
            <a:pPr marL="914400" lvl="1" indent="-342900">
              <a:buClr>
                <a:schemeClr val="tx1"/>
              </a:buClr>
            </a:pPr>
            <a:endParaRPr lang="en-US" b="0" dirty="0">
              <a:solidFill>
                <a:schemeClr val="tx1"/>
              </a:solidFill>
              <a:latin typeface="+mn-lt"/>
            </a:endParaRPr>
          </a:p>
        </p:txBody>
      </p:sp>
      <p:pic>
        <p:nvPicPr>
          <p:cNvPr id="11" name="Picture 10" descr="A picture containing mountain, nature, outdoor, track&#10;&#10;Description automatically generated">
            <a:extLst>
              <a:ext uri="{FF2B5EF4-FFF2-40B4-BE49-F238E27FC236}">
                <a16:creationId xmlns:a16="http://schemas.microsoft.com/office/drawing/2014/main" id="{2A726859-C246-847E-0E07-D030B7E55184}"/>
              </a:ext>
            </a:extLst>
          </p:cNvPr>
          <p:cNvPicPr>
            <a:picLocks noChangeAspect="1"/>
          </p:cNvPicPr>
          <p:nvPr/>
        </p:nvPicPr>
        <p:blipFill>
          <a:blip r:embed="rId3"/>
          <a:stretch>
            <a:fillRect/>
          </a:stretch>
        </p:blipFill>
        <p:spPr>
          <a:xfrm>
            <a:off x="7985074" y="575308"/>
            <a:ext cx="3720967" cy="2418629"/>
          </a:xfrm>
          <a:prstGeom prst="rect">
            <a:avLst/>
          </a:prstGeom>
        </p:spPr>
      </p:pic>
      <p:sp>
        <p:nvSpPr>
          <p:cNvPr id="12" name="TextBox 11">
            <a:extLst>
              <a:ext uri="{FF2B5EF4-FFF2-40B4-BE49-F238E27FC236}">
                <a16:creationId xmlns:a16="http://schemas.microsoft.com/office/drawing/2014/main" id="{5C095B03-A60A-F54E-03DF-BE6B348B0B25}"/>
              </a:ext>
            </a:extLst>
          </p:cNvPr>
          <p:cNvSpPr txBox="1"/>
          <p:nvPr/>
        </p:nvSpPr>
        <p:spPr>
          <a:xfrm>
            <a:off x="7985074" y="5944771"/>
            <a:ext cx="3720966" cy="338554"/>
          </a:xfrm>
          <a:prstGeom prst="rect">
            <a:avLst/>
          </a:prstGeom>
          <a:noFill/>
        </p:spPr>
        <p:txBody>
          <a:bodyPr wrap="square" rtlCol="0">
            <a:spAutoFit/>
          </a:bodyPr>
          <a:lstStyle/>
          <a:p>
            <a:pPr algn="ctr"/>
            <a:r>
              <a:rPr lang="en-US" sz="1600" dirty="0"/>
              <a:t>Dworshak Dam, Idaho</a:t>
            </a:r>
          </a:p>
        </p:txBody>
      </p:sp>
      <p:pic>
        <p:nvPicPr>
          <p:cNvPr id="13" name="Picture 12" descr="A picture containing mountain, outdoor, nature&#10;&#10;Description automatically generated">
            <a:extLst>
              <a:ext uri="{FF2B5EF4-FFF2-40B4-BE49-F238E27FC236}">
                <a16:creationId xmlns:a16="http://schemas.microsoft.com/office/drawing/2014/main" id="{4730B0A3-EBD8-6CBF-E654-EE16712E62E1}"/>
              </a:ext>
            </a:extLst>
          </p:cNvPr>
          <p:cNvPicPr>
            <a:picLocks noChangeAspect="1"/>
          </p:cNvPicPr>
          <p:nvPr/>
        </p:nvPicPr>
        <p:blipFill>
          <a:blip r:embed="rId4"/>
          <a:stretch>
            <a:fillRect/>
          </a:stretch>
        </p:blipFill>
        <p:spPr>
          <a:xfrm>
            <a:off x="7985074" y="3348748"/>
            <a:ext cx="3720966" cy="2596023"/>
          </a:xfrm>
          <a:prstGeom prst="rect">
            <a:avLst/>
          </a:prstGeom>
        </p:spPr>
      </p:pic>
      <p:sp>
        <p:nvSpPr>
          <p:cNvPr id="14" name="TextBox 13">
            <a:extLst>
              <a:ext uri="{FF2B5EF4-FFF2-40B4-BE49-F238E27FC236}">
                <a16:creationId xmlns:a16="http://schemas.microsoft.com/office/drawing/2014/main" id="{4BCC7ED6-87BD-548D-8446-92AD185C2E29}"/>
              </a:ext>
            </a:extLst>
          </p:cNvPr>
          <p:cNvSpPr txBox="1"/>
          <p:nvPr/>
        </p:nvSpPr>
        <p:spPr>
          <a:xfrm>
            <a:off x="7991527" y="2962322"/>
            <a:ext cx="3720966" cy="338554"/>
          </a:xfrm>
          <a:prstGeom prst="rect">
            <a:avLst/>
          </a:prstGeom>
          <a:noFill/>
        </p:spPr>
        <p:txBody>
          <a:bodyPr wrap="square" rtlCol="0">
            <a:spAutoFit/>
          </a:bodyPr>
          <a:lstStyle/>
          <a:p>
            <a:pPr algn="ctr"/>
            <a:r>
              <a:rPr lang="en-US" sz="1600" dirty="0"/>
              <a:t>Detroit Dam, Oregon</a:t>
            </a:r>
          </a:p>
        </p:txBody>
      </p:sp>
    </p:spTree>
    <p:extLst>
      <p:ext uri="{BB962C8B-B14F-4D97-AF65-F5344CB8AC3E}">
        <p14:creationId xmlns:p14="http://schemas.microsoft.com/office/powerpoint/2010/main" val="16336525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4" y="244498"/>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Reservoir Processes and Zones</a:t>
            </a:r>
          </a:p>
        </p:txBody>
      </p:sp>
      <p:sp>
        <p:nvSpPr>
          <p:cNvPr id="7" name="Content Placeholder 4"/>
          <p:cNvSpPr>
            <a:spLocks noGrp="1"/>
          </p:cNvSpPr>
          <p:nvPr>
            <p:ph idx="1"/>
          </p:nvPr>
        </p:nvSpPr>
        <p:spPr>
          <a:xfrm>
            <a:off x="406401" y="1081094"/>
            <a:ext cx="4559300" cy="4862506"/>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Riverine zone</a:t>
            </a:r>
          </a:p>
          <a:p>
            <a:pPr marL="685800" lvl="1" indent="-228600">
              <a:buClr>
                <a:schemeClr val="tx1"/>
              </a:buClr>
            </a:pPr>
            <a:r>
              <a:rPr lang="en-US" b="0" dirty="0">
                <a:solidFill>
                  <a:schemeClr val="tx1"/>
                </a:solidFill>
                <a:latin typeface="+mn-lt"/>
              </a:rPr>
              <a:t>River-like flows within channel</a:t>
            </a:r>
          </a:p>
          <a:p>
            <a:pPr marL="685800" lvl="1" indent="-228600">
              <a:buClr>
                <a:schemeClr val="tx1"/>
              </a:buClr>
            </a:pPr>
            <a:r>
              <a:rPr lang="en-US" b="0" dirty="0">
                <a:solidFill>
                  <a:schemeClr val="tx1"/>
                </a:solidFill>
                <a:latin typeface="+mn-lt"/>
              </a:rPr>
              <a:t>Minimum requirement: 1D river model (segments)</a:t>
            </a:r>
          </a:p>
          <a:p>
            <a:pPr marL="228600" indent="-228600">
              <a:buClr>
                <a:schemeClr val="tx1"/>
              </a:buClr>
              <a:buFont typeface="Arial" panose="020B0604020202020204" pitchFamily="34" charset="0"/>
              <a:buChar char="•"/>
            </a:pPr>
            <a:r>
              <a:rPr lang="en-US" b="0" dirty="0">
                <a:solidFill>
                  <a:schemeClr val="tx1"/>
                </a:solidFill>
                <a:latin typeface="+mn-lt"/>
              </a:rPr>
              <a:t>Lacustrine zone</a:t>
            </a:r>
          </a:p>
          <a:p>
            <a:pPr marL="685800" lvl="1" indent="-228600">
              <a:buClr>
                <a:schemeClr val="tx1"/>
              </a:buClr>
            </a:pPr>
            <a:r>
              <a:rPr lang="en-US" b="0" dirty="0">
                <a:solidFill>
                  <a:schemeClr val="tx1"/>
                </a:solidFill>
                <a:latin typeface="+mn-lt"/>
              </a:rPr>
              <a:t>Lake-like system, vertically stratified, slow flows</a:t>
            </a:r>
          </a:p>
          <a:p>
            <a:pPr marL="685800" lvl="1" indent="-228600">
              <a:buClr>
                <a:schemeClr val="tx1"/>
              </a:buClr>
            </a:pPr>
            <a:r>
              <a:rPr lang="en-US" b="0" dirty="0">
                <a:solidFill>
                  <a:schemeClr val="tx1"/>
                </a:solidFill>
                <a:latin typeface="+mn-lt"/>
              </a:rPr>
              <a:t>Minimum requirement: 1D reservoir model (layers)</a:t>
            </a:r>
          </a:p>
          <a:p>
            <a:pPr marL="228600" indent="-228600">
              <a:buClr>
                <a:schemeClr val="tx1"/>
              </a:buClr>
              <a:buFont typeface="Arial" panose="020B0604020202020204" pitchFamily="34" charset="0"/>
              <a:buChar char="•"/>
            </a:pPr>
            <a:r>
              <a:rPr lang="en-US" b="0" dirty="0">
                <a:solidFill>
                  <a:schemeClr val="tx1"/>
                </a:solidFill>
                <a:latin typeface="+mn-lt"/>
              </a:rPr>
              <a:t>Transition zone</a:t>
            </a:r>
          </a:p>
          <a:p>
            <a:pPr marL="685800" lvl="1" indent="-228600">
              <a:buClr>
                <a:schemeClr val="tx1"/>
              </a:buClr>
            </a:pPr>
            <a:r>
              <a:rPr lang="en-US" b="0" dirty="0">
                <a:solidFill>
                  <a:schemeClr val="tx1"/>
                </a:solidFill>
                <a:latin typeface="+mn-lt"/>
              </a:rPr>
              <a:t>Stratification and downstream flows important</a:t>
            </a:r>
          </a:p>
          <a:p>
            <a:pPr marL="685800" lvl="1" indent="-228600">
              <a:buClr>
                <a:schemeClr val="tx1"/>
              </a:buClr>
            </a:pPr>
            <a:r>
              <a:rPr lang="en-US" b="0" dirty="0">
                <a:solidFill>
                  <a:schemeClr val="tx1"/>
                </a:solidFill>
                <a:latin typeface="+mn-lt"/>
              </a:rPr>
              <a:t>Minimum requirement: 2D model (layers and segments)</a:t>
            </a:r>
          </a:p>
        </p:txBody>
      </p:sp>
      <p:sp>
        <p:nvSpPr>
          <p:cNvPr id="3" name="TextBox 2">
            <a:extLst>
              <a:ext uri="{FF2B5EF4-FFF2-40B4-BE49-F238E27FC236}">
                <a16:creationId xmlns:a16="http://schemas.microsoft.com/office/drawing/2014/main" id="{43010E05-A8C4-C046-B426-2BB5C7C7103A}"/>
              </a:ext>
            </a:extLst>
          </p:cNvPr>
          <p:cNvSpPr txBox="1"/>
          <p:nvPr/>
        </p:nvSpPr>
        <p:spPr>
          <a:xfrm>
            <a:off x="4969272" y="3935790"/>
            <a:ext cx="6816725" cy="1815882"/>
          </a:xfrm>
          <a:prstGeom prst="rect">
            <a:avLst/>
          </a:prstGeom>
          <a:noFill/>
        </p:spPr>
        <p:txBody>
          <a:bodyPr wrap="square" lIns="91440" tIns="45720" rIns="91440" bIns="45720" rtlCol="0" anchor="t">
            <a:spAutoFit/>
          </a:bodyPr>
          <a:lstStyle/>
          <a:p>
            <a:r>
              <a:rPr lang="en-US" sz="1600" dirty="0"/>
              <a:t>Reservoir system with important flow, WQ, and ecosystem processes for each of three zones.</a:t>
            </a:r>
          </a:p>
          <a:p>
            <a:endParaRPr lang="en-US" sz="1600" dirty="0"/>
          </a:p>
          <a:p>
            <a:r>
              <a:rPr lang="en-US" sz="1600" dirty="0"/>
              <a:t>Notes:</a:t>
            </a:r>
          </a:p>
          <a:p>
            <a:pPr marL="228600" indent="-228600">
              <a:buFont typeface="Arial" panose="020B0604020202020204" pitchFamily="34" charset="0"/>
              <a:buChar char="•"/>
            </a:pPr>
            <a:r>
              <a:rPr lang="en-US" sz="1600" dirty="0"/>
              <a:t>1D river model used for channels in a reservoir system</a:t>
            </a:r>
          </a:p>
          <a:p>
            <a:pPr marL="228600" indent="-228600">
              <a:buFont typeface="Arial" panose="020B0604020202020204" pitchFamily="34" charset="0"/>
              <a:buChar char="•"/>
            </a:pPr>
            <a:r>
              <a:rPr lang="en-US" sz="1600" dirty="0"/>
              <a:t>2D river model used for floodplain simulation</a:t>
            </a:r>
          </a:p>
          <a:p>
            <a:pPr marL="228600" indent="-228600">
              <a:buFont typeface="Arial" panose="020B0604020202020204" pitchFamily="34" charset="0"/>
              <a:buChar char="•"/>
            </a:pPr>
            <a:r>
              <a:rPr lang="en-US" sz="1600" dirty="0">
                <a:latin typeface="Arial"/>
                <a:ea typeface="ＭＳ Ｐゴシック"/>
                <a:cs typeface="Arial"/>
              </a:rPr>
              <a:t>2D reservoir model used for large stratified reservoirs</a:t>
            </a:r>
          </a:p>
        </p:txBody>
      </p:sp>
      <p:grpSp>
        <p:nvGrpSpPr>
          <p:cNvPr id="18" name="Group 17">
            <a:extLst>
              <a:ext uri="{FF2B5EF4-FFF2-40B4-BE49-F238E27FC236}">
                <a16:creationId xmlns:a16="http://schemas.microsoft.com/office/drawing/2014/main" id="{F65A339C-4313-9643-BABA-D396378A9607}"/>
              </a:ext>
            </a:extLst>
          </p:cNvPr>
          <p:cNvGrpSpPr/>
          <p:nvPr/>
        </p:nvGrpSpPr>
        <p:grpSpPr>
          <a:xfrm>
            <a:off x="4855369" y="310154"/>
            <a:ext cx="7225902" cy="5106600"/>
            <a:chOff x="4855369" y="453029"/>
            <a:chExt cx="7225902" cy="5106600"/>
          </a:xfrm>
        </p:grpSpPr>
        <p:pic>
          <p:nvPicPr>
            <p:cNvPr id="5" name="Picture 5">
              <a:extLst>
                <a:ext uri="{FF2B5EF4-FFF2-40B4-BE49-F238E27FC236}">
                  <a16:creationId xmlns:a16="http://schemas.microsoft.com/office/drawing/2014/main" id="{FEEAB6C8-622F-9F86-7BCA-D3614A9B3FD4}"/>
                </a:ext>
              </a:extLst>
            </p:cNvPr>
            <p:cNvPicPr>
              <a:picLocks noChangeAspect="1"/>
            </p:cNvPicPr>
            <p:nvPr/>
          </p:nvPicPr>
          <p:blipFill>
            <a:blip r:embed="rId3"/>
            <a:stretch>
              <a:fillRect/>
            </a:stretch>
          </p:blipFill>
          <p:spPr>
            <a:xfrm>
              <a:off x="4879181" y="453029"/>
              <a:ext cx="7202090" cy="5106600"/>
            </a:xfrm>
            <a:prstGeom prst="rect">
              <a:avLst/>
            </a:prstGeom>
          </p:spPr>
        </p:pic>
        <p:cxnSp>
          <p:nvCxnSpPr>
            <p:cNvPr id="8" name="Straight Arrow Connector 7">
              <a:extLst>
                <a:ext uri="{FF2B5EF4-FFF2-40B4-BE49-F238E27FC236}">
                  <a16:creationId xmlns:a16="http://schemas.microsoft.com/office/drawing/2014/main" id="{94424D69-8232-9049-0423-BE8271FABE75}"/>
                </a:ext>
              </a:extLst>
            </p:cNvPr>
            <p:cNvCxnSpPr/>
            <p:nvPr/>
          </p:nvCxnSpPr>
          <p:spPr>
            <a:xfrm>
              <a:off x="5097066" y="2078830"/>
              <a:ext cx="1057273" cy="9524"/>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8CB2AC6-84AF-71B5-FED8-2CFDDE98CB2E}"/>
                </a:ext>
              </a:extLst>
            </p:cNvPr>
            <p:cNvCxnSpPr/>
            <p:nvPr/>
          </p:nvCxnSpPr>
          <p:spPr>
            <a:xfrm>
              <a:off x="8270081" y="1977627"/>
              <a:ext cx="9525" cy="634603"/>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C583DDB-C228-09BF-C3ED-B1C2445744D4}"/>
                </a:ext>
              </a:extLst>
            </p:cNvPr>
            <p:cNvCxnSpPr>
              <a:cxnSpLocks/>
            </p:cNvCxnSpPr>
            <p:nvPr/>
          </p:nvCxnSpPr>
          <p:spPr>
            <a:xfrm flipV="1">
              <a:off x="10085783" y="2118120"/>
              <a:ext cx="3571" cy="865584"/>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2AC0FC6-FBFB-2448-673B-6FEE1610A96A}"/>
                </a:ext>
              </a:extLst>
            </p:cNvPr>
            <p:cNvSpPr txBox="1"/>
            <p:nvPr/>
          </p:nvSpPr>
          <p:spPr>
            <a:xfrm>
              <a:off x="4855369" y="1700211"/>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Riverine</a:t>
              </a:r>
              <a:endParaRPr lang="en-US" sz="1600" dirty="0"/>
            </a:p>
          </p:txBody>
        </p:sp>
        <p:sp>
          <p:nvSpPr>
            <p:cNvPr id="12" name="TextBox 11">
              <a:extLst>
                <a:ext uri="{FF2B5EF4-FFF2-40B4-BE49-F238E27FC236}">
                  <a16:creationId xmlns:a16="http://schemas.microsoft.com/office/drawing/2014/main" id="{CB9B1339-0280-0FBD-0DEE-68EBCFCDE90A}"/>
                </a:ext>
              </a:extLst>
            </p:cNvPr>
            <p:cNvSpPr txBox="1"/>
            <p:nvPr/>
          </p:nvSpPr>
          <p:spPr>
            <a:xfrm>
              <a:off x="7564040" y="1664492"/>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Transition</a:t>
              </a:r>
              <a:endParaRPr lang="en-US" sz="1600" dirty="0"/>
            </a:p>
          </p:txBody>
        </p:sp>
        <p:sp>
          <p:nvSpPr>
            <p:cNvPr id="13" name="TextBox 12">
              <a:extLst>
                <a:ext uri="{FF2B5EF4-FFF2-40B4-BE49-F238E27FC236}">
                  <a16:creationId xmlns:a16="http://schemas.microsoft.com/office/drawing/2014/main" id="{0B96092F-A546-5D5C-19BF-943294E44383}"/>
                </a:ext>
              </a:extLst>
            </p:cNvPr>
            <p:cNvSpPr txBox="1"/>
            <p:nvPr/>
          </p:nvSpPr>
          <p:spPr>
            <a:xfrm>
              <a:off x="9367837" y="1670444"/>
              <a:ext cx="1403746"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Lacustrine</a:t>
              </a:r>
            </a:p>
          </p:txBody>
        </p:sp>
        <p:cxnSp>
          <p:nvCxnSpPr>
            <p:cNvPr id="14" name="Straight Arrow Connector 13">
              <a:extLst>
                <a:ext uri="{FF2B5EF4-FFF2-40B4-BE49-F238E27FC236}">
                  <a16:creationId xmlns:a16="http://schemas.microsoft.com/office/drawing/2014/main" id="{D4CD7828-B130-2378-619C-3CA0DE8146C5}"/>
                </a:ext>
              </a:extLst>
            </p:cNvPr>
            <p:cNvCxnSpPr>
              <a:cxnSpLocks/>
            </p:cNvCxnSpPr>
            <p:nvPr/>
          </p:nvCxnSpPr>
          <p:spPr>
            <a:xfrm flipH="1">
              <a:off x="7857982" y="2296715"/>
              <a:ext cx="841771" cy="3571"/>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BACB7A1-16E4-EED0-91CE-70519BC219BD}"/>
                </a:ext>
              </a:extLst>
            </p:cNvPr>
            <p:cNvSpPr txBox="1"/>
            <p:nvPr/>
          </p:nvSpPr>
          <p:spPr>
            <a:xfrm>
              <a:off x="5022055" y="3599258"/>
              <a:ext cx="254198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 by Lauren Melendez</a:t>
              </a:r>
              <a:endParaRPr lang="en-US" sz="1400" dirty="0">
                <a:cs typeface="Arial" pitchFamily="34" charset="0"/>
              </a:endParaRPr>
            </a:p>
          </p:txBody>
        </p:sp>
      </p:grpSp>
    </p:spTree>
    <p:extLst>
      <p:ext uri="{BB962C8B-B14F-4D97-AF65-F5344CB8AC3E}">
        <p14:creationId xmlns:p14="http://schemas.microsoft.com/office/powerpoint/2010/main" val="2598461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3" y="244498"/>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River-Reservoir System</a:t>
            </a:r>
          </a:p>
        </p:txBody>
      </p:sp>
      <p:sp>
        <p:nvSpPr>
          <p:cNvPr id="7" name="Content Placeholder 4"/>
          <p:cNvSpPr>
            <a:spLocks noGrp="1"/>
          </p:cNvSpPr>
          <p:nvPr>
            <p:ph idx="1"/>
          </p:nvPr>
        </p:nvSpPr>
        <p:spPr>
          <a:xfrm>
            <a:off x="406401" y="1081094"/>
            <a:ext cx="4725883" cy="5256414"/>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Unstratified river/reservoir reaches:</a:t>
            </a:r>
          </a:p>
          <a:p>
            <a:pPr marL="457200" lvl="1" indent="-228600">
              <a:buClr>
                <a:schemeClr val="tx1"/>
              </a:buClr>
            </a:pPr>
            <a:r>
              <a:rPr lang="en-US" b="0" dirty="0">
                <a:solidFill>
                  <a:schemeClr val="tx1"/>
                </a:solidFill>
                <a:latin typeface="+mn-lt"/>
              </a:rPr>
              <a:t>May be modeled as 1D water bodies (segments)</a:t>
            </a:r>
          </a:p>
          <a:p>
            <a:pPr marL="228600" indent="-228600">
              <a:buClr>
                <a:schemeClr val="tx1"/>
              </a:buClr>
              <a:buFont typeface="Arial" panose="020B0604020202020204" pitchFamily="34" charset="0"/>
              <a:buChar char="•"/>
            </a:pPr>
            <a:r>
              <a:rPr lang="en-US" b="0" dirty="0">
                <a:solidFill>
                  <a:schemeClr val="tx1"/>
                </a:solidFill>
                <a:latin typeface="+mn-lt"/>
              </a:rPr>
              <a:t>Stratified reaches:</a:t>
            </a:r>
          </a:p>
          <a:p>
            <a:pPr marL="457200" lvl="1" indent="-228600">
              <a:buClr>
                <a:schemeClr val="tx1"/>
              </a:buClr>
            </a:pPr>
            <a:r>
              <a:rPr lang="en-US" b="0" dirty="0">
                <a:solidFill>
                  <a:schemeClr val="tx1"/>
                </a:solidFill>
                <a:latin typeface="+mn-lt"/>
              </a:rPr>
              <a:t>May be modeled as 1D reservoirs (layers) for real-time release decision-making to meet downstream objectives</a:t>
            </a:r>
          </a:p>
          <a:p>
            <a:pPr marL="457200" lvl="1" indent="-228600">
              <a:buClr>
                <a:schemeClr val="tx1"/>
              </a:buClr>
            </a:pPr>
            <a:r>
              <a:rPr lang="en-US" b="0" dirty="0">
                <a:solidFill>
                  <a:schemeClr val="tx1"/>
                </a:solidFill>
                <a:latin typeface="+mn-lt"/>
              </a:rPr>
              <a:t>To characterize and understand in-reservoir processes, reservoirs need to be modeled as 2D water bodies (layers and segments)</a:t>
            </a:r>
          </a:p>
          <a:p>
            <a:pPr marL="685800" lvl="2" indent="-228600">
              <a:buClr>
                <a:schemeClr val="tx1"/>
              </a:buClr>
              <a:buSzPct val="50000"/>
            </a:pPr>
            <a:r>
              <a:rPr lang="en-US" sz="1800" b="0" dirty="0">
                <a:solidFill>
                  <a:schemeClr val="tx1"/>
                </a:solidFill>
                <a:latin typeface="+mn-lt"/>
              </a:rPr>
              <a:t>Ensures accuracy, capturing important in-reservoir processes (mixing, pollutants, inflows, etc.)</a:t>
            </a:r>
          </a:p>
          <a:p>
            <a:pPr marL="685800" lvl="2" indent="-228600">
              <a:buClr>
                <a:schemeClr val="tx1"/>
              </a:buClr>
              <a:buSzPct val="50000"/>
            </a:pPr>
            <a:r>
              <a:rPr lang="en-US" sz="1800" b="0" dirty="0">
                <a:solidFill>
                  <a:schemeClr val="tx1"/>
                </a:solidFill>
                <a:latin typeface="+mn-lt"/>
              </a:rPr>
              <a:t>Identifies vulnerabilities and restoration/management options (e.g., velocities and temperature for HAB management)</a:t>
            </a:r>
          </a:p>
          <a:p>
            <a:pPr marL="342900" indent="-342900">
              <a:buClr>
                <a:schemeClr val="tx1"/>
              </a:buClr>
              <a:buFont typeface="Arial" panose="020B0604020202020204" pitchFamily="34" charset="0"/>
              <a:buChar char="•"/>
            </a:pPr>
            <a:endParaRPr lang="en-US" sz="1600" b="0" dirty="0">
              <a:solidFill>
                <a:schemeClr val="tx1"/>
              </a:solidFill>
              <a:latin typeface="+mn-lt"/>
            </a:endParaRPr>
          </a:p>
        </p:txBody>
      </p:sp>
      <p:grpSp>
        <p:nvGrpSpPr>
          <p:cNvPr id="15" name="Group 14">
            <a:extLst>
              <a:ext uri="{FF2B5EF4-FFF2-40B4-BE49-F238E27FC236}">
                <a16:creationId xmlns:a16="http://schemas.microsoft.com/office/drawing/2014/main" id="{368D3612-5B3C-AF01-506B-7052DAE5E758}"/>
              </a:ext>
            </a:extLst>
          </p:cNvPr>
          <p:cNvGrpSpPr/>
          <p:nvPr/>
        </p:nvGrpSpPr>
        <p:grpSpPr>
          <a:xfrm>
            <a:off x="4728353" y="3853110"/>
            <a:ext cx="7106563" cy="2484398"/>
            <a:chOff x="2570838" y="3853110"/>
            <a:chExt cx="7106563" cy="2484398"/>
          </a:xfrm>
        </p:grpSpPr>
        <p:pic>
          <p:nvPicPr>
            <p:cNvPr id="4" name="Picture 3" descr="A screenshot of a video game&#10;&#10;Description automatically generated with medium confidence">
              <a:extLst>
                <a:ext uri="{FF2B5EF4-FFF2-40B4-BE49-F238E27FC236}">
                  <a16:creationId xmlns:a16="http://schemas.microsoft.com/office/drawing/2014/main" id="{824B7B68-CB82-FC00-3443-049B3CB5BBF2}"/>
                </a:ext>
              </a:extLst>
            </p:cNvPr>
            <p:cNvPicPr>
              <a:picLocks noChangeAspect="1"/>
            </p:cNvPicPr>
            <p:nvPr/>
          </p:nvPicPr>
          <p:blipFill>
            <a:blip r:embed="rId3"/>
            <a:stretch>
              <a:fillRect/>
            </a:stretch>
          </p:blipFill>
          <p:spPr>
            <a:xfrm>
              <a:off x="2679700" y="4546808"/>
              <a:ext cx="6832600" cy="1790700"/>
            </a:xfrm>
            <a:prstGeom prst="rect">
              <a:avLst/>
            </a:prstGeom>
          </p:spPr>
        </p:pic>
        <p:sp>
          <p:nvSpPr>
            <p:cNvPr id="5" name="TextBox 4">
              <a:extLst>
                <a:ext uri="{FF2B5EF4-FFF2-40B4-BE49-F238E27FC236}">
                  <a16:creationId xmlns:a16="http://schemas.microsoft.com/office/drawing/2014/main" id="{68783A6C-814C-5B24-BD62-E4BCECBD2391}"/>
                </a:ext>
              </a:extLst>
            </p:cNvPr>
            <p:cNvSpPr txBox="1"/>
            <p:nvPr/>
          </p:nvSpPr>
          <p:spPr>
            <a:xfrm>
              <a:off x="2570838" y="426740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6" name="TextBox 5">
              <a:extLst>
                <a:ext uri="{FF2B5EF4-FFF2-40B4-BE49-F238E27FC236}">
                  <a16:creationId xmlns:a16="http://schemas.microsoft.com/office/drawing/2014/main" id="{787BA148-DCA4-6E4F-09E6-14E11A2D64A1}"/>
                </a:ext>
              </a:extLst>
            </p:cNvPr>
            <p:cNvSpPr txBox="1"/>
            <p:nvPr/>
          </p:nvSpPr>
          <p:spPr>
            <a:xfrm>
              <a:off x="3949696" y="426740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8" name="TextBox 7">
              <a:extLst>
                <a:ext uri="{FF2B5EF4-FFF2-40B4-BE49-F238E27FC236}">
                  <a16:creationId xmlns:a16="http://schemas.microsoft.com/office/drawing/2014/main" id="{7F033E0D-9F26-B37A-2CB3-CD40CADE9909}"/>
                </a:ext>
              </a:extLst>
            </p:cNvPr>
            <p:cNvSpPr txBox="1"/>
            <p:nvPr/>
          </p:nvSpPr>
          <p:spPr>
            <a:xfrm>
              <a:off x="4800602" y="385311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9" name="Straight Arrow Connector 8">
              <a:extLst>
                <a:ext uri="{FF2B5EF4-FFF2-40B4-BE49-F238E27FC236}">
                  <a16:creationId xmlns:a16="http://schemas.microsoft.com/office/drawing/2014/main" id="{A89DEBAC-39BC-42E4-C0D4-31E41D227188}"/>
                </a:ext>
              </a:extLst>
            </p:cNvPr>
            <p:cNvCxnSpPr>
              <a:cxnSpLocks/>
            </p:cNvCxnSpPr>
            <p:nvPr/>
          </p:nvCxnSpPr>
          <p:spPr>
            <a:xfrm>
              <a:off x="5660572" y="4179410"/>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97CF8CB-C5FB-24AE-65AF-F3E2227C58E8}"/>
                </a:ext>
              </a:extLst>
            </p:cNvPr>
            <p:cNvSpPr txBox="1"/>
            <p:nvPr/>
          </p:nvSpPr>
          <p:spPr>
            <a:xfrm>
              <a:off x="5974433" y="489877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11" name="TextBox 10">
              <a:extLst>
                <a:ext uri="{FF2B5EF4-FFF2-40B4-BE49-F238E27FC236}">
                  <a16:creationId xmlns:a16="http://schemas.microsoft.com/office/drawing/2014/main" id="{B53C6624-6704-9CBE-4100-B9B690B733D0}"/>
                </a:ext>
              </a:extLst>
            </p:cNvPr>
            <p:cNvSpPr txBox="1"/>
            <p:nvPr/>
          </p:nvSpPr>
          <p:spPr>
            <a:xfrm>
              <a:off x="7150095" y="489877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12" name="TextBox 11">
              <a:extLst>
                <a:ext uri="{FF2B5EF4-FFF2-40B4-BE49-F238E27FC236}">
                  <a16:creationId xmlns:a16="http://schemas.microsoft.com/office/drawing/2014/main" id="{6FB3124B-EAEB-A976-AA56-332F743F2F15}"/>
                </a:ext>
              </a:extLst>
            </p:cNvPr>
            <p:cNvSpPr txBox="1"/>
            <p:nvPr/>
          </p:nvSpPr>
          <p:spPr>
            <a:xfrm>
              <a:off x="7986487" y="448448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14" name="Straight Arrow Connector 13">
              <a:extLst>
                <a:ext uri="{FF2B5EF4-FFF2-40B4-BE49-F238E27FC236}">
                  <a16:creationId xmlns:a16="http://schemas.microsoft.com/office/drawing/2014/main" id="{AE23DB65-5FAC-630D-E7E0-3E9F34960D5D}"/>
                </a:ext>
              </a:extLst>
            </p:cNvPr>
            <p:cNvCxnSpPr>
              <a:cxnSpLocks/>
            </p:cNvCxnSpPr>
            <p:nvPr/>
          </p:nvCxnSpPr>
          <p:spPr>
            <a:xfrm>
              <a:off x="8846457" y="4853812"/>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98F30BFD-571A-B30D-DDCB-1575ABD84596}"/>
              </a:ext>
            </a:extLst>
          </p:cNvPr>
          <p:cNvSpPr txBox="1"/>
          <p:nvPr/>
        </p:nvSpPr>
        <p:spPr>
          <a:xfrm>
            <a:off x="6942662" y="5724928"/>
            <a:ext cx="271357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16" name="Picture 15" descr="A picture containing cake, birthday, indoor, decorated&#10;&#10;Description automatically generated">
            <a:extLst>
              <a:ext uri="{FF2B5EF4-FFF2-40B4-BE49-F238E27FC236}">
                <a16:creationId xmlns:a16="http://schemas.microsoft.com/office/drawing/2014/main" id="{9111D229-5E62-F533-47EE-6E21E5428FC8}"/>
              </a:ext>
            </a:extLst>
          </p:cNvPr>
          <p:cNvPicPr>
            <a:picLocks noChangeAspect="1"/>
          </p:cNvPicPr>
          <p:nvPr/>
        </p:nvPicPr>
        <p:blipFill>
          <a:blip r:embed="rId4"/>
          <a:stretch>
            <a:fillRect/>
          </a:stretch>
        </p:blipFill>
        <p:spPr>
          <a:xfrm>
            <a:off x="7322787" y="953552"/>
            <a:ext cx="2939140" cy="4159255"/>
          </a:xfrm>
          <a:prstGeom prst="rect">
            <a:avLst/>
          </a:prstGeom>
        </p:spPr>
      </p:pic>
    </p:spTree>
    <p:extLst>
      <p:ext uri="{BB962C8B-B14F-4D97-AF65-F5344CB8AC3E}">
        <p14:creationId xmlns:p14="http://schemas.microsoft.com/office/powerpoint/2010/main" val="434006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4" y="254546"/>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River-Floodplain System</a:t>
            </a:r>
          </a:p>
        </p:txBody>
      </p:sp>
      <p:sp>
        <p:nvSpPr>
          <p:cNvPr id="7" name="Content Placeholder 4"/>
          <p:cNvSpPr>
            <a:spLocks noGrp="1"/>
          </p:cNvSpPr>
          <p:nvPr>
            <p:ph idx="1"/>
          </p:nvPr>
        </p:nvSpPr>
        <p:spPr>
          <a:xfrm>
            <a:off x="406400" y="1225550"/>
            <a:ext cx="11176000" cy="4718049"/>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sz="2000" b="0" dirty="0">
                <a:solidFill>
                  <a:schemeClr val="tx1"/>
                </a:solidFill>
                <a:latin typeface="+mn-lt"/>
              </a:rPr>
              <a:t>Unstratified river channels are often modeled as 1D water bodies, varying from upstream to downstream</a:t>
            </a:r>
          </a:p>
          <a:p>
            <a:pPr marL="228600" indent="-228600">
              <a:buClr>
                <a:schemeClr val="tx1"/>
              </a:buClr>
              <a:buFont typeface="Arial" panose="020B0604020202020204" pitchFamily="34" charset="0"/>
              <a:buChar char="•"/>
            </a:pPr>
            <a:r>
              <a:rPr lang="en-US" sz="2000" b="0" dirty="0">
                <a:solidFill>
                  <a:schemeClr val="tx1"/>
                </a:solidFill>
                <a:latin typeface="+mn-lt"/>
              </a:rPr>
              <a:t>Hydrologic connectivity across the floodplain is important</a:t>
            </a:r>
          </a:p>
          <a:p>
            <a:pPr marL="228600" indent="-228600">
              <a:buClr>
                <a:schemeClr val="tx1"/>
              </a:buClr>
              <a:buFont typeface="Arial" panose="020B0604020202020204" pitchFamily="34" charset="0"/>
              <a:buChar char="•"/>
            </a:pPr>
            <a:r>
              <a:rPr lang="en-US" sz="2000" b="0" dirty="0">
                <a:solidFill>
                  <a:schemeClr val="tx1"/>
                </a:solidFill>
                <a:latin typeface="+mn-lt"/>
              </a:rPr>
              <a:t>Floodplains need to be modeled as 2D water bodies, varying in all directions across the landscape</a:t>
            </a:r>
          </a:p>
        </p:txBody>
      </p:sp>
      <p:grpSp>
        <p:nvGrpSpPr>
          <p:cNvPr id="14" name="Group 13">
            <a:extLst>
              <a:ext uri="{FF2B5EF4-FFF2-40B4-BE49-F238E27FC236}">
                <a16:creationId xmlns:a16="http://schemas.microsoft.com/office/drawing/2014/main" id="{3F23E15E-9672-C69D-F6C0-3A05F97E2089}"/>
              </a:ext>
            </a:extLst>
          </p:cNvPr>
          <p:cNvGrpSpPr/>
          <p:nvPr/>
        </p:nvGrpSpPr>
        <p:grpSpPr>
          <a:xfrm>
            <a:off x="793750" y="3469899"/>
            <a:ext cx="6769100" cy="2051043"/>
            <a:chOff x="2711450" y="3857179"/>
            <a:chExt cx="6769100" cy="2051043"/>
          </a:xfrm>
        </p:grpSpPr>
        <p:pic>
          <p:nvPicPr>
            <p:cNvPr id="11" name="Picture 10">
              <a:extLst>
                <a:ext uri="{FF2B5EF4-FFF2-40B4-BE49-F238E27FC236}">
                  <a16:creationId xmlns:a16="http://schemas.microsoft.com/office/drawing/2014/main" id="{2DA3E87B-9218-ED0B-36A2-91E4D319551A}"/>
                </a:ext>
              </a:extLst>
            </p:cNvPr>
            <p:cNvPicPr>
              <a:picLocks noChangeAspect="1"/>
            </p:cNvPicPr>
            <p:nvPr/>
          </p:nvPicPr>
          <p:blipFill>
            <a:blip r:embed="rId3"/>
            <a:stretch>
              <a:fillRect/>
            </a:stretch>
          </p:blipFill>
          <p:spPr>
            <a:xfrm>
              <a:off x="2711450" y="4142922"/>
              <a:ext cx="6769100" cy="1765300"/>
            </a:xfrm>
            <a:prstGeom prst="rect">
              <a:avLst/>
            </a:prstGeom>
          </p:spPr>
        </p:pic>
        <p:sp>
          <p:nvSpPr>
            <p:cNvPr id="12" name="TextBox 11">
              <a:extLst>
                <a:ext uri="{FF2B5EF4-FFF2-40B4-BE49-F238E27FC236}">
                  <a16:creationId xmlns:a16="http://schemas.microsoft.com/office/drawing/2014/main" id="{F314E620-6F33-ABD9-114F-A6C20A4E1AFA}"/>
                </a:ext>
              </a:extLst>
            </p:cNvPr>
            <p:cNvSpPr txBox="1"/>
            <p:nvPr/>
          </p:nvSpPr>
          <p:spPr>
            <a:xfrm>
              <a:off x="4087581" y="5548087"/>
              <a:ext cx="2284190"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1D River (Channel)</a:t>
              </a:r>
            </a:p>
          </p:txBody>
        </p:sp>
        <p:sp>
          <p:nvSpPr>
            <p:cNvPr id="13" name="TextBox 12">
              <a:extLst>
                <a:ext uri="{FF2B5EF4-FFF2-40B4-BE49-F238E27FC236}">
                  <a16:creationId xmlns:a16="http://schemas.microsoft.com/office/drawing/2014/main" id="{3207F01A-6EDC-BA75-799B-FC6F0FEDB1B1}"/>
                </a:ext>
              </a:extLst>
            </p:cNvPr>
            <p:cNvSpPr txBox="1"/>
            <p:nvPr/>
          </p:nvSpPr>
          <p:spPr>
            <a:xfrm>
              <a:off x="3978725" y="3857179"/>
              <a:ext cx="3626762"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2D River (Floodplain, Wetlands)</a:t>
              </a:r>
            </a:p>
          </p:txBody>
        </p:sp>
      </p:grpSp>
      <p:sp>
        <p:nvSpPr>
          <p:cNvPr id="3" name="TextBox 2">
            <a:extLst>
              <a:ext uri="{FF2B5EF4-FFF2-40B4-BE49-F238E27FC236}">
                <a16:creationId xmlns:a16="http://schemas.microsoft.com/office/drawing/2014/main" id="{301DE596-1994-25D1-0111-41521F902667}"/>
              </a:ext>
            </a:extLst>
          </p:cNvPr>
          <p:cNvSpPr txBox="1"/>
          <p:nvPr/>
        </p:nvSpPr>
        <p:spPr>
          <a:xfrm>
            <a:off x="4753466" y="5867953"/>
            <a:ext cx="2720484"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5" name="Picture 4" descr="A picture containing map&#10;&#10;Description automatically generated">
            <a:extLst>
              <a:ext uri="{FF2B5EF4-FFF2-40B4-BE49-F238E27FC236}">
                <a16:creationId xmlns:a16="http://schemas.microsoft.com/office/drawing/2014/main" id="{2C88BB71-E8D0-C841-644E-7A6074736277}"/>
              </a:ext>
            </a:extLst>
          </p:cNvPr>
          <p:cNvPicPr>
            <a:picLocks noChangeAspect="1"/>
          </p:cNvPicPr>
          <p:nvPr/>
        </p:nvPicPr>
        <p:blipFill>
          <a:blip r:embed="rId4"/>
          <a:stretch>
            <a:fillRect/>
          </a:stretch>
        </p:blipFill>
        <p:spPr>
          <a:xfrm>
            <a:off x="7010573" y="2398054"/>
            <a:ext cx="4910344" cy="3469899"/>
          </a:xfrm>
          <a:prstGeom prst="rect">
            <a:avLst/>
          </a:prstGeom>
        </p:spPr>
      </p:pic>
    </p:spTree>
    <p:extLst>
      <p:ext uri="{BB962C8B-B14F-4D97-AF65-F5344CB8AC3E}">
        <p14:creationId xmlns:p14="http://schemas.microsoft.com/office/powerpoint/2010/main" val="308018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2" y="234860"/>
            <a:ext cx="11755437" cy="486566"/>
          </a:xfrm>
        </p:spPr>
        <p:txBody>
          <a:bodyPr/>
          <a:lstStyle/>
          <a:p>
            <a:pPr algn="ctr"/>
            <a:r>
              <a:rPr lang="en-US" sz="2800" dirty="0">
                <a:solidFill>
                  <a:schemeClr val="tx1"/>
                </a:solidFill>
                <a:latin typeface="+mj-lt"/>
                <a:cs typeface="Times New Roman" panose="02020603050405020304" pitchFamily="18" charset="0"/>
              </a:rPr>
              <a:t>Introduction to CE-QUAL-W2</a:t>
            </a:r>
          </a:p>
        </p:txBody>
      </p:sp>
      <p:sp>
        <p:nvSpPr>
          <p:cNvPr id="3" name="Content Placeholder 2"/>
          <p:cNvSpPr>
            <a:spLocks noGrp="1"/>
          </p:cNvSpPr>
          <p:nvPr>
            <p:ph idx="1"/>
          </p:nvPr>
        </p:nvSpPr>
        <p:spPr>
          <a:xfrm>
            <a:off x="406401" y="804634"/>
            <a:ext cx="8476342" cy="5078313"/>
          </a:xfrm>
        </p:spPr>
        <p:txBody>
          <a:bodyPr>
            <a:spAutoFit/>
          </a:bodyPr>
          <a:lstStyle/>
          <a:p>
            <a:pPr marL="228600" indent="-228600">
              <a:buClr>
                <a:schemeClr val="tx1"/>
              </a:buClr>
              <a:buFont typeface="Arial" panose="020B0604020202020204" pitchFamily="34" charset="0"/>
              <a:buChar char="•"/>
            </a:pPr>
            <a:r>
              <a:rPr lang="en-US" sz="1600" b="0" dirty="0">
                <a:solidFill>
                  <a:schemeClr val="tx1"/>
                </a:solidFill>
              </a:rPr>
              <a:t>CE‐QUAL‐W2 is a two‐dimensional (2D), longitudinal/vertical, hydrodynamics and water quality model. It enables characterization of the vertical and longitudinal changes in a reservoir. The model assumes the reservoir is “well mixed” laterally, with no variation from one side of the channel to the other within each layer (vertical) and segment (longitudinal).</a:t>
            </a:r>
          </a:p>
          <a:p>
            <a:pPr marL="228600" indent="-228600">
              <a:buClr>
                <a:schemeClr val="tx1"/>
              </a:buClr>
              <a:buFont typeface="Arial" panose="020B0604020202020204" pitchFamily="34" charset="0"/>
              <a:buChar char="•"/>
            </a:pPr>
            <a:r>
              <a:rPr lang="en-US" sz="1600" b="0" dirty="0">
                <a:solidFill>
                  <a:schemeClr val="tx1"/>
                </a:solidFill>
              </a:rPr>
              <a:t>CE-QUAL-W2 has been applied to rivers, lakes, reservoirs, estuaries, and combinations thereof.</a:t>
            </a:r>
          </a:p>
          <a:p>
            <a:pPr marL="228600" indent="-228600">
              <a:buClr>
                <a:schemeClr val="tx1"/>
              </a:buClr>
              <a:buFont typeface="Arial" panose="020B0604020202020204" pitchFamily="34" charset="0"/>
              <a:buChar char="•"/>
            </a:pPr>
            <a:r>
              <a:rPr lang="en-US" sz="1600" b="0" dirty="0">
                <a:solidFill>
                  <a:schemeClr val="tx1"/>
                </a:solidFill>
              </a:rPr>
              <a:t>CE-QUAL-W2 incorporates the following water quality capabilities:</a:t>
            </a:r>
          </a:p>
          <a:p>
            <a:pPr marL="800100" lvl="1" indent="-228600">
              <a:buClr>
                <a:schemeClr val="tx1"/>
              </a:buClr>
            </a:pPr>
            <a:r>
              <a:rPr lang="en-US" sz="1600" b="0" dirty="0">
                <a:solidFill>
                  <a:schemeClr val="tx1"/>
                </a:solidFill>
              </a:rPr>
              <a:t>Longitudinal-vertical hydrodynamics and water quality in stratified and non-stratified systems</a:t>
            </a:r>
          </a:p>
          <a:p>
            <a:pPr marL="800100" lvl="1" indent="-228600">
              <a:buClr>
                <a:schemeClr val="tx1"/>
              </a:buClr>
            </a:pPr>
            <a:r>
              <a:rPr lang="en-US" sz="1600" b="0" dirty="0">
                <a:solidFill>
                  <a:schemeClr val="tx1"/>
                </a:solidFill>
              </a:rPr>
              <a:t>Nutrients-dissolved oxygen-organic matter interactions</a:t>
            </a:r>
          </a:p>
          <a:p>
            <a:pPr marL="800100" lvl="1" indent="-228600">
              <a:buClr>
                <a:schemeClr val="tx1"/>
              </a:buClr>
            </a:pPr>
            <a:r>
              <a:rPr lang="en-US" sz="1600" b="0" dirty="0">
                <a:solidFill>
                  <a:schemeClr val="tx1"/>
                </a:solidFill>
              </a:rPr>
              <a:t>Fish habitat</a:t>
            </a:r>
          </a:p>
          <a:p>
            <a:pPr marL="800100" lvl="1" indent="-228600">
              <a:buClr>
                <a:schemeClr val="tx1"/>
              </a:buClr>
            </a:pPr>
            <a:r>
              <a:rPr lang="en-US" sz="1600" b="0" dirty="0">
                <a:solidFill>
                  <a:schemeClr val="tx1"/>
                </a:solidFill>
              </a:rPr>
              <a:t>Selective withdrawal from stratified reservoir outlets</a:t>
            </a:r>
          </a:p>
          <a:p>
            <a:pPr marL="800100" lvl="1" indent="-228600">
              <a:buClr>
                <a:schemeClr val="tx1"/>
              </a:buClr>
            </a:pPr>
            <a:r>
              <a:rPr lang="en-US" sz="1600" b="0" dirty="0">
                <a:solidFill>
                  <a:schemeClr val="tx1"/>
                </a:solidFill>
              </a:rPr>
              <a:t>Hypolimnetic aeration</a:t>
            </a:r>
          </a:p>
          <a:p>
            <a:pPr marL="800100" lvl="1" indent="-228600">
              <a:buClr>
                <a:schemeClr val="tx1"/>
              </a:buClr>
            </a:pPr>
            <a:r>
              <a:rPr lang="en-US" sz="1600" b="0" dirty="0">
                <a:solidFill>
                  <a:schemeClr val="tx1"/>
                </a:solidFill>
              </a:rPr>
              <a:t>Multiple algae, epiphyton/periphyton, zooplankton, and macrophytes</a:t>
            </a:r>
          </a:p>
          <a:p>
            <a:pPr marL="800100" lvl="1" indent="-228600">
              <a:buClr>
                <a:schemeClr val="tx1"/>
              </a:buClr>
            </a:pPr>
            <a:r>
              <a:rPr lang="en-US" sz="1600" b="0" dirty="0">
                <a:solidFill>
                  <a:schemeClr val="tx1"/>
                </a:solidFill>
              </a:rPr>
              <a:t>CBOD</a:t>
            </a:r>
          </a:p>
          <a:p>
            <a:pPr marL="800100" lvl="1" indent="-228600">
              <a:buClr>
                <a:schemeClr val="tx1"/>
              </a:buClr>
            </a:pPr>
            <a:r>
              <a:rPr lang="en-US" sz="1600" b="0" dirty="0">
                <a:solidFill>
                  <a:schemeClr val="tx1"/>
                </a:solidFill>
              </a:rPr>
              <a:t>Sediment diagenesis model</a:t>
            </a:r>
          </a:p>
          <a:p>
            <a:pPr marL="800100" lvl="1" indent="-228600">
              <a:buClr>
                <a:schemeClr val="tx1"/>
              </a:buClr>
            </a:pPr>
            <a:r>
              <a:rPr lang="en-US" sz="1600" b="0" dirty="0">
                <a:solidFill>
                  <a:schemeClr val="tx1"/>
                </a:solidFill>
              </a:rPr>
              <a:t>Generic water quality groups</a:t>
            </a:r>
          </a:p>
          <a:p>
            <a:pPr marL="800100" lvl="1" indent="-228600">
              <a:buClr>
                <a:schemeClr val="tx1"/>
              </a:buClr>
            </a:pPr>
            <a:r>
              <a:rPr lang="en-US" sz="1600" b="0" dirty="0">
                <a:solidFill>
                  <a:schemeClr val="tx1"/>
                </a:solidFill>
              </a:rPr>
              <a:t>Internal dynamic pipe/culvert model</a:t>
            </a:r>
          </a:p>
        </p:txBody>
      </p:sp>
      <p:sp>
        <p:nvSpPr>
          <p:cNvPr id="5" name="Slide Number Placeholder 4"/>
          <p:cNvSpPr>
            <a:spLocks noGrp="1"/>
          </p:cNvSpPr>
          <p:nvPr>
            <p:ph type="sldNum" sz="quarter" idx="11"/>
          </p:nvPr>
        </p:nvSpPr>
        <p:spPr>
          <a:xfrm>
            <a:off x="11184570" y="6595360"/>
            <a:ext cx="969433" cy="365125"/>
          </a:xfrm>
          <a:prstGeom prst="rect">
            <a:avLst/>
          </a:prstGeom>
          <a:ln w="57150">
            <a:noFill/>
          </a:ln>
        </p:spPr>
        <p:txBody>
          <a:bodyPr/>
          <a:lstStyle>
            <a:defPPr>
              <a:defRPr lang="en-US"/>
            </a:defPPr>
            <a:lvl1pPr algn="l" rtl="0" fontAlgn="base">
              <a:spcBef>
                <a:spcPct val="0"/>
              </a:spcBef>
              <a:spcAft>
                <a:spcPct val="0"/>
              </a:spcAft>
              <a:defRPr lang="en-US" sz="900" kern="1200">
                <a:solidFill>
                  <a:schemeClr val="tx1">
                    <a:lumMod val="65000"/>
                    <a:lumOff val="35000"/>
                  </a:schemeClr>
                </a:solidFill>
                <a:latin typeface="+mn-lt"/>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fld id="{9A257827-C34C-4251-B995-96C9C233CCC8}" type="slidenum">
              <a:rPr lang="en-US" smtClean="0"/>
              <a:pPr/>
              <a:t>15</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13" name="Picture 12" descr="C:\Users\q0hectes\Desktop\WMIST Webinar Water Quality in HEC-ResSim and CWMS\images\RooseveltDam.jpg">
            <a:extLst>
              <a:ext uri="{FF2B5EF4-FFF2-40B4-BE49-F238E27FC236}">
                <a16:creationId xmlns:a16="http://schemas.microsoft.com/office/drawing/2014/main" id="{DE073D6A-FE5F-A06E-328E-88B356C9E777}"/>
              </a:ext>
            </a:extLst>
          </p:cNvPr>
          <p:cNvPicPr>
            <a:picLocks noChangeAspect="1" noChangeArrowheads="1"/>
          </p:cNvPicPr>
          <p:nvPr/>
        </p:nvPicPr>
        <p:blipFill>
          <a:blip r:embed="rId3" cstate="print">
            <a:extLst>
              <a:ext uri="{28A0092B-C50C-407E-A947-70E740481C1C}">
                <a14:useLocalDpi xmlns:a14="http://schemas.microsoft.com/office/drawing/2010/main"/>
              </a:ext>
            </a:extLst>
          </a:blip>
          <a:stretch>
            <a:fillRect/>
          </a:stretch>
        </p:blipFill>
        <p:spPr bwMode="auto">
          <a:xfrm>
            <a:off x="9191595" y="814784"/>
            <a:ext cx="2453438" cy="2120855"/>
          </a:xfrm>
          <a:prstGeom prst="rect">
            <a:avLst/>
          </a:prstGeom>
          <a:noFill/>
          <a:ln w="12700">
            <a:noFill/>
          </a:ln>
        </p:spPr>
      </p:pic>
      <p:pic>
        <p:nvPicPr>
          <p:cNvPr id="4" name="Picture 2" descr="CE-QUAL-W2 Model Schematic">
            <a:extLst>
              <a:ext uri="{FF2B5EF4-FFF2-40B4-BE49-F238E27FC236}">
                <a16:creationId xmlns:a16="http://schemas.microsoft.com/office/drawing/2014/main" id="{4CAF90B0-213B-67E0-DC95-6646F705919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91595" y="2969804"/>
            <a:ext cx="2463377" cy="23748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D6B1BDF4-6FF4-4D16-BE2F-8AB518EEA130}"/>
              </a:ext>
            </a:extLst>
          </p:cNvPr>
          <p:cNvGraphicFramePr>
            <a:graphicFrameLocks noGrp="1"/>
          </p:cNvGraphicFramePr>
          <p:nvPr>
            <p:extLst>
              <p:ext uri="{D42A27DB-BD31-4B8C-83A1-F6EECF244321}">
                <p14:modId xmlns:p14="http://schemas.microsoft.com/office/powerpoint/2010/main" val="4268299039"/>
              </p:ext>
            </p:extLst>
          </p:nvPr>
        </p:nvGraphicFramePr>
        <p:xfrm>
          <a:off x="9191595" y="5367035"/>
          <a:ext cx="2453438" cy="967740"/>
        </p:xfrm>
        <a:graphic>
          <a:graphicData uri="http://schemas.openxmlformats.org/drawingml/2006/table">
            <a:tbl>
              <a:tblPr/>
              <a:tblGrid>
                <a:gridCol w="2453438">
                  <a:extLst>
                    <a:ext uri="{9D8B030D-6E8A-4147-A177-3AD203B41FA5}">
                      <a16:colId xmlns:a16="http://schemas.microsoft.com/office/drawing/2014/main" val="1485503891"/>
                    </a:ext>
                  </a:extLst>
                </a:gridCol>
              </a:tblGrid>
              <a:tr h="542422">
                <a:tc>
                  <a:txBody>
                    <a:bodyPr/>
                    <a:lstStyle/>
                    <a:p>
                      <a:r>
                        <a:rPr lang="en-US" sz="1400" dirty="0">
                          <a:effectLst/>
                        </a:rPr>
                        <a:t>CE-QUAL-W2 simulated water temperature for a river reach, reservoir, and estuary.</a:t>
                      </a:r>
                    </a:p>
                  </a:txBody>
                  <a:tcPr marL="123825" marR="123825" marT="57150" marB="57150" anchor="ctr">
                    <a:lnL>
                      <a:noFill/>
                    </a:lnL>
                    <a:lnR>
                      <a:noFill/>
                    </a:lnR>
                    <a:lnT>
                      <a:noFill/>
                    </a:lnT>
                    <a:lnB>
                      <a:noFill/>
                    </a:lnB>
                  </a:tcPr>
                </a:tc>
                <a:extLst>
                  <a:ext uri="{0D108BD9-81ED-4DB2-BD59-A6C34878D82A}">
                    <a16:rowId xmlns:a16="http://schemas.microsoft.com/office/drawing/2014/main" val="2847476195"/>
                  </a:ext>
                </a:extLst>
              </a:tr>
            </a:tbl>
          </a:graphicData>
        </a:graphic>
      </p:graphicFrame>
    </p:spTree>
    <p:extLst>
      <p:ext uri="{BB962C8B-B14F-4D97-AF65-F5344CB8AC3E}">
        <p14:creationId xmlns:p14="http://schemas.microsoft.com/office/powerpoint/2010/main" val="9687974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7008"/>
            <a:ext cx="11712182" cy="461665"/>
          </a:xfrm>
        </p:spPr>
        <p:txBody>
          <a:bodyPr wrap="square">
            <a:spAutoFit/>
          </a:bodyPr>
          <a:lstStyle/>
          <a:p>
            <a:pPr algn="ctr"/>
            <a:r>
              <a:rPr lang="en-US" sz="2400" dirty="0">
                <a:solidFill>
                  <a:schemeClr val="tx1"/>
                </a:solidFill>
                <a:latin typeface="+mj-lt"/>
                <a:cs typeface="Times New Roman" panose="02020603050405020304" pitchFamily="18" charset="0"/>
              </a:rPr>
              <a:t>CE-QUAL-W2 Capabilities, Continued</a:t>
            </a:r>
          </a:p>
        </p:txBody>
      </p:sp>
      <p:sp>
        <p:nvSpPr>
          <p:cNvPr id="3" name="Content Placeholder 2"/>
          <p:cNvSpPr>
            <a:spLocks noGrp="1"/>
          </p:cNvSpPr>
          <p:nvPr>
            <p:ph idx="1"/>
          </p:nvPr>
        </p:nvSpPr>
        <p:spPr>
          <a:xfrm>
            <a:off x="379506" y="720455"/>
            <a:ext cx="11413565" cy="5218722"/>
          </a:xfrm>
        </p:spPr>
        <p:txBody>
          <a:bodyPr/>
          <a:lstStyle/>
          <a:p>
            <a:pPr marL="228600" indent="-228600">
              <a:buClr>
                <a:schemeClr val="tx1"/>
              </a:buClr>
              <a:buFont typeface="Arial" panose="020B0604020202020204" pitchFamily="34" charset="0"/>
              <a:buChar char="•"/>
            </a:pPr>
            <a:r>
              <a:rPr lang="en-US" sz="1600" b="0" dirty="0">
                <a:solidFill>
                  <a:schemeClr val="tx1"/>
                </a:solidFill>
              </a:rPr>
              <a:t>The hydraulic structures algorithms include submerged and two-way flow over submerged hydraulic structures as well as a dynamic shading algorithm based on topographic and vegetative cover.</a:t>
            </a:r>
          </a:p>
          <a:p>
            <a:pPr marL="228600" indent="-228600">
              <a:buClr>
                <a:schemeClr val="tx1"/>
              </a:buClr>
              <a:buFont typeface="Arial" panose="020B0604020202020204" pitchFamily="34" charset="0"/>
              <a:buChar char="•"/>
            </a:pPr>
            <a:r>
              <a:rPr lang="en-US" sz="1600" b="0" dirty="0">
                <a:solidFill>
                  <a:schemeClr val="tx1"/>
                </a:solidFill>
              </a:rPr>
              <a:t>Variable density as affected by temperature, salinity, Total Dissolved Solids (TDS), and Total Suspended Solids (TSS) to simulate stratified flow.</a:t>
            </a:r>
          </a:p>
          <a:p>
            <a:pPr marL="228600" indent="-228600">
              <a:buClr>
                <a:schemeClr val="tx1"/>
              </a:buClr>
              <a:buFont typeface="Arial" panose="020B0604020202020204" pitchFamily="34" charset="0"/>
              <a:buChar char="•"/>
            </a:pPr>
            <a:r>
              <a:rPr lang="en-US" sz="1600" b="0" dirty="0">
                <a:solidFill>
                  <a:schemeClr val="tx1"/>
                </a:solidFill>
              </a:rPr>
              <a:t>28 water quality constituent state variables</a:t>
            </a:r>
          </a:p>
          <a:p>
            <a:pPr marL="685800" lvl="1" indent="-228600">
              <a:buClr>
                <a:schemeClr val="tx1"/>
              </a:buClr>
            </a:pPr>
            <a:r>
              <a:rPr lang="en-US" sz="1600" b="0" dirty="0">
                <a:solidFill>
                  <a:schemeClr val="tx1"/>
                </a:solidFill>
              </a:rPr>
              <a:t>Any combination of constituents can be included or excluded from a simulation.</a:t>
            </a:r>
          </a:p>
          <a:p>
            <a:pPr marL="685800" lvl="1" indent="-228600">
              <a:buClr>
                <a:schemeClr val="tx1"/>
              </a:buClr>
            </a:pPr>
            <a:r>
              <a:rPr lang="en-US" sz="1600" b="0" dirty="0">
                <a:solidFill>
                  <a:schemeClr val="tx1"/>
                </a:solidFill>
              </a:rPr>
              <a:t>The effects of salinity or total dissolved solids/salinity on density, and thus hydrodynamics, are included only when simulated in the water quality module.</a:t>
            </a:r>
          </a:p>
          <a:p>
            <a:pPr marL="685800" lvl="1" indent="-228600">
              <a:buClr>
                <a:schemeClr val="tx1"/>
              </a:buClr>
            </a:pPr>
            <a:r>
              <a:rPr lang="en-US" sz="1600" b="0" dirty="0">
                <a:solidFill>
                  <a:schemeClr val="tx1"/>
                </a:solidFill>
              </a:rPr>
              <a:t>The water quality algorithm is modular, allowing constituents to be easily added as additional subroutines.</a:t>
            </a:r>
          </a:p>
          <a:p>
            <a:pPr>
              <a:buClr>
                <a:schemeClr val="tx1"/>
              </a:buClr>
            </a:pPr>
            <a:endParaRPr lang="en-US" sz="1600" b="0" dirty="0">
              <a:solidFill>
                <a:schemeClr val="tx1"/>
              </a:solidFill>
            </a:endParaRPr>
          </a:p>
          <a:p>
            <a:pPr marL="914400" lvl="1" indent="-342900">
              <a:buClr>
                <a:schemeClr val="tx1"/>
              </a:buClr>
            </a:pPr>
            <a:endParaRPr lang="en-US" sz="1600" b="0" dirty="0">
              <a:solidFill>
                <a:schemeClr val="tx1"/>
              </a:solidFill>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16</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4" name="Picture 3" descr="A picture containing mountain, nature, outdoor, track&#10;&#10;Description automatically generated">
            <a:extLst>
              <a:ext uri="{FF2B5EF4-FFF2-40B4-BE49-F238E27FC236}">
                <a16:creationId xmlns:a16="http://schemas.microsoft.com/office/drawing/2014/main" id="{97EA120D-F5FC-EBCE-E8B1-58ACF4D480B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251830" y="3428033"/>
            <a:ext cx="3803110" cy="2472023"/>
          </a:xfrm>
          <a:prstGeom prst="rect">
            <a:avLst/>
          </a:prstGeom>
        </p:spPr>
      </p:pic>
      <p:sp>
        <p:nvSpPr>
          <p:cNvPr id="7" name="TextBox 6">
            <a:extLst>
              <a:ext uri="{FF2B5EF4-FFF2-40B4-BE49-F238E27FC236}">
                <a16:creationId xmlns:a16="http://schemas.microsoft.com/office/drawing/2014/main" id="{CF67ABA7-B036-9EB8-5C22-C579420F3E5B}"/>
              </a:ext>
            </a:extLst>
          </p:cNvPr>
          <p:cNvSpPr txBox="1"/>
          <p:nvPr/>
        </p:nvSpPr>
        <p:spPr>
          <a:xfrm>
            <a:off x="8148827" y="5914234"/>
            <a:ext cx="3543231" cy="338554"/>
          </a:xfrm>
          <a:prstGeom prst="rect">
            <a:avLst/>
          </a:prstGeom>
          <a:noFill/>
        </p:spPr>
        <p:txBody>
          <a:bodyPr wrap="square" rtlCol="0">
            <a:spAutoFit/>
          </a:bodyPr>
          <a:lstStyle/>
          <a:p>
            <a:pPr algn="ctr"/>
            <a:r>
              <a:rPr lang="en-US" sz="1600" dirty="0"/>
              <a:t>Dworshak Dam, Idaho</a:t>
            </a:r>
          </a:p>
        </p:txBody>
      </p:sp>
      <p:pic>
        <p:nvPicPr>
          <p:cNvPr id="9" name="Picture 8" descr="A picture containing mountain, outdoor, nature&#10;&#10;Description automatically generated">
            <a:extLst>
              <a:ext uri="{FF2B5EF4-FFF2-40B4-BE49-F238E27FC236}">
                <a16:creationId xmlns:a16="http://schemas.microsoft.com/office/drawing/2014/main" id="{CFD0455F-18E7-61B0-90B5-FBEDE05A7909}"/>
              </a:ext>
            </a:extLst>
          </p:cNvPr>
          <p:cNvPicPr>
            <a:picLocks noChangeAspect="1"/>
          </p:cNvPicPr>
          <p:nvPr/>
        </p:nvPicPr>
        <p:blipFill>
          <a:blip r:embed="rId4"/>
          <a:stretch>
            <a:fillRect/>
          </a:stretch>
        </p:blipFill>
        <p:spPr>
          <a:xfrm>
            <a:off x="8148827" y="3424481"/>
            <a:ext cx="3543231" cy="2472023"/>
          </a:xfrm>
          <a:prstGeom prst="rect">
            <a:avLst/>
          </a:prstGeom>
        </p:spPr>
      </p:pic>
      <p:sp>
        <p:nvSpPr>
          <p:cNvPr id="10" name="TextBox 9">
            <a:extLst>
              <a:ext uri="{FF2B5EF4-FFF2-40B4-BE49-F238E27FC236}">
                <a16:creationId xmlns:a16="http://schemas.microsoft.com/office/drawing/2014/main" id="{BF039B6B-0725-DBF7-17A9-C13D49D3A223}"/>
              </a:ext>
            </a:extLst>
          </p:cNvPr>
          <p:cNvSpPr txBox="1"/>
          <p:nvPr/>
        </p:nvSpPr>
        <p:spPr>
          <a:xfrm>
            <a:off x="4251829" y="5903960"/>
            <a:ext cx="3803109" cy="338554"/>
          </a:xfrm>
          <a:prstGeom prst="rect">
            <a:avLst/>
          </a:prstGeom>
          <a:noFill/>
        </p:spPr>
        <p:txBody>
          <a:bodyPr wrap="square" rtlCol="0">
            <a:spAutoFit/>
          </a:bodyPr>
          <a:lstStyle/>
          <a:p>
            <a:pPr algn="ctr"/>
            <a:r>
              <a:rPr lang="en-US" sz="1600" dirty="0"/>
              <a:t>Detroit Dam, Oregon</a:t>
            </a:r>
          </a:p>
        </p:txBody>
      </p:sp>
      <p:pic>
        <p:nvPicPr>
          <p:cNvPr id="11" name="Picture 2" descr="Keswick Dam on the Sacramento River. Photo Credit: John Hannon">
            <a:extLst>
              <a:ext uri="{FF2B5EF4-FFF2-40B4-BE49-F238E27FC236}">
                <a16:creationId xmlns:a16="http://schemas.microsoft.com/office/drawing/2014/main" id="{575B8B20-D60F-E87D-BB99-EB88725201A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1030" y="3424481"/>
            <a:ext cx="3730280" cy="248685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6010C509-D28B-6FA5-E2AA-79A186E1AC7F}"/>
              </a:ext>
            </a:extLst>
          </p:cNvPr>
          <p:cNvSpPr txBox="1"/>
          <p:nvPr/>
        </p:nvSpPr>
        <p:spPr>
          <a:xfrm>
            <a:off x="441031" y="5927849"/>
            <a:ext cx="3730280" cy="338554"/>
          </a:xfrm>
          <a:prstGeom prst="rect">
            <a:avLst/>
          </a:prstGeom>
          <a:noFill/>
        </p:spPr>
        <p:txBody>
          <a:bodyPr wrap="square" rtlCol="0">
            <a:spAutoFit/>
          </a:bodyPr>
          <a:lstStyle/>
          <a:p>
            <a:pPr algn="ctr"/>
            <a:r>
              <a:rPr lang="en-US" sz="1600" dirty="0"/>
              <a:t>Keswick Dam, Sacramento River</a:t>
            </a:r>
          </a:p>
        </p:txBody>
      </p:sp>
    </p:spTree>
    <p:extLst>
      <p:ext uri="{BB962C8B-B14F-4D97-AF65-F5344CB8AC3E}">
        <p14:creationId xmlns:p14="http://schemas.microsoft.com/office/powerpoint/2010/main" val="1238453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2" y="234860"/>
            <a:ext cx="11780837" cy="573422"/>
          </a:xfrm>
        </p:spPr>
        <p:txBody>
          <a:bodyPr/>
          <a:lstStyle/>
          <a:p>
            <a:pPr algn="ctr"/>
            <a:r>
              <a:rPr lang="en-US" sz="2800" dirty="0">
                <a:solidFill>
                  <a:schemeClr val="tx1"/>
                </a:solidFill>
                <a:latin typeface="+mj-lt"/>
                <a:cs typeface="Times New Roman" panose="02020603050405020304" pitchFamily="18" charset="0"/>
              </a:rPr>
              <a:t>Ideal CE-QUAL-W2 Applications</a:t>
            </a:r>
          </a:p>
        </p:txBody>
      </p:sp>
      <p:sp>
        <p:nvSpPr>
          <p:cNvPr id="3" name="Content Placeholder 2"/>
          <p:cNvSpPr>
            <a:spLocks noGrp="1"/>
          </p:cNvSpPr>
          <p:nvPr>
            <p:ph idx="1"/>
          </p:nvPr>
        </p:nvSpPr>
        <p:spPr>
          <a:xfrm>
            <a:off x="406401" y="901795"/>
            <a:ext cx="7681686" cy="5220664"/>
          </a:xfrm>
        </p:spPr>
        <p:txBody>
          <a:bodyPr/>
          <a:lstStyle/>
          <a:p>
            <a:pPr marL="228600" indent="-228600">
              <a:buClr>
                <a:schemeClr val="tx1"/>
              </a:buClr>
              <a:buFont typeface="Arial" panose="020B0604020202020204" pitchFamily="34" charset="0"/>
              <a:buChar char="•"/>
            </a:pPr>
            <a:r>
              <a:rPr lang="en-US" b="0" dirty="0">
                <a:solidFill>
                  <a:schemeClr val="tx1"/>
                </a:solidFill>
              </a:rPr>
              <a:t>Most reservoirs experience significant vertical thermal stratification during spring and summer. The stratification significantly affects water quality. Low dissolved oxygen concentrations often exist in the bottom portion of the water column (hypolimnion). This leads to the formation of compounds, such as hydrogen sulfide, that are harmful to aquatic life and people. The stratification also affects the hydrodynamics, including the vertical mixing of reservoirs, important for restoring dissolved oxygen to the hypolimnion. CE-QUAL-W2 simulates these important hydrodynamic and water quality processes.</a:t>
            </a:r>
          </a:p>
          <a:p>
            <a:pPr marL="228600" indent="-228600">
              <a:buClr>
                <a:schemeClr val="tx1"/>
              </a:buClr>
              <a:buFont typeface="Arial" panose="020B0604020202020204" pitchFamily="34" charset="0"/>
              <a:buChar char="•"/>
            </a:pPr>
            <a:r>
              <a:rPr lang="en-US" b="0" dirty="0">
                <a:solidFill>
                  <a:schemeClr val="tx1"/>
                </a:solidFill>
              </a:rPr>
              <a:t>Many reservoirs can experience significant longitudinal water quality variability (gradients) due to pollution inflows and other factors. CE-QUAL-W2 simulates the longitudinal as well as the vertical dynamics and water quality changes through the reservoir system. </a:t>
            </a:r>
          </a:p>
          <a:p>
            <a:pPr marL="228600" indent="-228600">
              <a:buClr>
                <a:schemeClr val="tx1"/>
              </a:buClr>
              <a:buFont typeface="Arial" panose="020B0604020202020204" pitchFamily="34" charset="0"/>
              <a:buChar char="•"/>
            </a:pPr>
            <a:r>
              <a:rPr lang="en-US" b="0" dirty="0">
                <a:solidFill>
                  <a:schemeClr val="tx1"/>
                </a:solidFill>
              </a:rPr>
              <a:t>CE-QUAL-W2 assumes lateral homogeneity. Therefore, it is best suited for relatively long and narrow waterbodies that exhibit longitudinal and vertical water quality gradients.</a:t>
            </a:r>
          </a:p>
          <a:p>
            <a:pPr>
              <a:buClr>
                <a:schemeClr val="tx1"/>
              </a:buClr>
            </a:pPr>
            <a:endParaRPr lang="en-US" b="0" dirty="0">
              <a:solidFill>
                <a:schemeClr val="tx1"/>
              </a:solidFill>
              <a:latin typeface="+mn-lt"/>
            </a:endParaRPr>
          </a:p>
        </p:txBody>
      </p:sp>
      <p:sp>
        <p:nvSpPr>
          <p:cNvPr id="5" name="Slide Number Placeholder 4"/>
          <p:cNvSpPr>
            <a:spLocks noGrp="1"/>
          </p:cNvSpPr>
          <p:nvPr>
            <p:ph type="sldNum" sz="quarter" idx="11"/>
          </p:nvPr>
        </p:nvSpPr>
        <p:spPr>
          <a:xfrm>
            <a:off x="11184570" y="6595360"/>
            <a:ext cx="969433" cy="365125"/>
          </a:xfrm>
          <a:prstGeom prst="rect">
            <a:avLst/>
          </a:prstGeom>
          <a:ln w="57150">
            <a:noFill/>
          </a:ln>
        </p:spPr>
        <p:txBody>
          <a:bodyPr/>
          <a:lstStyle>
            <a:defPPr>
              <a:defRPr lang="en-US"/>
            </a:defPPr>
            <a:lvl1pPr algn="l" rtl="0" fontAlgn="base">
              <a:spcBef>
                <a:spcPct val="0"/>
              </a:spcBef>
              <a:spcAft>
                <a:spcPct val="0"/>
              </a:spcAft>
              <a:defRPr lang="en-US" sz="900" kern="1200">
                <a:solidFill>
                  <a:schemeClr val="tx1">
                    <a:lumMod val="65000"/>
                    <a:lumOff val="35000"/>
                  </a:schemeClr>
                </a:solidFill>
                <a:latin typeface="+mn-lt"/>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fld id="{9A257827-C34C-4251-B995-96C9C233CCC8}" type="slidenum">
              <a:rPr lang="en-US" smtClean="0"/>
              <a:pPr/>
              <a:t>17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4" name="Picture 3" descr="w2_ver3">
            <a:extLst>
              <a:ext uri="{FF2B5EF4-FFF2-40B4-BE49-F238E27FC236}">
                <a16:creationId xmlns:a16="http://schemas.microsoft.com/office/drawing/2014/main" id="{AFC243A2-599E-2145-C345-0B9896FF3CE7}"/>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bwMode="auto">
          <a:xfrm>
            <a:off x="8501743" y="841483"/>
            <a:ext cx="3229742" cy="2625226"/>
          </a:xfrm>
          <a:prstGeom prst="rect">
            <a:avLst/>
          </a:prstGeom>
          <a:noFill/>
          <a:ln w="9525">
            <a:solidFill>
              <a:schemeClr val="tx1"/>
            </a:solidFill>
            <a:miter lim="800000"/>
            <a:headEnd/>
            <a:tailEnd/>
          </a:ln>
        </p:spPr>
      </p:pic>
      <p:pic>
        <p:nvPicPr>
          <p:cNvPr id="6" name="Picture 5">
            <a:hlinkClick r:id="rId4" action="ppaction://program"/>
            <a:extLst>
              <a:ext uri="{FF2B5EF4-FFF2-40B4-BE49-F238E27FC236}">
                <a16:creationId xmlns:a16="http://schemas.microsoft.com/office/drawing/2014/main" id="{F102FCA7-297F-CD1B-4EF7-8CAD0359C3A4}"/>
              </a:ext>
            </a:extLst>
          </p:cNvPr>
          <p:cNvPicPr>
            <a:picLocks noChangeAspect="1"/>
          </p:cNvPicPr>
          <p:nvPr/>
        </p:nvPicPr>
        <p:blipFill>
          <a:blip r:embed="rId5" cstate="print"/>
          <a:srcRect/>
          <a:stretch>
            <a:fillRect/>
          </a:stretch>
        </p:blipFill>
        <p:spPr bwMode="auto">
          <a:xfrm>
            <a:off x="8501743" y="3558093"/>
            <a:ext cx="3229742" cy="2625224"/>
          </a:xfrm>
          <a:prstGeom prst="rect">
            <a:avLst/>
          </a:prstGeom>
          <a:noFill/>
          <a:ln w="9525">
            <a:solidFill>
              <a:schemeClr val="tx1"/>
            </a:solidFill>
            <a:miter lim="800000"/>
            <a:headEnd/>
            <a:tailEnd/>
          </a:ln>
        </p:spPr>
      </p:pic>
    </p:spTree>
    <p:extLst>
      <p:ext uri="{BB962C8B-B14F-4D97-AF65-F5344CB8AC3E}">
        <p14:creationId xmlns:p14="http://schemas.microsoft.com/office/powerpoint/2010/main" val="23076279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5262" y="199235"/>
            <a:ext cx="11755437" cy="573652"/>
          </a:xfrm>
        </p:spPr>
        <p:txBody>
          <a:bodyPr/>
          <a:lstStyle/>
          <a:p>
            <a:pPr algn="ctr"/>
            <a:r>
              <a:rPr lang="en-US" sz="2800" dirty="0">
                <a:solidFill>
                  <a:schemeClr val="tx1"/>
                </a:solidFill>
                <a:latin typeface="+mj-lt"/>
                <a:cs typeface="Times New Roman" panose="02020603050405020304" pitchFamily="18" charset="0"/>
              </a:rPr>
              <a:t>Past and Current Applications of CE-QUAL-W2</a:t>
            </a:r>
          </a:p>
        </p:txBody>
      </p:sp>
      <p:sp>
        <p:nvSpPr>
          <p:cNvPr id="3" name="Content Placeholder 2"/>
          <p:cNvSpPr>
            <a:spLocks noGrp="1"/>
          </p:cNvSpPr>
          <p:nvPr>
            <p:ph idx="1"/>
          </p:nvPr>
        </p:nvSpPr>
        <p:spPr>
          <a:xfrm>
            <a:off x="406399" y="825719"/>
            <a:ext cx="7812315" cy="5338999"/>
          </a:xfrm>
        </p:spPr>
        <p:txBody>
          <a:bodyPr/>
          <a:lstStyle/>
          <a:p>
            <a:pPr marL="228600" indent="-228600">
              <a:spcBef>
                <a:spcPts val="0"/>
              </a:spcBef>
              <a:buClr>
                <a:schemeClr val="tx1"/>
              </a:buClr>
              <a:buFont typeface="Arial" panose="020B0604020202020204" pitchFamily="34" charset="0"/>
              <a:buChar char="•"/>
            </a:pPr>
            <a:r>
              <a:rPr lang="en-US" sz="1600" b="0" dirty="0">
                <a:solidFill>
                  <a:schemeClr val="tx1"/>
                </a:solidFill>
                <a:latin typeface="+mn-lt"/>
              </a:rPr>
              <a:t>CE-QUAL-W2 is widely used by USACE and other federal, state, and local agencies for environmental impact assessments, planning studies, etc. Agencies that use CE-QUAL-W2 as their standard reservoir water quality model include:</a:t>
            </a:r>
          </a:p>
          <a:p>
            <a:pPr marL="800100" lvl="1" indent="-228600">
              <a:spcBef>
                <a:spcPts val="0"/>
              </a:spcBef>
              <a:buClr>
                <a:schemeClr val="tx1"/>
              </a:buClr>
            </a:pPr>
            <a:r>
              <a:rPr lang="en-US" sz="1600" b="0" dirty="0">
                <a:solidFill>
                  <a:schemeClr val="tx1"/>
                </a:solidFill>
                <a:latin typeface="+mn-lt"/>
              </a:rPr>
              <a:t>U.S. Geological Survey (USGS)</a:t>
            </a:r>
          </a:p>
          <a:p>
            <a:pPr marL="800100" lvl="1" indent="-228600">
              <a:spcBef>
                <a:spcPts val="0"/>
              </a:spcBef>
              <a:buClr>
                <a:schemeClr val="tx1"/>
              </a:buClr>
            </a:pPr>
            <a:r>
              <a:rPr lang="en-US" sz="1600" b="0" dirty="0">
                <a:solidFill>
                  <a:schemeClr val="tx1"/>
                </a:solidFill>
                <a:latin typeface="+mn-lt"/>
              </a:rPr>
              <a:t>U.S. Bureau of Reclamation</a:t>
            </a:r>
          </a:p>
          <a:p>
            <a:pPr marL="800100" lvl="1" indent="-228600">
              <a:spcBef>
                <a:spcPts val="0"/>
              </a:spcBef>
              <a:buClr>
                <a:schemeClr val="tx1"/>
              </a:buClr>
            </a:pPr>
            <a:r>
              <a:rPr lang="en-US" sz="1600" b="0" dirty="0">
                <a:solidFill>
                  <a:schemeClr val="tx1"/>
                </a:solidFill>
                <a:latin typeface="+mn-lt"/>
              </a:rPr>
              <a:t>U.S. Environmental Protection Agency (EPA)</a:t>
            </a:r>
          </a:p>
          <a:p>
            <a:pPr marL="800100" lvl="1" indent="-228600">
              <a:spcBef>
                <a:spcPts val="0"/>
              </a:spcBef>
              <a:buClr>
                <a:schemeClr val="tx1"/>
              </a:buClr>
            </a:pPr>
            <a:r>
              <a:rPr lang="en-US" sz="1600" b="0" dirty="0">
                <a:solidFill>
                  <a:schemeClr val="tx1"/>
                </a:solidFill>
                <a:latin typeface="+mn-lt"/>
              </a:rPr>
              <a:t>State of California</a:t>
            </a:r>
          </a:p>
          <a:p>
            <a:pPr marL="228600" indent="-228600">
              <a:spcBef>
                <a:spcPts val="0"/>
              </a:spcBef>
              <a:buClr>
                <a:schemeClr val="tx1"/>
              </a:buClr>
              <a:buFont typeface="Arial" panose="020B0604020202020204" pitchFamily="34" charset="0"/>
              <a:buChar char="•"/>
            </a:pPr>
            <a:r>
              <a:rPr lang="en-US" sz="1600" b="0" dirty="0">
                <a:solidFill>
                  <a:schemeClr val="tx1"/>
                </a:solidFill>
                <a:latin typeface="+mn-lt"/>
              </a:rPr>
              <a:t>More than 1,100 model applications have been developed worldwide for reservoirs, rivers, estuaries, and other water bodies since CE-QUAL-W2 was released in 1986.</a:t>
            </a:r>
          </a:p>
          <a:p>
            <a:pPr marL="228600" indent="-228600">
              <a:spcBef>
                <a:spcPts val="0"/>
              </a:spcBef>
              <a:buClr>
                <a:schemeClr val="tx1"/>
              </a:buClr>
              <a:buFont typeface="Arial" panose="020B0604020202020204" pitchFamily="34" charset="0"/>
              <a:buChar char="•"/>
            </a:pPr>
            <a:r>
              <a:rPr lang="en-US" sz="1600" b="0" dirty="0">
                <a:solidFill>
                  <a:schemeClr val="tx1"/>
                </a:solidFill>
                <a:latin typeface="+mn-lt"/>
              </a:rPr>
              <a:t>CE-QUAL-W2 is also used as a research tool by researchers at universities and other organizations.</a:t>
            </a:r>
          </a:p>
          <a:p>
            <a:pPr marL="228600" indent="-228600">
              <a:spcBef>
                <a:spcPts val="0"/>
              </a:spcBef>
              <a:buClr>
                <a:schemeClr val="tx1"/>
              </a:buClr>
              <a:buFont typeface="Arial" panose="020B0604020202020204" pitchFamily="34" charset="0"/>
              <a:buChar char="•"/>
            </a:pPr>
            <a:r>
              <a:rPr lang="en-US" sz="1600" b="0" dirty="0">
                <a:solidFill>
                  <a:schemeClr val="tx1"/>
                </a:solidFill>
                <a:latin typeface="+mn-lt"/>
              </a:rPr>
              <a:t>At least 1,500 publications utilized or cited CE-QUAL-W2 in the year 2022 alone.</a:t>
            </a:r>
          </a:p>
          <a:p>
            <a:pPr marL="114300" indent="-228600">
              <a:spcBef>
                <a:spcPts val="0"/>
              </a:spcBef>
              <a:buClr>
                <a:schemeClr val="tx1"/>
              </a:buClr>
            </a:pPr>
            <a:r>
              <a:rPr lang="en-US" sz="1600" b="0" dirty="0">
                <a:solidFill>
                  <a:schemeClr val="tx1"/>
                </a:solidFill>
              </a:rPr>
              <a:t>Recent Studies:</a:t>
            </a:r>
          </a:p>
          <a:p>
            <a:pPr marL="685800" lvl="1">
              <a:spcBef>
                <a:spcPts val="0"/>
              </a:spcBef>
              <a:buClr>
                <a:schemeClr val="tx1"/>
              </a:buClr>
            </a:pPr>
            <a:r>
              <a:rPr lang="en-US" sz="1600" b="0" dirty="0">
                <a:solidFill>
                  <a:schemeClr val="tx1"/>
                </a:solidFill>
              </a:rPr>
              <a:t>Water Temperature Modeling Platform, California Central Valley Project (USBR and State of California): This platform applies CE-QUAL-W2 for ongoing and future operations decision-making</a:t>
            </a:r>
          </a:p>
          <a:p>
            <a:pPr marL="685800" lvl="1">
              <a:spcBef>
                <a:spcPts val="0"/>
              </a:spcBef>
              <a:buClr>
                <a:schemeClr val="tx1"/>
              </a:buClr>
            </a:pPr>
            <a:r>
              <a:rPr lang="en-US" sz="1600" b="0" dirty="0">
                <a:solidFill>
                  <a:schemeClr val="tx1"/>
                </a:solidFill>
              </a:rPr>
              <a:t>USACE Northwest Division, Columbia and Snake River Watershed</a:t>
            </a:r>
          </a:p>
          <a:p>
            <a:pPr marL="974725" lvl="2">
              <a:spcBef>
                <a:spcPts val="0"/>
              </a:spcBef>
              <a:buClr>
                <a:schemeClr val="tx1"/>
              </a:buClr>
            </a:pPr>
            <a:r>
              <a:rPr lang="en-US" sz="1600" b="0" dirty="0">
                <a:solidFill>
                  <a:schemeClr val="tx1"/>
                </a:solidFill>
              </a:rPr>
              <a:t>Columbia System Reservoir Operation (CRSO) Project</a:t>
            </a:r>
          </a:p>
          <a:p>
            <a:pPr marL="974725" lvl="2">
              <a:spcBef>
                <a:spcPts val="0"/>
              </a:spcBef>
              <a:buClr>
                <a:schemeClr val="tx1"/>
              </a:buClr>
            </a:pPr>
            <a:r>
              <a:rPr lang="en-US" sz="1600" b="0" dirty="0">
                <a:solidFill>
                  <a:schemeClr val="tx1"/>
                </a:solidFill>
              </a:rPr>
              <a:t>Columbia River Treaty (CRT) Project</a:t>
            </a:r>
          </a:p>
          <a:p>
            <a:pPr marL="685800" lvl="1">
              <a:spcBef>
                <a:spcPts val="0"/>
              </a:spcBef>
              <a:buClr>
                <a:schemeClr val="tx1"/>
              </a:buClr>
            </a:pPr>
            <a:r>
              <a:rPr lang="en-US" sz="1600" b="0" dirty="0">
                <a:solidFill>
                  <a:schemeClr val="tx1"/>
                </a:solidFill>
              </a:rPr>
              <a:t>Philadelphia District, Lehigh River Water Quality Modeling</a:t>
            </a:r>
          </a:p>
        </p:txBody>
      </p:sp>
      <p:sp>
        <p:nvSpPr>
          <p:cNvPr id="5" name="Slide Number Placeholder 4"/>
          <p:cNvSpPr>
            <a:spLocks noGrp="1"/>
          </p:cNvSpPr>
          <p:nvPr>
            <p:ph type="sldNum" sz="quarter" idx="11"/>
          </p:nvPr>
        </p:nvSpPr>
        <p:spPr>
          <a:xfrm>
            <a:off x="11184570" y="6595360"/>
            <a:ext cx="969433" cy="365125"/>
          </a:xfrm>
          <a:prstGeom prst="rect">
            <a:avLst/>
          </a:prstGeom>
          <a:ln w="57150">
            <a:noFill/>
          </a:ln>
        </p:spPr>
        <p:txBody>
          <a:bodyPr/>
          <a:lstStyle>
            <a:defPPr>
              <a:defRPr lang="en-US"/>
            </a:defPPr>
            <a:lvl1pPr algn="l" rtl="0" fontAlgn="base">
              <a:spcBef>
                <a:spcPct val="0"/>
              </a:spcBef>
              <a:spcAft>
                <a:spcPct val="0"/>
              </a:spcAft>
              <a:defRPr lang="en-US" sz="900" kern="1200">
                <a:solidFill>
                  <a:schemeClr val="tx1">
                    <a:lumMod val="65000"/>
                    <a:lumOff val="35000"/>
                  </a:schemeClr>
                </a:solidFill>
                <a:latin typeface="+mn-lt"/>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fld id="{9A257827-C34C-4251-B995-96C9C233CCC8}" type="slidenum">
              <a:rPr lang="en-US" smtClean="0"/>
              <a:pPr/>
              <a:t>18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5">
            <a:extLst>
              <a:ext uri="{FF2B5EF4-FFF2-40B4-BE49-F238E27FC236}">
                <a16:creationId xmlns:a16="http://schemas.microsoft.com/office/drawing/2014/main" id="{DA2043CD-CEF5-15AC-006A-0512A673B3AF}"/>
              </a:ext>
            </a:extLst>
          </p:cNvPr>
          <p:cNvPicPr>
            <a:picLocks noChangeAspect="1"/>
          </p:cNvPicPr>
          <p:nvPr/>
        </p:nvPicPr>
        <p:blipFill>
          <a:blip r:embed="rId3"/>
          <a:stretch>
            <a:fillRect/>
          </a:stretch>
        </p:blipFill>
        <p:spPr>
          <a:xfrm>
            <a:off x="7777944" y="349793"/>
            <a:ext cx="4267199" cy="5522258"/>
          </a:xfrm>
          <a:prstGeom prst="rect">
            <a:avLst/>
          </a:prstGeom>
        </p:spPr>
      </p:pic>
      <p:sp>
        <p:nvSpPr>
          <p:cNvPr id="4" name="TextBox 3">
            <a:extLst>
              <a:ext uri="{FF2B5EF4-FFF2-40B4-BE49-F238E27FC236}">
                <a16:creationId xmlns:a16="http://schemas.microsoft.com/office/drawing/2014/main" id="{E00A4C1A-DAD7-6527-A311-B70E568B7D51}"/>
              </a:ext>
            </a:extLst>
          </p:cNvPr>
          <p:cNvSpPr txBox="1"/>
          <p:nvPr/>
        </p:nvSpPr>
        <p:spPr>
          <a:xfrm>
            <a:off x="8120739" y="5467008"/>
            <a:ext cx="3566888" cy="738664"/>
          </a:xfrm>
          <a:prstGeom prst="rect">
            <a:avLst/>
          </a:prstGeom>
          <a:noFill/>
        </p:spPr>
        <p:txBody>
          <a:bodyPr wrap="square" rtlCol="0">
            <a:spAutoFit/>
          </a:bodyPr>
          <a:lstStyle/>
          <a:p>
            <a:pPr algn="ctr"/>
            <a:r>
              <a:rPr lang="en-US" sz="1400" dirty="0"/>
              <a:t>Region of Application:</a:t>
            </a:r>
          </a:p>
          <a:p>
            <a:pPr algn="ctr"/>
            <a:r>
              <a:rPr lang="en-US" sz="1400" dirty="0"/>
              <a:t>Water Temperature Modeling Platform</a:t>
            </a:r>
          </a:p>
          <a:p>
            <a:pPr algn="ctr"/>
            <a:r>
              <a:rPr lang="en-US" sz="1400" dirty="0"/>
              <a:t>California Central Valley Project</a:t>
            </a:r>
          </a:p>
        </p:txBody>
      </p:sp>
    </p:spTree>
    <p:extLst>
      <p:ext uri="{BB962C8B-B14F-4D97-AF65-F5344CB8AC3E}">
        <p14:creationId xmlns:p14="http://schemas.microsoft.com/office/powerpoint/2010/main" val="3889736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Acknowledgements</a:t>
            </a:r>
          </a:p>
        </p:txBody>
      </p:sp>
      <p:sp>
        <p:nvSpPr>
          <p:cNvPr id="3" name="Content Placeholder 2"/>
          <p:cNvSpPr>
            <a:spLocks noGrp="1"/>
          </p:cNvSpPr>
          <p:nvPr>
            <p:ph idx="1"/>
          </p:nvPr>
        </p:nvSpPr>
        <p:spPr>
          <a:xfrm>
            <a:off x="406399" y="1008014"/>
            <a:ext cx="8538245" cy="4607478"/>
          </a:xfrm>
        </p:spPr>
        <p:txBody>
          <a:bodyPr/>
          <a:lstStyle/>
          <a:p>
            <a:r>
              <a:rPr lang="en-US" sz="2000" dirty="0">
                <a:solidFill>
                  <a:schemeClr val="tx1"/>
                </a:solidFill>
                <a:latin typeface="+mn-lt"/>
              </a:rPr>
              <a:t>Development and Maintenance:</a:t>
            </a:r>
            <a:endParaRPr lang="en-US" sz="2000" b="0" dirty="0">
              <a:solidFill>
                <a:schemeClr val="tx1"/>
              </a:solidFill>
              <a:latin typeface="+mn-lt"/>
            </a:endParaRPr>
          </a:p>
          <a:p>
            <a:pPr marL="228600" indent="-228600">
              <a:buClr>
                <a:schemeClr val="tx1"/>
              </a:buClr>
              <a:buFont typeface="Arial" panose="020B0604020202020204" pitchFamily="34" charset="0"/>
              <a:buChar char="•"/>
            </a:pPr>
            <a:r>
              <a:rPr lang="en-US" sz="2000" b="0" dirty="0">
                <a:solidFill>
                  <a:schemeClr val="tx1"/>
                </a:solidFill>
                <a:latin typeface="+mn-lt"/>
              </a:rPr>
              <a:t>Todd Steissberg, ERDC-EL, Lead Developer</a:t>
            </a:r>
          </a:p>
          <a:p>
            <a:pPr marL="228600" indent="-228600">
              <a:buClr>
                <a:schemeClr val="tx1"/>
              </a:buClr>
              <a:buFont typeface="Arial" panose="020B0604020202020204" pitchFamily="34" charset="0"/>
              <a:buChar char="•"/>
            </a:pPr>
            <a:r>
              <a:rPr lang="en-US" sz="2000" b="0" dirty="0">
                <a:solidFill>
                  <a:schemeClr val="tx1"/>
                </a:solidFill>
                <a:latin typeface="+mn-lt"/>
              </a:rPr>
              <a:t>Scott Wells,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Zhonglong Zhang, Portland State University</a:t>
            </a:r>
          </a:p>
          <a:p>
            <a:pPr marL="228600" indent="-228600">
              <a:buClr>
                <a:schemeClr val="tx1"/>
              </a:buClr>
              <a:buFont typeface="Arial" panose="020B0604020202020204" pitchFamily="34" charset="0"/>
              <a:buChar char="•"/>
            </a:pPr>
            <a:r>
              <a:rPr lang="en-US" sz="2000" b="0" dirty="0">
                <a:solidFill>
                  <a:schemeClr val="tx1"/>
                </a:solidFill>
              </a:rPr>
              <a:t>Terry Gerald, ERDC-EL</a:t>
            </a:r>
          </a:p>
          <a:p>
            <a:pPr marL="228600" indent="-228600">
              <a:buClr>
                <a:schemeClr val="tx1"/>
              </a:buClr>
              <a:buFont typeface="Arial" panose="020B0604020202020204" pitchFamily="34" charset="0"/>
              <a:buChar char="•"/>
            </a:pPr>
            <a:r>
              <a:rPr lang="en-US" sz="2000" b="0" dirty="0">
                <a:solidFill>
                  <a:schemeClr val="tx1"/>
                </a:solidFill>
                <a:latin typeface="+mn-lt"/>
              </a:rPr>
              <a:t>Yonghu Wenren (“Tiger”), ERDC-CRREL</a:t>
            </a:r>
          </a:p>
          <a:p>
            <a:pPr marL="228600" indent="-228600">
              <a:buClr>
                <a:schemeClr val="tx1"/>
              </a:buClr>
              <a:buFont typeface="Arial" panose="020B0604020202020204" pitchFamily="34" charset="0"/>
              <a:buChar char="•"/>
            </a:pPr>
            <a:r>
              <a:rPr lang="en-US" sz="2000" b="0" dirty="0">
                <a:solidFill>
                  <a:schemeClr val="tx1"/>
                </a:solidFill>
              </a:rPr>
              <a:t>Isaac Mudge, USACE New Orleans District</a:t>
            </a:r>
          </a:p>
          <a:p>
            <a:pPr marL="228600" indent="-228600">
              <a:buClr>
                <a:schemeClr val="tx1"/>
              </a:buClr>
              <a:buFont typeface="Arial" panose="020B0604020202020204" pitchFamily="34" charset="0"/>
              <a:buChar char="•"/>
            </a:pPr>
            <a:r>
              <a:rPr lang="en-US" sz="2000" b="0" dirty="0">
                <a:solidFill>
                  <a:schemeClr val="tx1"/>
                </a:solidFill>
                <a:latin typeface="+mn-lt"/>
              </a:rPr>
              <a:t>Cody Armond, ERDC-CRREL</a:t>
            </a:r>
          </a:p>
          <a:p>
            <a:endParaRPr lang="en-US" sz="2000" b="0" dirty="0">
              <a:solidFill>
                <a:schemeClr val="tx1"/>
              </a:solidFill>
              <a:latin typeface="+mn-lt"/>
            </a:endParaRPr>
          </a:p>
          <a:p>
            <a:r>
              <a:rPr lang="en-US" sz="2000" dirty="0">
                <a:solidFill>
                  <a:schemeClr val="tx1"/>
                </a:solidFill>
                <a:latin typeface="+mn-lt"/>
              </a:rPr>
              <a:t>Funding and Support:</a:t>
            </a:r>
          </a:p>
          <a:p>
            <a:pPr marL="228600" indent="-228600">
              <a:buClr>
                <a:schemeClr val="tx1"/>
              </a:buClr>
              <a:buFont typeface="Arial" panose="020B0604020202020204" pitchFamily="34" charset="0"/>
              <a:buChar char="•"/>
            </a:pPr>
            <a:r>
              <a:rPr lang="en-US" sz="2000" b="0" dirty="0">
                <a:solidFill>
                  <a:schemeClr val="tx1"/>
                </a:solidFill>
              </a:rPr>
              <a:t>HH&amp;C SET (USACE Hydraulics, Hydrology, and Coastal Software Engineering Tools)</a:t>
            </a:r>
          </a:p>
          <a:p>
            <a:pPr marL="228600" indent="-228600">
              <a:buClr>
                <a:schemeClr val="tx1"/>
              </a:buClr>
              <a:buFont typeface="Arial" panose="020B0604020202020204" pitchFamily="34" charset="0"/>
              <a:buChar char="•"/>
            </a:pPr>
            <a:r>
              <a:rPr lang="en-US" sz="2000" b="0" dirty="0">
                <a:solidFill>
                  <a:schemeClr val="tx1"/>
                </a:solidFill>
                <a:latin typeface="+mn-lt"/>
              </a:rPr>
              <a:t>Ecosystem Management and Restoration Research Program (EMRRP)</a:t>
            </a:r>
          </a:p>
          <a:p>
            <a:pPr marL="228600" indent="-228600">
              <a:buClr>
                <a:schemeClr val="tx1"/>
              </a:buClr>
              <a:buFont typeface="Arial" panose="020B0604020202020204" pitchFamily="34" charset="0"/>
              <a:buChar char="•"/>
            </a:pPr>
            <a:r>
              <a:rPr lang="en-US" sz="2000" b="0" dirty="0">
                <a:solidFill>
                  <a:schemeClr val="tx1"/>
                </a:solidFill>
                <a:latin typeface="+mn-lt"/>
              </a:rPr>
              <a:t>Aquatic Nuisance Species Research Program (ANSRP)</a:t>
            </a: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19</a:t>
            </a:fld>
            <a:endParaRPr lang="en-US"/>
          </a:p>
        </p:txBody>
      </p:sp>
      <p:pic>
        <p:nvPicPr>
          <p:cNvPr id="6" name="Picture 5" descr="A picture containing cake, birthday, indoor, decorated&#10;&#10;Description automatically generated">
            <a:extLst>
              <a:ext uri="{FF2B5EF4-FFF2-40B4-BE49-F238E27FC236}">
                <a16:creationId xmlns:a16="http://schemas.microsoft.com/office/drawing/2014/main" id="{C96A2128-96B1-3C4F-C0BB-DFEE4921A96A}"/>
              </a:ext>
            </a:extLst>
          </p:cNvPr>
          <p:cNvPicPr>
            <a:picLocks noChangeAspect="1"/>
          </p:cNvPicPr>
          <p:nvPr/>
        </p:nvPicPr>
        <p:blipFill>
          <a:blip r:embed="rId2"/>
          <a:stretch>
            <a:fillRect/>
          </a:stretch>
        </p:blipFill>
        <p:spPr>
          <a:xfrm>
            <a:off x="7086599" y="457200"/>
            <a:ext cx="4284663" cy="6063339"/>
          </a:xfrm>
          <a:prstGeom prst="rect">
            <a:avLst/>
          </a:prstGeom>
        </p:spPr>
      </p:pic>
      <p:sp>
        <p:nvSpPr>
          <p:cNvPr id="8" name="TextBox 7">
            <a:extLst>
              <a:ext uri="{FF2B5EF4-FFF2-40B4-BE49-F238E27FC236}">
                <a16:creationId xmlns:a16="http://schemas.microsoft.com/office/drawing/2014/main" id="{9C9FB11D-D3AA-2CC4-BEFC-974C895B85BD}"/>
              </a:ext>
            </a:extLst>
          </p:cNvPr>
          <p:cNvSpPr txBox="1"/>
          <p:nvPr/>
        </p:nvSpPr>
        <p:spPr>
          <a:xfrm>
            <a:off x="8944644" y="852917"/>
            <a:ext cx="185871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Graphics by Lauren Melendez</a:t>
            </a:r>
            <a:endParaRPr lang="en-US" sz="1600" dirty="0">
              <a:cs typeface="Arial" pitchFamily="34" charset="0"/>
            </a:endParaRPr>
          </a:p>
        </p:txBody>
      </p:sp>
    </p:spTree>
    <p:extLst>
      <p:ext uri="{BB962C8B-B14F-4D97-AF65-F5344CB8AC3E}">
        <p14:creationId xmlns:p14="http://schemas.microsoft.com/office/powerpoint/2010/main" val="773594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pPr algn="ctr"/>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20</a:t>
            </a:fld>
            <a:endParaRPr lang="en-US"/>
          </a:p>
        </p:txBody>
      </p:sp>
      <p:pic>
        <p:nvPicPr>
          <p:cNvPr id="4" name="Picture 3" descr="A picture containing tree, nature, water, waterfall&#10;&#10;Description automatically generated">
            <a:extLst>
              <a:ext uri="{FF2B5EF4-FFF2-40B4-BE49-F238E27FC236}">
                <a16:creationId xmlns:a16="http://schemas.microsoft.com/office/drawing/2014/main" id="{B8442BBE-80CD-0757-3B8B-6C5943C67D22}"/>
              </a:ext>
            </a:extLst>
          </p:cNvPr>
          <p:cNvPicPr>
            <a:picLocks noChangeAspect="1"/>
          </p:cNvPicPr>
          <p:nvPr/>
        </p:nvPicPr>
        <p:blipFill>
          <a:blip r:embed="rId2"/>
          <a:stretch>
            <a:fillRect/>
          </a:stretch>
        </p:blipFill>
        <p:spPr>
          <a:xfrm>
            <a:off x="2111835" y="913088"/>
            <a:ext cx="7884328" cy="5256218"/>
          </a:xfrm>
          <a:prstGeom prst="rect">
            <a:avLst/>
          </a:prstGeom>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Props1.xml><?xml version="1.0" encoding="utf-8"?>
<ds:datastoreItem xmlns:ds="http://schemas.openxmlformats.org/officeDocument/2006/customXml" ds:itemID="{558FABFF-2334-4719-9D84-3E10528D1EE8}">
  <ds:schemaRefs>
    <ds:schemaRef ds:uri="http://schemas.microsoft.com/sharepoint/v3/contenttype/forms"/>
  </ds:schemaRefs>
</ds:datastoreItem>
</file>

<file path=customXml/itemProps2.xml><?xml version="1.0" encoding="utf-8"?>
<ds:datastoreItem xmlns:ds="http://schemas.openxmlformats.org/officeDocument/2006/customXml" ds:itemID="{5CA297BB-23EA-4511-961B-1869FC4E7E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394</TotalTime>
  <Words>2179</Words>
  <Application>Microsoft Macintosh PowerPoint</Application>
  <PresentationFormat>Widescreen</PresentationFormat>
  <Paragraphs>242</Paragraphs>
  <Slides>20</Slides>
  <Notes>4</Notes>
  <HiddenSlides>0</HiddenSlides>
  <MMClips>4</MMClips>
  <ScaleCrop>false</ScaleCrop>
  <HeadingPairs>
    <vt:vector size="6" baseType="variant">
      <vt:variant>
        <vt:lpstr>Fonts Used</vt:lpstr>
      </vt:variant>
      <vt:variant>
        <vt:i4>5</vt:i4>
      </vt:variant>
      <vt:variant>
        <vt:lpstr>Theme</vt:lpstr>
      </vt:variant>
      <vt:variant>
        <vt:i4>5</vt:i4>
      </vt:variant>
      <vt:variant>
        <vt:lpstr>Slide Titles</vt:lpstr>
      </vt:variant>
      <vt:variant>
        <vt:i4>20</vt:i4>
      </vt:variant>
    </vt:vector>
  </HeadingPairs>
  <TitlesOfParts>
    <vt:vector size="30" baseType="lpstr">
      <vt:lpstr>-apple-system</vt:lpstr>
      <vt:lpstr>Arial</vt:lpstr>
      <vt:lpstr>Calibri</vt:lpstr>
      <vt:lpstr>Courier New</vt:lpstr>
      <vt:lpstr>Wingdings</vt:lpstr>
      <vt:lpstr>Title Slide Templates</vt:lpstr>
      <vt:lpstr>UNCL // FOUO Content</vt:lpstr>
      <vt:lpstr>UNCLASSIFIED Content</vt:lpstr>
      <vt:lpstr>Custom Classification Content</vt:lpstr>
      <vt:lpstr>Standard White Theme</vt:lpstr>
      <vt:lpstr>Introduction to Modeling</vt:lpstr>
      <vt:lpstr>Systems Modeling: Guiding Principles</vt:lpstr>
      <vt:lpstr>The Tea Leaf Paradox</vt:lpstr>
      <vt:lpstr>The Tea Leaf Paradox</vt:lpstr>
      <vt:lpstr>The Tea Leaf Paradox</vt:lpstr>
      <vt:lpstr>The Tea Leaf Paradox</vt:lpstr>
      <vt:lpstr>Modeling Definitions</vt:lpstr>
      <vt:lpstr>Modeling Definitions</vt:lpstr>
      <vt:lpstr>Computer Models &amp; Programming</vt:lpstr>
      <vt:lpstr>Water Quality Modeling</vt:lpstr>
      <vt:lpstr>Benefits of Water Quality Modeling</vt:lpstr>
      <vt:lpstr>Reservoir Processes and Zones</vt:lpstr>
      <vt:lpstr>Model Dimensions, River-Reservoir System</vt:lpstr>
      <vt:lpstr>Model Dimensions: River-Floodplain System</vt:lpstr>
      <vt:lpstr>Introduction to CE-QUAL-W2</vt:lpstr>
      <vt:lpstr>CE-QUAL-W2 Capabilities, Continued</vt:lpstr>
      <vt:lpstr>Ideal CE-QUAL-W2 Applications</vt:lpstr>
      <vt:lpstr>Past and Current Applications of CE-QUAL-W2</vt:lpstr>
      <vt:lpstr>Acknowledgements</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435</cp:revision>
  <cp:lastPrinted>2018-03-14T15:02:38Z</cp:lastPrinted>
  <dcterms:created xsi:type="dcterms:W3CDTF">2022-08-04T21:02:01Z</dcterms:created>
  <dcterms:modified xsi:type="dcterms:W3CDTF">2025-09-16T03:55:48Z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