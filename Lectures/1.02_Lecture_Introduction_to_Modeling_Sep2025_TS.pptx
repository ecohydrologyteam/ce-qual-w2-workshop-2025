
<file path=[Content_Types].xml><?xml version="1.0" encoding="utf-8"?>
<Types xmlns="http://schemas.openxmlformats.org/package/2006/content-types">
  <Default Extension="gif" ContentType="image/gif"/>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3.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4.xml" ContentType="application/vnd.openxmlformats-officedocument.theme+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47" r:id="rId4"/>
    <p:sldMasterId id="2147484301" r:id="rId5"/>
    <p:sldMasterId id="2147484311" r:id="rId6"/>
    <p:sldMasterId id="2147484272" r:id="rId7"/>
    <p:sldMasterId id="2147484318" r:id="rId8"/>
  </p:sldMasterIdLst>
  <p:notesMasterIdLst>
    <p:notesMasterId r:id="rId29"/>
  </p:notesMasterIdLst>
  <p:handoutMasterIdLst>
    <p:handoutMasterId r:id="rId30"/>
  </p:handoutMasterIdLst>
  <p:sldIdLst>
    <p:sldId id="286" r:id="rId9"/>
    <p:sldId id="303" r:id="rId10"/>
    <p:sldId id="310" r:id="rId11"/>
    <p:sldId id="624" r:id="rId12"/>
    <p:sldId id="622" r:id="rId13"/>
    <p:sldId id="623" r:id="rId14"/>
    <p:sldId id="309" r:id="rId15"/>
    <p:sldId id="311" r:id="rId16"/>
    <p:sldId id="304" r:id="rId17"/>
    <p:sldId id="312" r:id="rId18"/>
    <p:sldId id="618" r:id="rId19"/>
    <p:sldId id="596" r:id="rId20"/>
    <p:sldId id="590" r:id="rId21"/>
    <p:sldId id="619" r:id="rId22"/>
    <p:sldId id="308" r:id="rId23"/>
    <p:sldId id="305" r:id="rId24"/>
    <p:sldId id="306" r:id="rId25"/>
    <p:sldId id="307" r:id="rId26"/>
    <p:sldId id="621" r:id="rId27"/>
    <p:sldId id="301" r:id="rId28"/>
  </p:sldIdLst>
  <p:sldSz cx="12192000" cy="6858000"/>
  <p:notesSz cx="7010400" cy="12039600"/>
  <p:defaultTextStyle>
    <a:defPPr>
      <a:defRPr lang="en-US"/>
    </a:defPPr>
    <a:lvl1pPr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1pPr>
    <a:lvl2pPr marL="4572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5pPr>
    <a:lvl6pPr marL="2286000" algn="l" defTabSz="914400" rtl="0" eaLnBrk="1" latinLnBrk="0" hangingPunct="1">
      <a:defRPr sz="2400" kern="1200">
        <a:solidFill>
          <a:schemeClr val="tx1"/>
        </a:solidFill>
        <a:latin typeface="Arial" pitchFamily="34" charset="0"/>
        <a:ea typeface="ＭＳ Ｐゴシック" pitchFamily="34" charset="-128"/>
        <a:cs typeface="+mn-cs"/>
      </a:defRPr>
    </a:lvl6pPr>
    <a:lvl7pPr marL="2743200" algn="l" defTabSz="914400" rtl="0" eaLnBrk="1" latinLnBrk="0" hangingPunct="1">
      <a:defRPr sz="2400" kern="1200">
        <a:solidFill>
          <a:schemeClr val="tx1"/>
        </a:solidFill>
        <a:latin typeface="Arial" pitchFamily="34" charset="0"/>
        <a:ea typeface="ＭＳ Ｐゴシック" pitchFamily="34" charset="-128"/>
        <a:cs typeface="+mn-cs"/>
      </a:defRPr>
    </a:lvl7pPr>
    <a:lvl8pPr marL="3200400" algn="l" defTabSz="914400" rtl="0" eaLnBrk="1" latinLnBrk="0" hangingPunct="1">
      <a:defRPr sz="2400" kern="1200">
        <a:solidFill>
          <a:schemeClr val="tx1"/>
        </a:solidFill>
        <a:latin typeface="Arial" pitchFamily="34" charset="0"/>
        <a:ea typeface="ＭＳ Ｐゴシック" pitchFamily="34" charset="-128"/>
        <a:cs typeface="+mn-cs"/>
      </a:defRPr>
    </a:lvl8pPr>
    <a:lvl9pPr marL="3657600" algn="l" defTabSz="914400" rtl="0" eaLnBrk="1" latinLnBrk="0" hangingPunct="1">
      <a:defRPr sz="2400" kern="1200">
        <a:solidFill>
          <a:schemeClr val="tx1"/>
        </a:solidFill>
        <a:latin typeface="Arial" pitchFamily="34" charset="0"/>
        <a:ea typeface="ＭＳ Ｐゴシック" pitchFamily="34"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64" userDrawn="1">
          <p15:clr>
            <a:srgbClr val="A4A3A4"/>
          </p15:clr>
        </p15:guide>
        <p15:guide id="3" pos="4464" userDrawn="1">
          <p15:clr>
            <a:srgbClr val="A4A3A4"/>
          </p15:clr>
        </p15:guide>
        <p15:guide id="4" pos="6408" userDrawn="1">
          <p15:clr>
            <a:srgbClr val="A4A3A4"/>
          </p15:clr>
        </p15:guide>
        <p15:guide id="5" orient="horz" pos="288" userDrawn="1">
          <p15:clr>
            <a:srgbClr val="A4A3A4"/>
          </p15:clr>
        </p15:guide>
        <p15:guide id="7" orient="horz" pos="34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27EEE"/>
    <a:srgbClr val="9F9C95"/>
    <a:srgbClr val="A4A5A3"/>
    <a:srgbClr val="CBCBCB"/>
    <a:srgbClr val="FFFF66"/>
    <a:srgbClr val="FFFFFF"/>
    <a:srgbClr val="FCAE3B"/>
    <a:srgbClr val="50771B"/>
    <a:srgbClr val="C1985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696" autoAdjust="0"/>
    <p:restoredTop sz="94660"/>
  </p:normalViewPr>
  <p:slideViewPr>
    <p:cSldViewPr snapToGrid="0">
      <p:cViewPr varScale="1">
        <p:scale>
          <a:sx n="127" d="100"/>
          <a:sy n="127" d="100"/>
        </p:scale>
        <p:origin x="200" y="192"/>
      </p:cViewPr>
      <p:guideLst>
        <p:guide orient="horz" pos="2160"/>
        <p:guide pos="3864"/>
        <p:guide pos="4464"/>
        <p:guide pos="6408"/>
        <p:guide orient="horz" pos="288"/>
        <p:guide orient="horz" pos="3456"/>
      </p:guideLst>
    </p:cSldViewPr>
  </p:slideViewPr>
  <p:notesTextViewPr>
    <p:cViewPr>
      <p:scale>
        <a:sx n="100" d="100"/>
        <a:sy n="100" d="100"/>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slide" Target="slides/slide18.xml"/><Relationship Id="rId3" Type="http://schemas.openxmlformats.org/officeDocument/2006/relationships/customXml" Target="../customXml/item3.xml"/><Relationship Id="rId21" Type="http://schemas.openxmlformats.org/officeDocument/2006/relationships/slide" Target="slides/slide13.xml"/><Relationship Id="rId34" Type="http://schemas.openxmlformats.org/officeDocument/2006/relationships/tableStyles" Target="tableStyles.xml"/><Relationship Id="rId7" Type="http://schemas.openxmlformats.org/officeDocument/2006/relationships/slideMaster" Target="slideMasters/slideMaster4.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8.xml"/><Relationship Id="rId20" Type="http://schemas.openxmlformats.org/officeDocument/2006/relationships/slide" Target="slides/slide12.xml"/><Relationship Id="rId29"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10" Type="http://schemas.openxmlformats.org/officeDocument/2006/relationships/slide" Target="slides/slide2.xml"/><Relationship Id="rId19" Type="http://schemas.openxmlformats.org/officeDocument/2006/relationships/slide" Target="slides/slide11.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handoutMaster" Target="handoutMasters/handoutMaster1.xml"/><Relationship Id="rId8" Type="http://schemas.openxmlformats.org/officeDocument/2006/relationships/slideMaster" Target="slideMasters/slideMaster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38475" cy="602392"/>
          </a:xfrm>
          <a:prstGeom prst="rect">
            <a:avLst/>
          </a:prstGeom>
        </p:spPr>
        <p:txBody>
          <a:bodyPr vert="horz" lIns="93177" tIns="46589" rIns="93177" bIns="46589" rtlCol="0"/>
          <a:lstStyle>
            <a:lvl1pPr algn="l">
              <a:defRPr sz="1200">
                <a:latin typeface="Arial" charset="0"/>
                <a:ea typeface="+mn-ea"/>
                <a:cs typeface="+mn-cs"/>
              </a:defRPr>
            </a:lvl1pPr>
          </a:lstStyle>
          <a:p>
            <a:pPr>
              <a:defRPr/>
            </a:pPr>
            <a:endParaRPr lang="en-US"/>
          </a:p>
        </p:txBody>
      </p:sp>
      <p:sp>
        <p:nvSpPr>
          <p:cNvPr id="3" name="Date Placeholder 2"/>
          <p:cNvSpPr>
            <a:spLocks noGrp="1"/>
          </p:cNvSpPr>
          <p:nvPr>
            <p:ph type="dt" sz="quarter" idx="1"/>
          </p:nvPr>
        </p:nvSpPr>
        <p:spPr>
          <a:xfrm>
            <a:off x="3970339" y="0"/>
            <a:ext cx="3038475" cy="602392"/>
          </a:xfrm>
          <a:prstGeom prst="rect">
            <a:avLst/>
          </a:prstGeom>
        </p:spPr>
        <p:txBody>
          <a:bodyPr vert="horz" wrap="square" lIns="93177" tIns="46589" rIns="93177" bIns="46589" numCol="1" anchor="t" anchorCtr="0" compatLnSpc="1">
            <a:prstTxWarp prst="textNoShape">
              <a:avLst/>
            </a:prstTxWarp>
          </a:bodyPr>
          <a:lstStyle>
            <a:lvl1pPr algn="r">
              <a:defRPr sz="1200"/>
            </a:lvl1pPr>
          </a:lstStyle>
          <a:p>
            <a:fld id="{61A2DE62-24B0-4972-852B-4785B8FCBE77}" type="datetimeFigureOut">
              <a:rPr lang="en-US"/>
              <a:pPr/>
              <a:t>9/14/25</a:t>
            </a:fld>
            <a:endParaRPr lang="en-US"/>
          </a:p>
        </p:txBody>
      </p:sp>
      <p:sp>
        <p:nvSpPr>
          <p:cNvPr id="4" name="Footer Placeholder 3"/>
          <p:cNvSpPr>
            <a:spLocks noGrp="1"/>
          </p:cNvSpPr>
          <p:nvPr>
            <p:ph type="ftr" sz="quarter" idx="2"/>
          </p:nvPr>
        </p:nvSpPr>
        <p:spPr>
          <a:xfrm>
            <a:off x="1" y="11435153"/>
            <a:ext cx="3038475" cy="602392"/>
          </a:xfrm>
          <a:prstGeom prst="rect">
            <a:avLst/>
          </a:prstGeom>
        </p:spPr>
        <p:txBody>
          <a:bodyPr vert="horz" lIns="93177" tIns="46589" rIns="93177" bIns="46589" rtlCol="0" anchor="b"/>
          <a:lstStyle>
            <a:lvl1pPr algn="l">
              <a:defRPr sz="1200">
                <a:latin typeface="Arial" charset="0"/>
                <a:ea typeface="+mn-ea"/>
                <a:cs typeface="+mn-cs"/>
              </a:defRPr>
            </a:lvl1pPr>
          </a:lstStyle>
          <a:p>
            <a:pPr>
              <a:defRPr/>
            </a:pPr>
            <a:endParaRPr lang="en-US"/>
          </a:p>
        </p:txBody>
      </p:sp>
      <p:sp>
        <p:nvSpPr>
          <p:cNvPr id="5" name="Slide Number Placeholder 4"/>
          <p:cNvSpPr>
            <a:spLocks noGrp="1"/>
          </p:cNvSpPr>
          <p:nvPr>
            <p:ph type="sldNum" sz="quarter" idx="3"/>
          </p:nvPr>
        </p:nvSpPr>
        <p:spPr>
          <a:xfrm>
            <a:off x="3970339" y="11435153"/>
            <a:ext cx="3038475" cy="602392"/>
          </a:xfrm>
          <a:prstGeom prst="rect">
            <a:avLst/>
          </a:prstGeom>
        </p:spPr>
        <p:txBody>
          <a:bodyPr vert="horz" wrap="square" lIns="93177" tIns="46589" rIns="93177" bIns="46589" numCol="1" anchor="b" anchorCtr="0" compatLnSpc="1">
            <a:prstTxWarp prst="textNoShape">
              <a:avLst/>
            </a:prstTxWarp>
          </a:bodyPr>
          <a:lstStyle>
            <a:lvl1pPr algn="r">
              <a:defRPr sz="1200"/>
            </a:lvl1pPr>
          </a:lstStyle>
          <a:p>
            <a:fld id="{603F1684-B626-4C74-9731-CBE8CE5003E4}" type="slidenum">
              <a:rPr lang="en-US"/>
              <a:pPr/>
              <a:t>‹#›</a:t>
            </a:fld>
            <a:endParaRPr lang="en-US"/>
          </a:p>
        </p:txBody>
      </p:sp>
    </p:spTree>
    <p:extLst>
      <p:ext uri="{BB962C8B-B14F-4D97-AF65-F5344CB8AC3E}">
        <p14:creationId xmlns:p14="http://schemas.microsoft.com/office/powerpoint/2010/main" val="362965369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38475" cy="602392"/>
          </a:xfrm>
          <a:prstGeom prst="rect">
            <a:avLst/>
          </a:prstGeom>
        </p:spPr>
        <p:txBody>
          <a:bodyPr vert="horz" lIns="93177" tIns="46589" rIns="93177" bIns="46589" rtlCol="0"/>
          <a:lstStyle>
            <a:lvl1pPr algn="l">
              <a:defRPr sz="1200">
                <a:latin typeface="Arial" charset="0"/>
                <a:ea typeface="+mn-ea"/>
                <a:cs typeface="+mn-cs"/>
              </a:defRPr>
            </a:lvl1pPr>
          </a:lstStyle>
          <a:p>
            <a:pPr>
              <a:defRPr/>
            </a:pPr>
            <a:endParaRPr lang="en-US"/>
          </a:p>
        </p:txBody>
      </p:sp>
      <p:sp>
        <p:nvSpPr>
          <p:cNvPr id="3" name="Date Placeholder 2"/>
          <p:cNvSpPr>
            <a:spLocks noGrp="1"/>
          </p:cNvSpPr>
          <p:nvPr>
            <p:ph type="dt" idx="1"/>
          </p:nvPr>
        </p:nvSpPr>
        <p:spPr>
          <a:xfrm>
            <a:off x="3970339" y="0"/>
            <a:ext cx="3038475" cy="602392"/>
          </a:xfrm>
          <a:prstGeom prst="rect">
            <a:avLst/>
          </a:prstGeom>
        </p:spPr>
        <p:txBody>
          <a:bodyPr vert="horz" wrap="square" lIns="93177" tIns="46589" rIns="93177" bIns="46589" numCol="1" anchor="t" anchorCtr="0" compatLnSpc="1">
            <a:prstTxWarp prst="textNoShape">
              <a:avLst/>
            </a:prstTxWarp>
          </a:bodyPr>
          <a:lstStyle>
            <a:lvl1pPr algn="r">
              <a:defRPr sz="1200"/>
            </a:lvl1pPr>
          </a:lstStyle>
          <a:p>
            <a:fld id="{9ADC5788-3AFA-4451-BC67-BFEEAB944D67}" type="datetimeFigureOut">
              <a:rPr lang="en-US"/>
              <a:pPr/>
              <a:t>9/14/25</a:t>
            </a:fld>
            <a:endParaRPr lang="en-US"/>
          </a:p>
        </p:txBody>
      </p:sp>
      <p:sp>
        <p:nvSpPr>
          <p:cNvPr id="4" name="Slide Image Placeholder 3"/>
          <p:cNvSpPr>
            <a:spLocks noGrp="1" noRot="1" noChangeAspect="1"/>
          </p:cNvSpPr>
          <p:nvPr>
            <p:ph type="sldImg" idx="2"/>
          </p:nvPr>
        </p:nvSpPr>
        <p:spPr>
          <a:xfrm>
            <a:off x="-508000" y="903288"/>
            <a:ext cx="8026400" cy="4514850"/>
          </a:xfrm>
          <a:prstGeom prst="rect">
            <a:avLst/>
          </a:prstGeom>
          <a:noFill/>
          <a:ln w="12700">
            <a:solidFill>
              <a:prstClr val="black"/>
            </a:solidFill>
          </a:ln>
        </p:spPr>
        <p:txBody>
          <a:bodyPr vert="horz" lIns="93177" tIns="46589" rIns="93177" bIns="46589" rtlCol="0" anchor="ctr"/>
          <a:lstStyle/>
          <a:p>
            <a:pPr lvl="0"/>
            <a:endParaRPr lang="en-US" noProof="0" dirty="0"/>
          </a:p>
        </p:txBody>
      </p:sp>
      <p:sp>
        <p:nvSpPr>
          <p:cNvPr id="5" name="Notes Placeholder 4"/>
          <p:cNvSpPr>
            <a:spLocks noGrp="1"/>
          </p:cNvSpPr>
          <p:nvPr>
            <p:ph type="body" sz="quarter" idx="3"/>
          </p:nvPr>
        </p:nvSpPr>
        <p:spPr>
          <a:xfrm>
            <a:off x="701675" y="5719633"/>
            <a:ext cx="5607050" cy="5417409"/>
          </a:xfrm>
          <a:prstGeom prst="rect">
            <a:avLst/>
          </a:prstGeom>
        </p:spPr>
        <p:txBody>
          <a:bodyPr vert="horz" lIns="93177" tIns="46589" rIns="93177" bIns="46589" rtlCol="0">
            <a:normAutofit/>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Footer Placeholder 5"/>
          <p:cNvSpPr>
            <a:spLocks noGrp="1"/>
          </p:cNvSpPr>
          <p:nvPr>
            <p:ph type="ftr" sz="quarter" idx="4"/>
          </p:nvPr>
        </p:nvSpPr>
        <p:spPr>
          <a:xfrm>
            <a:off x="1" y="11435153"/>
            <a:ext cx="3038475" cy="602392"/>
          </a:xfrm>
          <a:prstGeom prst="rect">
            <a:avLst/>
          </a:prstGeom>
        </p:spPr>
        <p:txBody>
          <a:bodyPr vert="horz" lIns="93177" tIns="46589" rIns="93177" bIns="46589" rtlCol="0" anchor="b"/>
          <a:lstStyle>
            <a:lvl1pPr algn="l">
              <a:defRPr sz="1200">
                <a:latin typeface="Arial" charset="0"/>
                <a:ea typeface="+mn-ea"/>
                <a:cs typeface="+mn-cs"/>
              </a:defRPr>
            </a:lvl1pPr>
          </a:lstStyle>
          <a:p>
            <a:pPr>
              <a:defRPr/>
            </a:pPr>
            <a:endParaRPr lang="en-US"/>
          </a:p>
        </p:txBody>
      </p:sp>
      <p:sp>
        <p:nvSpPr>
          <p:cNvPr id="7" name="Slide Number Placeholder 6"/>
          <p:cNvSpPr>
            <a:spLocks noGrp="1"/>
          </p:cNvSpPr>
          <p:nvPr>
            <p:ph type="sldNum" sz="quarter" idx="5"/>
          </p:nvPr>
        </p:nvSpPr>
        <p:spPr>
          <a:xfrm>
            <a:off x="3970339" y="11435153"/>
            <a:ext cx="3038475" cy="602392"/>
          </a:xfrm>
          <a:prstGeom prst="rect">
            <a:avLst/>
          </a:prstGeom>
        </p:spPr>
        <p:txBody>
          <a:bodyPr vert="horz" wrap="square" lIns="93177" tIns="46589" rIns="93177" bIns="46589" numCol="1" anchor="b" anchorCtr="0" compatLnSpc="1">
            <a:prstTxWarp prst="textNoShape">
              <a:avLst/>
            </a:prstTxWarp>
          </a:bodyPr>
          <a:lstStyle>
            <a:lvl1pPr algn="r">
              <a:defRPr sz="1200"/>
            </a:lvl1pPr>
          </a:lstStyle>
          <a:p>
            <a:fld id="{06A0A3C6-4E22-46FB-836F-CA2C48EC4DC1}" type="slidenum">
              <a:rPr lang="en-US"/>
              <a:pPr/>
              <a:t>‹#›</a:t>
            </a:fld>
            <a:endParaRPr lang="en-US"/>
          </a:p>
        </p:txBody>
      </p:sp>
    </p:spTree>
    <p:extLst>
      <p:ext uri="{BB962C8B-B14F-4D97-AF65-F5344CB8AC3E}">
        <p14:creationId xmlns:p14="http://schemas.microsoft.com/office/powerpoint/2010/main" val="2040337041"/>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Arial" pitchFamily="34" charset="0"/>
        <a:ea typeface="ＭＳ Ｐゴシック" charset="0"/>
        <a:cs typeface="ＭＳ Ｐゴシック" charset="0"/>
      </a:defRPr>
    </a:lvl1pPr>
    <a:lvl2pPr marL="4572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0450"/>
          </a:xfrm>
        </p:spPr>
        <p:txBody>
          <a:bodyPr/>
          <a:lstStyle/>
          <a:p>
            <a:endParaRPr lang="en-US"/>
          </a:p>
        </p:txBody>
      </p:sp>
      <p:sp>
        <p:nvSpPr>
          <p:cNvPr id="3" name="Notes Placeholder 2"/>
          <p:cNvSpPr>
            <a:spLocks noGrp="1"/>
          </p:cNvSpPr>
          <p:nvPr>
            <p:ph type="body" idx="1"/>
          </p:nvPr>
        </p:nvSpPr>
        <p:spPr/>
        <p:txBody>
          <a:bodyPr>
            <a:normAutofit/>
          </a:bodyPr>
          <a:lstStyle/>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pPr>
              <a:defRPr/>
            </a:pPr>
            <a:fld id="{146204F0-6891-43ED-B78D-50F4FC9D77C1}" type="slidenum">
              <a:rPr lang="en-US" smtClean="0"/>
              <a:pPr>
                <a:defRPr/>
              </a:pPr>
              <a:t>11</a:t>
            </a:fld>
            <a:endParaRPr lang="en-US" dirty="0"/>
          </a:p>
        </p:txBody>
      </p:sp>
    </p:spTree>
    <p:extLst>
      <p:ext uri="{BB962C8B-B14F-4D97-AF65-F5344CB8AC3E}">
        <p14:creationId xmlns:p14="http://schemas.microsoft.com/office/powerpoint/2010/main" val="11863936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0450"/>
          </a:xfrm>
        </p:spPr>
        <p:txBody>
          <a:bodyPr/>
          <a:lstStyle/>
          <a:p>
            <a:endParaRPr lang="en-US"/>
          </a:p>
        </p:txBody>
      </p:sp>
      <p:sp>
        <p:nvSpPr>
          <p:cNvPr id="3" name="Notes Placeholder 2"/>
          <p:cNvSpPr>
            <a:spLocks noGrp="1"/>
          </p:cNvSpPr>
          <p:nvPr>
            <p:ph type="body" idx="1"/>
          </p:nvPr>
        </p:nvSpPr>
        <p:spPr/>
        <p:txBody>
          <a:bodyPr>
            <a:normAutofit/>
          </a:bodyPr>
          <a:lstStyle/>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pPr>
              <a:defRPr/>
            </a:pPr>
            <a:fld id="{146204F0-6891-43ED-B78D-50F4FC9D77C1}" type="slidenum">
              <a:rPr lang="en-US" smtClean="0"/>
              <a:pPr>
                <a:defRPr/>
              </a:pPr>
              <a:t>12</a:t>
            </a:fld>
            <a:endParaRPr lang="en-US" dirty="0"/>
          </a:p>
        </p:txBody>
      </p:sp>
    </p:spTree>
    <p:extLst>
      <p:ext uri="{BB962C8B-B14F-4D97-AF65-F5344CB8AC3E}">
        <p14:creationId xmlns:p14="http://schemas.microsoft.com/office/powerpoint/2010/main" val="22174182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0450"/>
          </a:xfrm>
        </p:spPr>
        <p:txBody>
          <a:bodyPr/>
          <a:lstStyle/>
          <a:p>
            <a:endParaRPr lang="en-US"/>
          </a:p>
        </p:txBody>
      </p:sp>
      <p:sp>
        <p:nvSpPr>
          <p:cNvPr id="3" name="Notes Placeholder 2"/>
          <p:cNvSpPr>
            <a:spLocks noGrp="1"/>
          </p:cNvSpPr>
          <p:nvPr>
            <p:ph type="body" idx="1"/>
          </p:nvPr>
        </p:nvSpPr>
        <p:spPr/>
        <p:txBody>
          <a:bodyPr>
            <a:normAutofit/>
          </a:bodyPr>
          <a:lstStyle/>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pPr>
              <a:defRPr/>
            </a:pPr>
            <a:fld id="{146204F0-6891-43ED-B78D-50F4FC9D77C1}" type="slidenum">
              <a:rPr lang="en-US" smtClean="0"/>
              <a:pPr>
                <a:defRPr/>
              </a:pPr>
              <a:t>13</a:t>
            </a:fld>
            <a:endParaRPr lang="en-US" dirty="0"/>
          </a:p>
        </p:txBody>
      </p:sp>
    </p:spTree>
    <p:extLst>
      <p:ext uri="{BB962C8B-B14F-4D97-AF65-F5344CB8AC3E}">
        <p14:creationId xmlns:p14="http://schemas.microsoft.com/office/powerpoint/2010/main" val="21610211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0450"/>
          </a:xfrm>
        </p:spPr>
        <p:txBody>
          <a:bodyPr/>
          <a:lstStyle/>
          <a:p>
            <a:endParaRPr lang="en-US"/>
          </a:p>
        </p:txBody>
      </p:sp>
      <p:sp>
        <p:nvSpPr>
          <p:cNvPr id="3" name="Notes Placeholder 2"/>
          <p:cNvSpPr>
            <a:spLocks noGrp="1"/>
          </p:cNvSpPr>
          <p:nvPr>
            <p:ph type="body" idx="1"/>
          </p:nvPr>
        </p:nvSpPr>
        <p:spPr/>
        <p:txBody>
          <a:bodyPr>
            <a:normAutofit/>
          </a:bodyPr>
          <a:lstStyle/>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pPr>
              <a:defRPr/>
            </a:pPr>
            <a:fld id="{146204F0-6891-43ED-B78D-50F4FC9D77C1}" type="slidenum">
              <a:rPr lang="en-US" smtClean="0"/>
              <a:pPr>
                <a:defRPr/>
              </a:pPr>
              <a:t>14</a:t>
            </a:fld>
            <a:endParaRPr lang="en-US" dirty="0"/>
          </a:p>
        </p:txBody>
      </p:sp>
    </p:spTree>
    <p:extLst>
      <p:ext uri="{BB962C8B-B14F-4D97-AF65-F5344CB8AC3E}">
        <p14:creationId xmlns:p14="http://schemas.microsoft.com/office/powerpoint/2010/main" val="25763440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Background 2">
    <p:spTree>
      <p:nvGrpSpPr>
        <p:cNvPr id="1" name=""/>
        <p:cNvGrpSpPr/>
        <p:nvPr/>
      </p:nvGrpSpPr>
      <p:grpSpPr>
        <a:xfrm>
          <a:off x="0" y="0"/>
          <a:ext cx="0" cy="0"/>
          <a:chOff x="0" y="0"/>
          <a:chExt cx="0" cy="0"/>
        </a:xfrm>
      </p:grpSpPr>
      <p:sp>
        <p:nvSpPr>
          <p:cNvPr id="9" name="Text Placeholder 8"/>
          <p:cNvSpPr>
            <a:spLocks noGrp="1"/>
          </p:cNvSpPr>
          <p:nvPr userDrawn="1">
            <p:ph type="body" sz="quarter" idx="12"/>
          </p:nvPr>
        </p:nvSpPr>
        <p:spPr>
          <a:xfrm>
            <a:off x="609602" y="3200405"/>
            <a:ext cx="9144001" cy="1562099"/>
          </a:xfrm>
          <a:prstGeom prst="rect">
            <a:avLst/>
          </a:prstGeom>
        </p:spPr>
        <p:txBody>
          <a:bodyPr/>
          <a:lstStyle>
            <a:lvl1pPr>
              <a:defRPr/>
            </a:lvl1pPr>
          </a:lstStyle>
          <a:p>
            <a:pPr lvl="0"/>
            <a:r>
              <a:rPr lang="en-US"/>
              <a:t>Click to edit Master text styles</a:t>
            </a:r>
          </a:p>
        </p:txBody>
      </p:sp>
      <p:sp>
        <p:nvSpPr>
          <p:cNvPr id="2" name="Title 1"/>
          <p:cNvSpPr>
            <a:spLocks noGrp="1"/>
          </p:cNvSpPr>
          <p:nvPr userDrawn="1">
            <p:ph type="title"/>
          </p:nvPr>
        </p:nvSpPr>
        <p:spPr>
          <a:xfrm>
            <a:off x="609600" y="1924055"/>
            <a:ext cx="9144000" cy="1107559"/>
          </a:xfrm>
          <a:prstGeom prst="rect">
            <a:avLst/>
          </a:prstGeom>
        </p:spPr>
        <p:txBody>
          <a:bodyPr/>
          <a:lstStyle/>
          <a:p>
            <a:r>
              <a:rPr lang="en-US"/>
              <a:t>Click to edit Master title style</a:t>
            </a:r>
            <a:endParaRPr lang="en-US" dirty="0"/>
          </a:p>
        </p:txBody>
      </p:sp>
      <p:sp>
        <p:nvSpPr>
          <p:cNvPr id="3" name="Slide Number Placeholder 2"/>
          <p:cNvSpPr>
            <a:spLocks noGrp="1"/>
          </p:cNvSpPr>
          <p:nvPr userDrawn="1">
            <p:ph type="sldNum" sz="quarter" idx="10"/>
          </p:nvPr>
        </p:nvSpPr>
        <p:spPr/>
        <p:txBody>
          <a:bodyPr/>
          <a:lstStyle>
            <a:lvl1pPr>
              <a:defRPr b="1">
                <a:effectLst>
                  <a:outerShdw blurRad="38100" dist="38100" dir="2700000" algn="tl">
                    <a:srgbClr val="000000">
                      <a:alpha val="43137"/>
                    </a:srgbClr>
                  </a:outerShdw>
                </a:effectLst>
              </a:defRPr>
            </a:lvl1pPr>
          </a:lstStyle>
          <a:p>
            <a:fld id="{0D0E9D3B-CB56-40AE-B0A9-8DA5E1AEFDB7}" type="slidenum">
              <a:rPr lang="en-US" smtClean="0"/>
              <a:pPr/>
              <a:t>‹#›</a:t>
            </a:fld>
            <a:endParaRPr lang="en-US" dirty="0"/>
          </a:p>
        </p:txBody>
      </p:sp>
      <p:sp>
        <p:nvSpPr>
          <p:cNvPr id="4" name="Footer Placeholder 3"/>
          <p:cNvSpPr>
            <a:spLocks noGrp="1"/>
          </p:cNvSpPr>
          <p:nvPr userDrawn="1">
            <p:ph type="ftr" sz="quarter" idx="11"/>
          </p:nvPr>
        </p:nvSpPr>
        <p:spPr/>
        <p:txBody>
          <a:bodyPr/>
          <a:lstStyle/>
          <a:p>
            <a:r>
              <a:rPr lang="en-US"/>
              <a:t>File Name</a:t>
            </a:r>
            <a:endParaRPr lang="en-US" dirty="0"/>
          </a:p>
        </p:txBody>
      </p:sp>
      <p:sp>
        <p:nvSpPr>
          <p:cNvPr id="7" name="Text Placeholder 6"/>
          <p:cNvSpPr>
            <a:spLocks noGrp="1"/>
          </p:cNvSpPr>
          <p:nvPr>
            <p:ph type="body" sz="quarter" idx="13" hasCustomPrompt="1"/>
          </p:nvPr>
        </p:nvSpPr>
        <p:spPr>
          <a:xfrm>
            <a:off x="1" y="106998"/>
            <a:ext cx="12191999" cy="403225"/>
          </a:xfrm>
          <a:prstGeom prst="rect">
            <a:avLst/>
          </a:prstGeom>
        </p:spPr>
        <p:txBody>
          <a:bodyPr>
            <a:normAutofit/>
          </a:bodyPr>
          <a:lstStyle>
            <a:lvl1pPr algn="ctr">
              <a:buFontTx/>
              <a:buNone/>
              <a:defRPr sz="1200">
                <a:solidFill>
                  <a:schemeClr val="bg1"/>
                </a:solidFill>
                <a:effectLst>
                  <a:outerShdw blurRad="38100" dist="38100" dir="2700000" algn="tl">
                    <a:srgbClr val="000000">
                      <a:alpha val="43137"/>
                    </a:srgbClr>
                  </a:outerShdw>
                </a:effectLst>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dirty="0"/>
              <a:t>CLICK TO ENTER CLASSIFICATION</a:t>
            </a:r>
          </a:p>
        </p:txBody>
      </p:sp>
      <p:sp>
        <p:nvSpPr>
          <p:cNvPr id="11" name="Text Placeholder 10"/>
          <p:cNvSpPr>
            <a:spLocks noGrp="1"/>
          </p:cNvSpPr>
          <p:nvPr>
            <p:ph type="body" sz="quarter" idx="14" hasCustomPrompt="1"/>
          </p:nvPr>
        </p:nvSpPr>
        <p:spPr>
          <a:xfrm>
            <a:off x="0" y="6455410"/>
            <a:ext cx="12192000" cy="295910"/>
          </a:xfrm>
          <a:prstGeom prst="rect">
            <a:avLst/>
          </a:prstGeom>
        </p:spPr>
        <p:txBody>
          <a:bodyPr vert="horz" lIns="91440" tIns="45720" rIns="91440" bIns="45720" rtlCol="0">
            <a:normAutofit/>
          </a:bodyPr>
          <a:lstStyle>
            <a:lvl1pPr algn="ctr">
              <a:defRPr lang="en-US" sz="1200" smtClean="0">
                <a:solidFill>
                  <a:schemeClr val="bg1"/>
                </a:solidFill>
                <a:effectLst>
                  <a:outerShdw blurRad="38100" dist="38100" dir="2700000" algn="tl">
                    <a:srgbClr val="000000">
                      <a:alpha val="43137"/>
                    </a:srgbClr>
                  </a:outerShdw>
                </a:effectLst>
              </a:defRPr>
            </a:lvl1pPr>
            <a:lvl2pPr>
              <a:defRPr lang="en-US" smtClean="0"/>
            </a:lvl2pPr>
            <a:lvl3pPr>
              <a:defRPr lang="en-US" smtClean="0"/>
            </a:lvl3pPr>
            <a:lvl4pPr>
              <a:defRPr lang="en-US" smtClean="0"/>
            </a:lvl4pPr>
            <a:lvl5pPr>
              <a:defRPr lang="en-US"/>
            </a:lvl5pPr>
          </a:lstStyle>
          <a:p>
            <a:pPr lvl="0" algn="ctr">
              <a:buFontTx/>
            </a:pPr>
            <a:r>
              <a:rPr lang="en-US" dirty="0"/>
              <a:t>CLICK TO ENTER CLASSIFICATION</a:t>
            </a:r>
          </a:p>
        </p:txBody>
      </p:sp>
    </p:spTree>
    <p:extLst>
      <p:ext uri="{BB962C8B-B14F-4D97-AF65-F5344CB8AC3E}">
        <p14:creationId xmlns:p14="http://schemas.microsoft.com/office/powerpoint/2010/main" val="22421021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800021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3800186101"/>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4223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32726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6956979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454955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4269065736"/>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639574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4970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03831345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762000"/>
          </a:xfrm>
        </p:spPr>
        <p:txBody>
          <a:bodyPr/>
          <a:lstStyle>
            <a:lvl1pPr>
              <a:defRPr sz="3600"/>
            </a:lvl1pPr>
          </a:lstStyle>
          <a:p>
            <a:r>
              <a:rPr lang="en-US" dirty="0"/>
              <a:t>Click to edit Master title style</a:t>
            </a:r>
          </a:p>
        </p:txBody>
      </p:sp>
      <p:sp>
        <p:nvSpPr>
          <p:cNvPr id="3" name="Content Placeholder 2"/>
          <p:cNvSpPr>
            <a:spLocks noGrp="1"/>
          </p:cNvSpPr>
          <p:nvPr>
            <p:ph idx="1"/>
          </p:nvPr>
        </p:nvSpPr>
        <p:spPr>
          <a:xfrm>
            <a:off x="1828800" y="1524000"/>
            <a:ext cx="8534400" cy="4724400"/>
          </a:xfrm>
          <a:solidFill>
            <a:schemeClr val="accent6">
              <a:lumMod val="50000"/>
              <a:alpha val="45000"/>
            </a:schemeClr>
          </a:solidFill>
        </p:spPr>
        <p:txBody>
          <a:bodyPr/>
          <a:lstStyle>
            <a:lvl1pPr>
              <a:buClr>
                <a:srgbClr val="00B0F0"/>
              </a:buClr>
              <a:buSzPct val="120000"/>
              <a:buFont typeface="Arial" pitchFamily="34" charset="0"/>
              <a:buChar char="•"/>
              <a:defRPr sz="2000"/>
            </a:lvl1pPr>
            <a:lvl2pPr>
              <a:buSzPct val="120000"/>
              <a:buFont typeface="Arial" pitchFamily="34" charset="0"/>
              <a:buChar char="•"/>
              <a:defRPr sz="1800"/>
            </a:lvl2pPr>
            <a:lvl3pPr>
              <a:buClr>
                <a:srgbClr val="00B0F0"/>
              </a:buClr>
              <a:buSzPct val="120000"/>
              <a:buFont typeface="Arial" pitchFamily="34" charset="0"/>
              <a:buChar char="•"/>
              <a:defRPr sz="1600"/>
            </a:lvl3pPr>
            <a:lvl4pPr>
              <a:buFont typeface="Courier New" pitchFamily="49" charset="0"/>
              <a:buChar char="o"/>
              <a:defRPr sz="1400"/>
            </a:lvl4pPr>
            <a:lvl5pPr>
              <a:buClr>
                <a:srgbClr val="00B0F0"/>
              </a:buClr>
              <a:buFont typeface="Courier New" pitchFamily="49" charset="0"/>
              <a:buChar char="o"/>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609600" y="6400800"/>
            <a:ext cx="2844800" cy="320675"/>
          </a:xfrm>
        </p:spPr>
        <p:txBody>
          <a:bodyPr/>
          <a:lstStyle>
            <a:lvl1pPr>
              <a:defRPr/>
            </a:lvl1pPr>
          </a:lstStyle>
          <a:p>
            <a:fld id="{3C593294-CFC3-4F9B-9837-8137DD11B3FE}" type="datetime1">
              <a:rPr lang="en-US" smtClean="0"/>
              <a:pPr/>
              <a:t>9/14/25</a:t>
            </a:fld>
            <a:endParaRPr lang="en-US"/>
          </a:p>
        </p:txBody>
      </p:sp>
      <p:sp>
        <p:nvSpPr>
          <p:cNvPr id="5" name="Footer Placeholder 4"/>
          <p:cNvSpPr>
            <a:spLocks noGrp="1"/>
          </p:cNvSpPr>
          <p:nvPr>
            <p:ph type="ftr" sz="quarter" idx="11"/>
          </p:nvPr>
        </p:nvSpPr>
        <p:spPr>
          <a:xfrm>
            <a:off x="4165600" y="6400800"/>
            <a:ext cx="3860800" cy="320675"/>
          </a:xfrm>
        </p:spPr>
        <p:txBody>
          <a:bodyPr/>
          <a:lstStyle>
            <a:lvl1pPr>
              <a:defRPr/>
            </a:lvl1pPr>
          </a:lstStyle>
          <a:p>
            <a:endParaRPr lang="en-US" dirty="0"/>
          </a:p>
        </p:txBody>
      </p:sp>
      <p:sp>
        <p:nvSpPr>
          <p:cNvPr id="6" name="Slide Number Placeholder 5"/>
          <p:cNvSpPr>
            <a:spLocks noGrp="1"/>
          </p:cNvSpPr>
          <p:nvPr>
            <p:ph type="sldNum" sz="quarter" idx="12"/>
          </p:nvPr>
        </p:nvSpPr>
        <p:spPr>
          <a:xfrm>
            <a:off x="8737600" y="6400800"/>
            <a:ext cx="2844800" cy="320675"/>
          </a:xfrm>
        </p:spPr>
        <p:txBody>
          <a:bodyPr/>
          <a:lstStyle>
            <a:lvl1pPr>
              <a:defRPr/>
            </a:lvl1pPr>
          </a:lstStyle>
          <a:p>
            <a:fld id="{2D23EAB1-8EA4-4CE5-A8AE-9AB5B71DF111}" type="slidenum">
              <a:rPr lang="en-US"/>
              <a:pPr/>
              <a:t>‹#›</a:t>
            </a:fld>
            <a:endParaRPr lang="en-US"/>
          </a:p>
        </p:txBody>
      </p:sp>
    </p:spTree>
    <p:extLst>
      <p:ext uri="{BB962C8B-B14F-4D97-AF65-F5344CB8AC3E}">
        <p14:creationId xmlns:p14="http://schemas.microsoft.com/office/powerpoint/2010/main" val="35629727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32378203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279750143"/>
      </p:ext>
    </p:extLst>
  </p:cSld>
  <p:clrMapOvr>
    <a:masterClrMapping/>
  </p:clrMapOvr>
  <p:extLst>
    <p:ext uri="{DCECCB84-F9BA-43D5-87BE-67443E8EF086}">
      <p15:sldGuideLst xmlns:p15="http://schemas.microsoft.com/office/powerpoint/2012/main">
        <p15:guide id="1" orient="horz" pos="594" userDrawn="1">
          <p15:clr>
            <a:srgbClr val="FBAE40"/>
          </p15:clr>
        </p15:guide>
        <p15:guide id="2" orient="horz" pos="516"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0359619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30257427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 2 Odd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3" y="1225550"/>
            <a:ext cx="35941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4127503" y="1225550"/>
            <a:ext cx="74549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290629991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600415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hort 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6" name="Text Placeholder 3"/>
          <p:cNvSpPr>
            <a:spLocks noGrp="1"/>
          </p:cNvSpPr>
          <p:nvPr>
            <p:ph type="body" sz="quarter" idx="3"/>
          </p:nvPr>
        </p:nvSpPr>
        <p:spPr>
          <a:xfrm>
            <a:off x="6096000" y="942975"/>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7" name="Text Placeholder 3"/>
          <p:cNvSpPr>
            <a:spLocks noGrp="1"/>
          </p:cNvSpPr>
          <p:nvPr>
            <p:ph type="body" sz="quarter" idx="13"/>
          </p:nvPr>
        </p:nvSpPr>
        <p:spPr>
          <a:xfrm>
            <a:off x="406400" y="942980"/>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8" name="Content Placeholder 2"/>
          <p:cNvSpPr>
            <a:spLocks noGrp="1"/>
          </p:cNvSpPr>
          <p:nvPr>
            <p:ph sz="quarter" idx="15"/>
          </p:nvPr>
        </p:nvSpPr>
        <p:spPr>
          <a:xfrm>
            <a:off x="4064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p:cNvSpPr>
            <a:spLocks noGrp="1"/>
          </p:cNvSpPr>
          <p:nvPr>
            <p:ph sz="quarter" idx="16"/>
          </p:nvPr>
        </p:nvSpPr>
        <p:spPr>
          <a:xfrm>
            <a:off x="60960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53473780"/>
      </p:ext>
    </p:extLst>
  </p:cSld>
  <p:clrMapOvr>
    <a:masterClrMapping/>
  </p:clrMapOvr>
  <p:extLst>
    <p:ext uri="{DCECCB84-F9BA-43D5-87BE-67443E8EF086}">
      <p15:sldGuideLst xmlns:p15="http://schemas.microsoft.com/office/powerpoint/2012/main">
        <p15:guide id="1" orient="horz" pos="594" userDrawn="1">
          <p15:clr>
            <a:srgbClr val="FBAE40"/>
          </p15:clr>
        </p15:guide>
        <p15:guide id="2" orient="horz" pos="516"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and Content - 1 Colum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0" y="1225550"/>
            <a:ext cx="11176000" cy="4718049"/>
          </a:xfrm>
          <a:prstGeom prst="rect">
            <a:avLst/>
          </a:prstGeom>
          <a:noFill/>
          <a:ln w="9525">
            <a:noFill/>
            <a:miter lim="800000"/>
            <a:headEnd/>
            <a:tailEnd/>
          </a:ln>
        </p:spPr>
        <p:txBody>
          <a:bodyPr/>
          <a:lstStyle>
            <a:lvl1pPr marL="0" indent="0">
              <a:buNone/>
              <a:defRPr sz="1800">
                <a:solidFill>
                  <a:schemeClr val="tx1">
                    <a:lumMod val="75000"/>
                    <a:lumOff val="25000"/>
                  </a:schemeClr>
                </a:solidFill>
              </a:defRPr>
            </a:lvl1pPr>
            <a:lvl2pPr>
              <a:defRPr sz="1800">
                <a:solidFill>
                  <a:schemeClr val="tx1">
                    <a:lumMod val="75000"/>
                    <a:lumOff val="25000"/>
                  </a:schemeClr>
                </a:solidFill>
              </a:defRPr>
            </a:lvl2pPr>
            <a:lvl3pPr>
              <a:defRPr sz="1500">
                <a:solidFill>
                  <a:schemeClr val="tx1">
                    <a:lumMod val="75000"/>
                    <a:lumOff val="25000"/>
                  </a:schemeClr>
                </a:solidFill>
              </a:defRPr>
            </a:lvl3pPr>
            <a:lvl4pPr>
              <a:defRPr sz="1500">
                <a:solidFill>
                  <a:schemeClr val="tx1">
                    <a:lumMod val="75000"/>
                    <a:lumOff val="25000"/>
                  </a:schemeClr>
                </a:solidFill>
              </a:defRPr>
            </a:lvl4pPr>
            <a:lvl5pPr>
              <a:defRPr sz="1500">
                <a:solidFill>
                  <a:schemeClr val="tx1">
                    <a:lumMod val="75000"/>
                    <a:lumOff val="25000"/>
                  </a:schemeClr>
                </a:solidFill>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Tree>
    <p:extLst>
      <p:ext uri="{BB962C8B-B14F-4D97-AF65-F5344CB8AC3E}">
        <p14:creationId xmlns:p14="http://schemas.microsoft.com/office/powerpoint/2010/main" val="39633878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Picture with Caption">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21" name="Text Placeholder 2"/>
          <p:cNvSpPr>
            <a:spLocks noGrp="1"/>
          </p:cNvSpPr>
          <p:nvPr>
            <p:ph idx="1"/>
          </p:nvPr>
        </p:nvSpPr>
        <p:spPr bwMode="auto">
          <a:xfrm>
            <a:off x="406403" y="5834379"/>
            <a:ext cx="8470900" cy="328296"/>
          </a:xfrm>
          <a:prstGeom prst="rect">
            <a:avLst/>
          </a:prstGeom>
          <a:noFill/>
          <a:ln w="9525">
            <a:noFill/>
            <a:miter lim="800000"/>
            <a:headEnd/>
            <a:tailEnd/>
          </a:ln>
        </p:spPr>
        <p:txBody>
          <a:bodyPr lIns="91440" tIns="0" numCol="1"/>
          <a:lstStyle>
            <a:lvl1pPr marL="0" indent="0">
              <a:buNone/>
              <a:defRPr sz="1200">
                <a:solidFill>
                  <a:schemeClr val="tx1">
                    <a:lumMod val="75000"/>
                    <a:lumOff val="25000"/>
                  </a:schemeClr>
                </a:solidFill>
              </a:defRPr>
            </a:lvl1pPr>
            <a:lvl2pPr>
              <a:defRPr sz="1800">
                <a:solidFill>
                  <a:srgbClr val="83847A"/>
                </a:solidFill>
              </a:defRPr>
            </a:lvl2pPr>
            <a:lvl3pPr>
              <a:defRPr sz="1500">
                <a:solidFill>
                  <a:srgbClr val="83847A"/>
                </a:solidFill>
              </a:defRPr>
            </a:lvl3pPr>
            <a:lvl4pPr>
              <a:defRPr sz="1500">
                <a:solidFill>
                  <a:srgbClr val="83847A"/>
                </a:solidFill>
              </a:defRPr>
            </a:lvl4pPr>
            <a:lvl5pPr>
              <a:defRPr sz="1500">
                <a:solidFill>
                  <a:srgbClr val="83847A"/>
                </a:solidFill>
              </a:defRPr>
            </a:lvl5pPr>
          </a:lstStyle>
          <a:p>
            <a:pPr lvl="0"/>
            <a:r>
              <a:rPr lang="en-US" noProof="0" dirty="0"/>
              <a:t>Click to edit Master text styles</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3" name="Picture Placeholder 2"/>
          <p:cNvSpPr>
            <a:spLocks noGrp="1"/>
          </p:cNvSpPr>
          <p:nvPr>
            <p:ph type="pic" sz="quarter" idx="12"/>
          </p:nvPr>
        </p:nvSpPr>
        <p:spPr>
          <a:xfrm>
            <a:off x="406400" y="942975"/>
            <a:ext cx="11176000" cy="4761228"/>
          </a:xfrm>
        </p:spPr>
        <p:txBody>
          <a:bodyPr/>
          <a:lstStyle/>
          <a:p>
            <a:endParaRPr lang="en-US"/>
          </a:p>
        </p:txBody>
      </p:sp>
    </p:spTree>
    <p:extLst>
      <p:ext uri="{BB962C8B-B14F-4D97-AF65-F5344CB8AC3E}">
        <p14:creationId xmlns:p14="http://schemas.microsoft.com/office/powerpoint/2010/main" val="1004871777"/>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5335612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1687"/>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6" name="Text Placeholder 3"/>
          <p:cNvSpPr>
            <a:spLocks noGrp="1"/>
          </p:cNvSpPr>
          <p:nvPr>
            <p:ph type="body" sz="quarter" idx="3"/>
          </p:nvPr>
        </p:nvSpPr>
        <p:spPr>
          <a:xfrm>
            <a:off x="6096000" y="1230511"/>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9" name="Text Placeholder 3"/>
          <p:cNvSpPr>
            <a:spLocks noGrp="1"/>
          </p:cNvSpPr>
          <p:nvPr>
            <p:ph type="body" sz="quarter" idx="13"/>
          </p:nvPr>
        </p:nvSpPr>
        <p:spPr>
          <a:xfrm>
            <a:off x="406400" y="1230516"/>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3" name="Content Placeholder 2"/>
          <p:cNvSpPr>
            <a:spLocks noGrp="1"/>
          </p:cNvSpPr>
          <p:nvPr>
            <p:ph sz="quarter" idx="15"/>
          </p:nvPr>
        </p:nvSpPr>
        <p:spPr>
          <a:xfrm>
            <a:off x="4064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981200"/>
            <a:ext cx="5486400" cy="3962400"/>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198887137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 2 Odd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3" y="1225550"/>
            <a:ext cx="35941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4127503" y="1225550"/>
            <a:ext cx="7454900" cy="471805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Tree>
    <p:extLst>
      <p:ext uri="{BB962C8B-B14F-4D97-AF65-F5344CB8AC3E}">
        <p14:creationId xmlns:p14="http://schemas.microsoft.com/office/powerpoint/2010/main" val="344259025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 Quad-Chart">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42"/>
            <a:ext cx="11176000" cy="806451"/>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3" name="Content Placeholder 2"/>
          <p:cNvSpPr>
            <a:spLocks noGrp="1"/>
          </p:cNvSpPr>
          <p:nvPr>
            <p:ph sz="quarter" idx="15"/>
          </p:nvPr>
        </p:nvSpPr>
        <p:spPr>
          <a:xfrm>
            <a:off x="4064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2"/>
          <p:cNvSpPr>
            <a:spLocks noGrp="1"/>
          </p:cNvSpPr>
          <p:nvPr>
            <p:ph sz="quarter" idx="16"/>
          </p:nvPr>
        </p:nvSpPr>
        <p:spPr>
          <a:xfrm>
            <a:off x="6096000" y="1225550"/>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p:cNvSpPr>
            <a:spLocks noGrp="1"/>
          </p:cNvSpPr>
          <p:nvPr>
            <p:ph type="sldNum" sz="quarter" idx="17"/>
          </p:nvPr>
        </p:nvSpPr>
        <p:spPr/>
        <p:txBody>
          <a:bodyPr/>
          <a:lstStyle>
            <a:lvl1pPr>
              <a:defRPr/>
            </a:lvl1pPr>
          </a:lstStyle>
          <a:p>
            <a:fld id="{3B773CDB-7973-454B-9699-5CCFA043586B}" type="slidenum">
              <a:rPr lang="en-US"/>
              <a:pPr/>
              <a:t>‹#›</a:t>
            </a:fld>
            <a:endParaRPr lang="en-US"/>
          </a:p>
        </p:txBody>
      </p:sp>
      <p:sp>
        <p:nvSpPr>
          <p:cNvPr id="6" name="Content Placeholder 2"/>
          <p:cNvSpPr>
            <a:spLocks noGrp="1"/>
          </p:cNvSpPr>
          <p:nvPr>
            <p:ph sz="quarter" idx="18"/>
          </p:nvPr>
        </p:nvSpPr>
        <p:spPr>
          <a:xfrm>
            <a:off x="4064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p:cNvSpPr>
            <a:spLocks noGrp="1"/>
          </p:cNvSpPr>
          <p:nvPr>
            <p:ph sz="quarter" idx="19"/>
          </p:nvPr>
        </p:nvSpPr>
        <p:spPr>
          <a:xfrm>
            <a:off x="6096000" y="3597275"/>
            <a:ext cx="5486400" cy="2286000"/>
          </a:xfrm>
        </p:spPr>
        <p:txBody>
          <a:bodyPr/>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p:cNvCxnSpPr/>
          <p:nvPr userDrawn="1"/>
        </p:nvCxnSpPr>
        <p:spPr>
          <a:xfrm>
            <a:off x="406400" y="3549650"/>
            <a:ext cx="11176000"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5990527" y="1225554"/>
            <a:ext cx="0" cy="4657725"/>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27155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hort Title - Sub-Head 2 Sections">
    <p:spTree>
      <p:nvGrpSpPr>
        <p:cNvPr id="1" name=""/>
        <p:cNvGrpSpPr/>
        <p:nvPr/>
      </p:nvGrpSpPr>
      <p:grpSpPr>
        <a:xfrm>
          <a:off x="0" y="0"/>
          <a:ext cx="0" cy="0"/>
          <a:chOff x="0" y="0"/>
          <a:chExt cx="0" cy="0"/>
        </a:xfrm>
      </p:grpSpPr>
      <p:sp>
        <p:nvSpPr>
          <p:cNvPr id="14" name="Title Placeholder 1"/>
          <p:cNvSpPr>
            <a:spLocks noGrp="1"/>
          </p:cNvSpPr>
          <p:nvPr>
            <p:ph type="title"/>
          </p:nvPr>
        </p:nvSpPr>
        <p:spPr bwMode="auto">
          <a:xfrm>
            <a:off x="406400" y="274638"/>
            <a:ext cx="11176000" cy="538162"/>
          </a:xfrm>
          <a:prstGeom prst="rect">
            <a:avLst/>
          </a:prstGeom>
          <a:noFill/>
          <a:ln w="9525">
            <a:noFill/>
            <a:miter lim="800000"/>
            <a:headEnd/>
            <a:tailEnd/>
          </a:ln>
        </p:spPr>
        <p:txBody>
          <a:bodyPr/>
          <a:lstStyle>
            <a:lvl1pPr>
              <a:defRPr baseline="0">
                <a:solidFill>
                  <a:schemeClr val="tx1">
                    <a:lumMod val="75000"/>
                    <a:lumOff val="25000"/>
                  </a:schemeClr>
                </a:solidFill>
              </a:defRPr>
            </a:lvl1pPr>
          </a:lstStyle>
          <a:p>
            <a:pPr lvl="0"/>
            <a:r>
              <a:rPr lang="en-US" dirty="0"/>
              <a:t>Click to edit Master title style</a:t>
            </a:r>
          </a:p>
        </p:txBody>
      </p:sp>
      <p:sp>
        <p:nvSpPr>
          <p:cNvPr id="5" name="Slide Number Placeholder 5"/>
          <p:cNvSpPr>
            <a:spLocks noGrp="1"/>
          </p:cNvSpPr>
          <p:nvPr>
            <p:ph type="sldNum" sz="quarter" idx="11"/>
          </p:nvPr>
        </p:nvSpPr>
        <p:spPr/>
        <p:txBody>
          <a:bodyPr/>
          <a:lstStyle>
            <a:lvl1pPr>
              <a:defRPr/>
            </a:lvl1pPr>
          </a:lstStyle>
          <a:p>
            <a:fld id="{9A257827-C34C-4251-B995-96C9C233CCC8}" type="slidenum">
              <a:rPr lang="en-US"/>
              <a:pPr/>
              <a:t>‹#›</a:t>
            </a:fld>
            <a:endParaRPr lang="en-US"/>
          </a:p>
        </p:txBody>
      </p:sp>
      <p:sp>
        <p:nvSpPr>
          <p:cNvPr id="6" name="Text Placeholder 3"/>
          <p:cNvSpPr>
            <a:spLocks noGrp="1"/>
          </p:cNvSpPr>
          <p:nvPr>
            <p:ph type="body" sz="quarter" idx="3"/>
          </p:nvPr>
        </p:nvSpPr>
        <p:spPr>
          <a:xfrm>
            <a:off x="6096000" y="942975"/>
            <a:ext cx="5486400" cy="663266"/>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7" name="Text Placeholder 3"/>
          <p:cNvSpPr>
            <a:spLocks noGrp="1"/>
          </p:cNvSpPr>
          <p:nvPr>
            <p:ph type="body" sz="quarter" idx="13"/>
          </p:nvPr>
        </p:nvSpPr>
        <p:spPr>
          <a:xfrm>
            <a:off x="406400" y="942980"/>
            <a:ext cx="5486400" cy="666241"/>
          </a:xfrm>
        </p:spPr>
        <p:txBody>
          <a:bodyPr bIns="0" anchor="b"/>
          <a:lstStyle>
            <a:lvl1pPr>
              <a:defRPr sz="1350">
                <a:solidFill>
                  <a:schemeClr val="tx1">
                    <a:lumMod val="75000"/>
                    <a:lumOff val="25000"/>
                  </a:schemeClr>
                </a:solidFill>
              </a:defRPr>
            </a:lvl1pPr>
          </a:lstStyle>
          <a:p>
            <a:pPr lvl="0"/>
            <a:r>
              <a:rPr lang="en-US" dirty="0"/>
              <a:t>Click to edit Master text styles</a:t>
            </a:r>
          </a:p>
        </p:txBody>
      </p:sp>
      <p:sp>
        <p:nvSpPr>
          <p:cNvPr id="8" name="Content Placeholder 2"/>
          <p:cNvSpPr>
            <a:spLocks noGrp="1"/>
          </p:cNvSpPr>
          <p:nvPr>
            <p:ph sz="quarter" idx="15"/>
          </p:nvPr>
        </p:nvSpPr>
        <p:spPr>
          <a:xfrm>
            <a:off x="4064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p:cNvSpPr>
            <a:spLocks noGrp="1"/>
          </p:cNvSpPr>
          <p:nvPr>
            <p:ph sz="quarter" idx="16"/>
          </p:nvPr>
        </p:nvSpPr>
        <p:spPr>
          <a:xfrm>
            <a:off x="6096000" y="1693664"/>
            <a:ext cx="5486400" cy="4230886"/>
          </a:xfrm>
        </p:spPr>
        <p:txBody>
          <a:bodyPr tIns="0"/>
          <a:lstStyle>
            <a:lvl1pPr>
              <a:defRPr sz="1200">
                <a:solidFill>
                  <a:schemeClr val="tx1">
                    <a:lumMod val="75000"/>
                    <a:lumOff val="25000"/>
                  </a:schemeClr>
                </a:solidFill>
              </a:defRPr>
            </a:lvl1pPr>
            <a:lvl2pPr>
              <a:defRPr sz="1200">
                <a:solidFill>
                  <a:schemeClr val="tx1">
                    <a:lumMod val="75000"/>
                    <a:lumOff val="25000"/>
                  </a:schemeClr>
                </a:solidFill>
              </a:defRPr>
            </a:lvl2pPr>
            <a:lvl3pPr>
              <a:defRPr sz="1200">
                <a:solidFill>
                  <a:schemeClr val="tx1">
                    <a:lumMod val="75000"/>
                    <a:lumOff val="25000"/>
                  </a:schemeClr>
                </a:solidFill>
              </a:defRPr>
            </a:lvl3pPr>
            <a:lvl4pPr>
              <a:defRPr sz="1200">
                <a:solidFill>
                  <a:schemeClr val="tx1">
                    <a:lumMod val="75000"/>
                    <a:lumOff val="25000"/>
                  </a:schemeClr>
                </a:solidFill>
              </a:defRPr>
            </a:lvl4pPr>
            <a:lvl5pPr>
              <a:defRPr sz="1200">
                <a:solidFill>
                  <a:schemeClr val="tx1">
                    <a:lumMod val="75000"/>
                    <a:lumOff val="2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4653806"/>
      </p:ext>
    </p:extLst>
  </p:cSld>
  <p:clrMapOvr>
    <a:masterClrMapping/>
  </p:clrMapOvr>
  <p:extLst>
    <p:ext uri="{DCECCB84-F9BA-43D5-87BE-67443E8EF086}">
      <p15:sldGuideLst xmlns:p15="http://schemas.microsoft.com/office/powerpoint/2012/main">
        <p15:guide id="1" orient="horz" pos="594">
          <p15:clr>
            <a:srgbClr val="FBAE40"/>
          </p15:clr>
        </p15:guide>
        <p15:guide id="2" orient="horz" pos="516">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jpg"/><Relationship Id="rId4" Type="http://schemas.openxmlformats.org/officeDocument/2006/relationships/image" Target="../media/image2.jp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4.xml"/><Relationship Id="rId7" Type="http://schemas.openxmlformats.org/officeDocument/2006/relationships/image" Target="../media/image5.png"/><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theme" Target="../theme/theme2.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9.xml"/><Relationship Id="rId7" Type="http://schemas.openxmlformats.org/officeDocument/2006/relationships/theme" Target="../theme/theme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 Id="rId9" Type="http://schemas.openxmlformats.org/officeDocument/2006/relationships/image" Target="../media/image6.png"/></Relationships>
</file>

<file path=ppt/slideMasters/_rels/slideMaster4.xml.rels><?xml version="1.0" encoding="UTF-8" standalone="yes"?>
<Relationships xmlns="http://schemas.openxmlformats.org/package/2006/relationships"><Relationship Id="rId8" Type="http://schemas.openxmlformats.org/officeDocument/2006/relationships/theme" Target="../theme/theme4.xml"/><Relationship Id="rId3" Type="http://schemas.openxmlformats.org/officeDocument/2006/relationships/slideLayout" Target="../slideLayouts/slideLayout15.xml"/><Relationship Id="rId7" Type="http://schemas.openxmlformats.org/officeDocument/2006/relationships/slideLayout" Target="../slideLayouts/slideLayout19.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10" Type="http://schemas.openxmlformats.org/officeDocument/2006/relationships/image" Target="../media/image6.png"/><Relationship Id="rId4" Type="http://schemas.openxmlformats.org/officeDocument/2006/relationships/slideLayout" Target="../slideLayouts/slideLayout16.xml"/><Relationship Id="rId9" Type="http://schemas.openxmlformats.org/officeDocument/2006/relationships/image" Target="../media/image5.png"/></Relationships>
</file>

<file path=ppt/slideMasters/_rels/slideMaster5.xml.rels><?xml version="1.0" encoding="UTF-8" standalone="yes"?>
<Relationships xmlns="http://schemas.openxmlformats.org/package/2006/relationships"><Relationship Id="rId8" Type="http://schemas.openxmlformats.org/officeDocument/2006/relationships/theme" Target="../theme/theme5.xml"/><Relationship Id="rId3" Type="http://schemas.openxmlformats.org/officeDocument/2006/relationships/slideLayout" Target="../slideLayouts/slideLayout22.xml"/><Relationship Id="rId7" Type="http://schemas.openxmlformats.org/officeDocument/2006/relationships/slideLayout" Target="../slideLayouts/slideLayout26.xml"/><Relationship Id="rId2" Type="http://schemas.openxmlformats.org/officeDocument/2006/relationships/slideLayout" Target="../slideLayouts/slideLayout21.xml"/><Relationship Id="rId1" Type="http://schemas.openxmlformats.org/officeDocument/2006/relationships/slideLayout" Target="../slideLayouts/slideLayout20.xml"/><Relationship Id="rId6" Type="http://schemas.openxmlformats.org/officeDocument/2006/relationships/slideLayout" Target="../slideLayouts/slideLayout25.xml"/><Relationship Id="rId5" Type="http://schemas.openxmlformats.org/officeDocument/2006/relationships/slideLayout" Target="../slideLayouts/slideLayout24.xml"/><Relationship Id="rId4" Type="http://schemas.openxmlformats.org/officeDocument/2006/relationships/slideLayout" Target="../slideLayouts/slideLayout23.xml"/><Relationship Id="rId9"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6" name="Picture Placeholder 7">
            <a:extLst>
              <a:ext uri="{FF2B5EF4-FFF2-40B4-BE49-F238E27FC236}">
                <a16:creationId xmlns:a16="http://schemas.microsoft.com/office/drawing/2014/main" id="{C930DDFD-C2CD-854E-EAA8-FC5C400F36B6}"/>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16284"/>
          <a:stretch/>
        </p:blipFill>
        <p:spPr>
          <a:xfrm>
            <a:off x="7149290" y="3082338"/>
            <a:ext cx="2150384" cy="2445851"/>
          </a:xfrm>
          <a:prstGeom prst="rect">
            <a:avLst/>
          </a:prstGeom>
          <a:ln w="19050">
            <a:solidFill>
              <a:schemeClr val="tx1"/>
            </a:solidFill>
          </a:ln>
        </p:spPr>
      </p:pic>
      <p:pic>
        <p:nvPicPr>
          <p:cNvPr id="7" name="Picture 6" descr="A body of water&#10;&#10;Description automatically generated">
            <a:extLst>
              <a:ext uri="{FF2B5EF4-FFF2-40B4-BE49-F238E27FC236}">
                <a16:creationId xmlns:a16="http://schemas.microsoft.com/office/drawing/2014/main" id="{8D345744-4BB6-A552-A696-3E29F74BAC85}"/>
              </a:ext>
            </a:extLst>
          </p:cNvPr>
          <p:cNvPicPr>
            <a:picLocks noChangeAspect="1"/>
          </p:cNvPicPr>
          <p:nvPr userDrawn="1"/>
        </p:nvPicPr>
        <p:blipFill rotWithShape="1">
          <a:blip r:embed="rId4"/>
          <a:srcRect l="16078" r="16094"/>
          <a:stretch/>
        </p:blipFill>
        <p:spPr>
          <a:xfrm>
            <a:off x="9299674" y="3081534"/>
            <a:ext cx="2433110" cy="2445849"/>
          </a:xfrm>
          <a:prstGeom prst="rect">
            <a:avLst/>
          </a:prstGeom>
          <a:ln w="19050">
            <a:solidFill>
              <a:schemeClr val="tx1"/>
            </a:solidFill>
          </a:ln>
        </p:spPr>
      </p:pic>
      <p:pic>
        <p:nvPicPr>
          <p:cNvPr id="5" name="Picture 4" descr="A picture containing tree, water, outdoor, nature&#10;&#10;Description automatically generated">
            <a:extLst>
              <a:ext uri="{FF2B5EF4-FFF2-40B4-BE49-F238E27FC236}">
                <a16:creationId xmlns:a16="http://schemas.microsoft.com/office/drawing/2014/main" id="{CC7E3D49-3990-21E2-46AF-4FE1C764392F}"/>
              </a:ext>
            </a:extLst>
          </p:cNvPr>
          <p:cNvPicPr>
            <a:picLocks noChangeAspect="1"/>
          </p:cNvPicPr>
          <p:nvPr userDrawn="1"/>
        </p:nvPicPr>
        <p:blipFill>
          <a:blip r:embed="rId5"/>
          <a:stretch>
            <a:fillRect/>
          </a:stretch>
        </p:blipFill>
        <p:spPr>
          <a:xfrm>
            <a:off x="7149290" y="516571"/>
            <a:ext cx="4583494" cy="2558088"/>
          </a:xfrm>
          <a:prstGeom prst="rect">
            <a:avLst/>
          </a:prstGeom>
          <a:ln w="19050">
            <a:solidFill>
              <a:schemeClr val="tx1"/>
            </a:solidFill>
          </a:ln>
        </p:spPr>
      </p:pic>
      <p:pic>
        <p:nvPicPr>
          <p:cNvPr id="2" name="Picture 1"/>
          <p:cNvPicPr>
            <a:picLocks noChangeAspect="1"/>
          </p:cNvPicPr>
          <p:nvPr userDrawn="1"/>
        </p:nvPicPr>
        <p:blipFill>
          <a:blip r:embed="rId6"/>
          <a:stretch>
            <a:fillRect/>
          </a:stretch>
        </p:blipFill>
        <p:spPr>
          <a:xfrm>
            <a:off x="0" y="0"/>
            <a:ext cx="12192000" cy="6858000"/>
          </a:xfrm>
          <a:prstGeom prst="rect">
            <a:avLst/>
          </a:prstGeom>
        </p:spPr>
      </p:pic>
      <p:sp>
        <p:nvSpPr>
          <p:cNvPr id="20" name="Footer Placeholder 19"/>
          <p:cNvSpPr>
            <a:spLocks noGrp="1"/>
          </p:cNvSpPr>
          <p:nvPr userDrawn="1">
            <p:ph type="ftr" sz="quarter" idx="3"/>
          </p:nvPr>
        </p:nvSpPr>
        <p:spPr>
          <a:xfrm>
            <a:off x="125346" y="6504409"/>
            <a:ext cx="4214284" cy="365125"/>
          </a:xfrm>
          <a:prstGeom prst="rect">
            <a:avLst/>
          </a:prstGeom>
        </p:spPr>
        <p:txBody>
          <a:bodyPr vert="horz" lIns="91440" tIns="45720" rIns="91440" bIns="45720" rtlCol="0" anchor="ctr"/>
          <a:lstStyle>
            <a:lvl1pPr algn="l">
              <a:defRPr sz="750">
                <a:solidFill>
                  <a:schemeClr val="bg1"/>
                </a:solidFill>
              </a:defRPr>
            </a:lvl1pPr>
          </a:lstStyle>
          <a:p>
            <a:r>
              <a:rPr lang="en-US"/>
              <a:t>File Name</a:t>
            </a:r>
            <a:endParaRPr lang="en-US" dirty="0"/>
          </a:p>
        </p:txBody>
      </p:sp>
      <p:sp>
        <p:nvSpPr>
          <p:cNvPr id="41" name="Title Placeholder 17"/>
          <p:cNvSpPr>
            <a:spLocks noGrp="1"/>
          </p:cNvSpPr>
          <p:nvPr userDrawn="1">
            <p:ph type="title"/>
          </p:nvPr>
        </p:nvSpPr>
        <p:spPr>
          <a:xfrm>
            <a:off x="654050" y="1606545"/>
            <a:ext cx="7984853" cy="1273816"/>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16" name="Text Placeholder 15"/>
          <p:cNvSpPr>
            <a:spLocks noGrp="1"/>
          </p:cNvSpPr>
          <p:nvPr userDrawn="1">
            <p:ph type="body" idx="1"/>
          </p:nvPr>
        </p:nvSpPr>
        <p:spPr>
          <a:xfrm>
            <a:off x="654050" y="2505109"/>
            <a:ext cx="7984853" cy="2781908"/>
          </a:xfrm>
          <a:prstGeom prst="rect">
            <a:avLst/>
          </a:prstGeom>
        </p:spPr>
        <p:txBody>
          <a:bodyPr vert="horz" lIns="91440" tIns="45720" rIns="91440" bIns="45720" rtlCol="0">
            <a:normAutofit/>
          </a:bodyPr>
          <a:lstStyle/>
          <a:p>
            <a:pPr lvl="0"/>
            <a:r>
              <a:rPr lang="en-US" dirty="0"/>
              <a:t>Click to edit Master text styles</a:t>
            </a:r>
          </a:p>
        </p:txBody>
      </p:sp>
      <p:sp>
        <p:nvSpPr>
          <p:cNvPr id="15" name="Slide Number Placeholder 5"/>
          <p:cNvSpPr>
            <a:spLocks noGrp="1"/>
          </p:cNvSpPr>
          <p:nvPr userDrawn="1">
            <p:ph type="sldNum" sz="quarter" idx="4"/>
          </p:nvPr>
        </p:nvSpPr>
        <p:spPr>
          <a:xfrm>
            <a:off x="11190668" y="6577159"/>
            <a:ext cx="977900" cy="365125"/>
          </a:xfrm>
          <a:prstGeom prst="rect">
            <a:avLst/>
          </a:prstGeom>
          <a:ln w="57150">
            <a:noFill/>
          </a:ln>
        </p:spPr>
        <p:txBody>
          <a:bodyPr/>
          <a:lstStyle>
            <a:lvl1pPr algn="r">
              <a:defRPr sz="900">
                <a:solidFill>
                  <a:schemeClr val="tx1">
                    <a:lumMod val="65000"/>
                    <a:lumOff val="35000"/>
                  </a:schemeClr>
                </a:solidFill>
                <a:latin typeface="+mn-lt"/>
              </a:defRPr>
            </a:lvl1pPr>
          </a:lstStyle>
          <a:p>
            <a:fld id="{0D0E9D3B-CB56-40AE-B0A9-8DA5E1AEFDB7}" type="slidenum">
              <a:rPr lang="en-US" smtClean="0"/>
              <a:pPr/>
              <a:t>‹#›</a:t>
            </a:fld>
            <a:endParaRPr lang="en-US" dirty="0"/>
          </a:p>
        </p:txBody>
      </p:sp>
      <p:cxnSp>
        <p:nvCxnSpPr>
          <p:cNvPr id="18" name="Straight Connector 17">
            <a:extLst>
              <a:ext uri="{FF2B5EF4-FFF2-40B4-BE49-F238E27FC236}">
                <a16:creationId xmlns:a16="http://schemas.microsoft.com/office/drawing/2014/main" id="{3D665B91-8567-DD4A-BD2E-E719F20E35F0}"/>
              </a:ext>
            </a:extLst>
          </p:cNvPr>
          <p:cNvCxnSpPr/>
          <p:nvPr userDrawn="1"/>
        </p:nvCxnSpPr>
        <p:spPr>
          <a:xfrm flipH="1">
            <a:off x="1476587" y="6373877"/>
            <a:ext cx="1020741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9A2EE2D-7BB5-4F44-82C4-5CF4EE388EFF}"/>
              </a:ext>
            </a:extLst>
          </p:cNvPr>
          <p:cNvSpPr txBox="1"/>
          <p:nvPr userDrawn="1"/>
        </p:nvSpPr>
        <p:spPr>
          <a:xfrm>
            <a:off x="6224694" y="6442287"/>
            <a:ext cx="5567680" cy="246221"/>
          </a:xfrm>
          <a:prstGeom prst="rect">
            <a:avLst/>
          </a:prstGeom>
          <a:noFill/>
        </p:spPr>
        <p:txBody>
          <a:bodyPr wrap="square" rtlCol="0">
            <a:spAutoFit/>
          </a:bodyPr>
          <a:lstStyle/>
          <a:p>
            <a:pPr algn="r"/>
            <a:r>
              <a:rPr lang="en-US" sz="1000" i="1" dirty="0">
                <a:solidFill>
                  <a:prstClr val="black"/>
                </a:solidFill>
              </a:rPr>
              <a:t>DISCOVER  |  DEVELOP  |  DELIVER</a:t>
            </a:r>
          </a:p>
        </p:txBody>
      </p:sp>
    </p:spTree>
    <p:extLst>
      <p:ext uri="{BB962C8B-B14F-4D97-AF65-F5344CB8AC3E}">
        <p14:creationId xmlns:p14="http://schemas.microsoft.com/office/powerpoint/2010/main" val="2919789318"/>
      </p:ext>
    </p:extLst>
  </p:cSld>
  <p:clrMap bg1="lt1" tx1="dk1" bg2="lt2" tx2="dk2" accent1="accent1" accent2="accent2" accent3="accent3" accent4="accent4" accent5="accent5" accent6="accent6" hlink="hlink" folHlink="folHlink"/>
  <p:sldLayoutIdLst>
    <p:sldLayoutId id="2147484251" r:id="rId1"/>
  </p:sldLayoutIdLst>
  <p:hf hdr="0" dt="0"/>
  <p:txStyles>
    <p:titleStyle>
      <a:lvl1pPr algn="l" defTabSz="685800" rtl="0" eaLnBrk="1" latinLnBrk="0" hangingPunct="1">
        <a:lnSpc>
          <a:spcPct val="100000"/>
        </a:lnSpc>
        <a:spcBef>
          <a:spcPct val="0"/>
        </a:spcBef>
        <a:buNone/>
        <a:defRPr sz="2700" b="1" kern="1200" cap="all" baseline="0">
          <a:solidFill>
            <a:schemeClr val="bg1"/>
          </a:solidFill>
          <a:latin typeface="Arial" panose="020B0604020202020204" pitchFamily="34" charset="0"/>
          <a:ea typeface="+mj-ea"/>
          <a:cs typeface="Arial" panose="020B0604020202020204" pitchFamily="34" charset="0"/>
        </a:defRPr>
      </a:lvl1pPr>
    </p:titleStyle>
    <p:bodyStyle>
      <a:lvl1pPr marL="0" indent="0" algn="l" defTabSz="685800" rtl="0" eaLnBrk="1" latinLnBrk="0" hangingPunct="1">
        <a:lnSpc>
          <a:spcPct val="90000"/>
        </a:lnSpc>
        <a:spcBef>
          <a:spcPts val="750"/>
        </a:spcBef>
        <a:buFont typeface="Arial" panose="020B0604020202020204" pitchFamily="34" charset="0"/>
        <a:buNone/>
        <a:defRPr sz="2000" b="1"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 userDrawn="1">
          <p15:clr>
            <a:srgbClr val="5ACBF0"/>
          </p15:clr>
        </p15:guide>
        <p15:guide id="2" pos="6144"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7"/>
          <a:stretch>
            <a:fillRect/>
          </a:stretch>
        </p:blipFill>
        <p:spPr>
          <a:xfrm>
            <a:off x="0" y="0"/>
            <a:ext cx="12192000" cy="6857999"/>
          </a:xfrm>
          <a:prstGeom prst="rect">
            <a:avLst/>
          </a:prstGeom>
        </p:spPr>
      </p:pic>
      <p:sp>
        <p:nvSpPr>
          <p:cNvPr id="10" name="Rounded Rectangle 9">
            <a:extLst>
              <a:ext uri="{FF2B5EF4-FFF2-40B4-BE49-F238E27FC236}">
                <a16:creationId xmlns:a16="http://schemas.microsoft.com/office/drawing/2014/main" id="{4CAF9F99-F54C-A57F-DAA4-B479617EFA28}"/>
              </a:ext>
            </a:extLst>
          </p:cNvPr>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11201046" y="6580037"/>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8"/>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//CUI//</a:t>
            </a: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//CUI//</a:t>
            </a:r>
          </a:p>
        </p:txBody>
      </p:sp>
    </p:spTree>
    <p:extLst>
      <p:ext uri="{BB962C8B-B14F-4D97-AF65-F5344CB8AC3E}">
        <p14:creationId xmlns:p14="http://schemas.microsoft.com/office/powerpoint/2010/main" val="2080234048"/>
      </p:ext>
    </p:extLst>
  </p:cSld>
  <p:clrMap bg1="lt1" tx1="dk1" bg2="lt2" tx2="dk2" accent1="accent1" accent2="accent2" accent3="accent3" accent4="accent4" accent5="accent5" accent6="accent6" hlink="hlink" folHlink="folHlink"/>
  <p:sldLayoutIdLst>
    <p:sldLayoutId id="2147484302" r:id="rId1"/>
    <p:sldLayoutId id="2147484308" r:id="rId2"/>
    <p:sldLayoutId id="2147484316" r:id="rId3"/>
    <p:sldLayoutId id="2147484309" r:id="rId4"/>
    <p:sldLayoutId id="2147484310" r:id="rId5"/>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chemeClr val="tx1"/>
        </a:buClr>
        <a:buFont typeface="Wingdings" panose="05000000000000000000" pitchFamily="2" charset="2"/>
        <a:buChar char="§"/>
        <a:defRPr sz="2000" b="1" kern="120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chemeClr val="tx1"/>
        </a:buClr>
        <a:buFont typeface="Arial" pitchFamily="34" charset="0"/>
        <a:buChar char="•"/>
        <a:defRPr sz="1800" b="1" kern="120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chemeClr val="tx1"/>
        </a:buClr>
        <a:buSzPct val="70000"/>
        <a:buFont typeface="Arial" panose="020B0604020202020204" pitchFamily="34" charset="0"/>
        <a:buChar char="►"/>
        <a:defRPr sz="1600" b="1" kern="120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Clr>
          <a:schemeClr val="tx1"/>
        </a:buClr>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Clr>
          <a:schemeClr val="tx1"/>
        </a:buClr>
        <a:buFont typeface="Arial" pitchFamily="34" charset="0"/>
        <a:buChar char="»"/>
        <a:defRPr sz="1600" b="1" kern="120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8"/>
          <a:stretch>
            <a:fillRect/>
          </a:stretch>
        </p:blipFill>
        <p:spPr>
          <a:xfrm>
            <a:off x="0" y="0"/>
            <a:ext cx="12192000" cy="6857999"/>
          </a:xfrm>
          <a:prstGeom prst="rect">
            <a:avLst/>
          </a:prstGeom>
        </p:spPr>
      </p:pic>
      <p:sp>
        <p:nvSpPr>
          <p:cNvPr id="11" name="Rounded Rectangle 10"/>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buClr>
                <a:schemeClr val="tx1"/>
              </a:buClr>
            </a:pPr>
            <a:r>
              <a:rPr lang="en-US" dirty="0"/>
              <a:t>Click to edit Master text styles</a:t>
            </a:r>
          </a:p>
          <a:p>
            <a:pPr lvl="1">
              <a:buClr>
                <a:schemeClr val="tx1"/>
              </a:buClr>
            </a:pPr>
            <a:r>
              <a:rPr lang="en-US" dirty="0"/>
              <a:t>Second level</a:t>
            </a:r>
          </a:p>
          <a:p>
            <a:pPr lvl="2">
              <a:buClr>
                <a:schemeClr val="tx1"/>
              </a:buClr>
            </a:pPr>
            <a:r>
              <a:rPr lang="en-US" dirty="0"/>
              <a:t>Third level</a:t>
            </a:r>
          </a:p>
          <a:p>
            <a:pPr lvl="3">
              <a:buClr>
                <a:schemeClr val="tx1"/>
              </a:buClr>
            </a:pPr>
            <a:r>
              <a:rPr lang="en-US" dirty="0"/>
              <a:t>Fourth level</a:t>
            </a:r>
          </a:p>
          <a:p>
            <a:pPr lvl="4">
              <a:buClr>
                <a:schemeClr val="tx1"/>
              </a:buClr>
            </a:pPr>
            <a:r>
              <a:rPr lang="en-US" dirty="0"/>
              <a:t>Fifth level</a:t>
            </a:r>
          </a:p>
        </p:txBody>
      </p:sp>
      <p:sp>
        <p:nvSpPr>
          <p:cNvPr id="6" name="Slide Number Placeholder 5"/>
          <p:cNvSpPr>
            <a:spLocks noGrp="1"/>
          </p:cNvSpPr>
          <p:nvPr>
            <p:ph type="sldNum" sz="quarter" idx="4"/>
          </p:nvPr>
        </p:nvSpPr>
        <p:spPr>
          <a:xfrm>
            <a:off x="11184570" y="6595360"/>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9"/>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UNCLASSIFIED</a:t>
            </a: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UNCLASSIFIED</a:t>
            </a:r>
          </a:p>
        </p:txBody>
      </p:sp>
    </p:spTree>
    <p:extLst>
      <p:ext uri="{BB962C8B-B14F-4D97-AF65-F5344CB8AC3E}">
        <p14:creationId xmlns:p14="http://schemas.microsoft.com/office/powerpoint/2010/main" val="799197940"/>
      </p:ext>
    </p:extLst>
  </p:cSld>
  <p:clrMap bg1="lt1" tx1="dk1" bg2="lt2" tx2="dk2" accent1="accent1" accent2="accent2" accent3="accent3" accent4="accent4" accent5="accent5" accent6="accent6" hlink="hlink" folHlink="folHlink"/>
  <p:sldLayoutIdLst>
    <p:sldLayoutId id="2147484312" r:id="rId1"/>
    <p:sldLayoutId id="2147484313" r:id="rId2"/>
    <p:sldLayoutId id="2147484314" r:id="rId3"/>
    <p:sldLayoutId id="2147484317" r:id="rId4"/>
    <p:sldLayoutId id="2147484315" r:id="rId5"/>
    <p:sldLayoutId id="2147484327" r:id="rId6"/>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lang="en-US" sz="2000" b="1" kern="1200" dirty="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lang="en-US" sz="1800" b="1" kern="1200" dirty="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9"/>
          <a:stretch>
            <a:fillRect/>
          </a:stretch>
        </p:blipFill>
        <p:spPr>
          <a:xfrm>
            <a:off x="0" y="0"/>
            <a:ext cx="12192000" cy="6857999"/>
          </a:xfrm>
          <a:prstGeom prst="rect">
            <a:avLst/>
          </a:prstGeom>
        </p:spPr>
      </p:pic>
      <p:sp>
        <p:nvSpPr>
          <p:cNvPr id="3" name="Rounded Rectangle 2">
            <a:extLst>
              <a:ext uri="{FF2B5EF4-FFF2-40B4-BE49-F238E27FC236}">
                <a16:creationId xmlns:a16="http://schemas.microsoft.com/office/drawing/2014/main" id="{C0E67D63-A09B-E760-5A10-8242BCEA7941}"/>
              </a:ext>
            </a:extLst>
          </p:cNvPr>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buClr>
                <a:schemeClr val="tx1"/>
              </a:buClr>
            </a:pPr>
            <a:r>
              <a:rPr lang="en-US" dirty="0"/>
              <a:t>Click to edit Master text styles</a:t>
            </a:r>
          </a:p>
          <a:p>
            <a:pPr lvl="1">
              <a:buClr>
                <a:schemeClr val="tx1"/>
              </a:buClr>
            </a:pPr>
            <a:r>
              <a:rPr lang="en-US" dirty="0"/>
              <a:t>Second level</a:t>
            </a:r>
          </a:p>
          <a:p>
            <a:pPr lvl="2">
              <a:buClr>
                <a:schemeClr val="tx1"/>
              </a:buClr>
            </a:pPr>
            <a:r>
              <a:rPr lang="en-US" dirty="0"/>
              <a:t>Third level</a:t>
            </a:r>
          </a:p>
          <a:p>
            <a:pPr lvl="3">
              <a:buClr>
                <a:schemeClr val="tx1"/>
              </a:buClr>
            </a:pPr>
            <a:r>
              <a:rPr lang="en-US" dirty="0"/>
              <a:t>Fourth level</a:t>
            </a:r>
          </a:p>
          <a:p>
            <a:pPr lvl="4">
              <a:buClr>
                <a:schemeClr val="tx1"/>
              </a:buClr>
            </a:pPr>
            <a:r>
              <a:rPr lang="en-US" dirty="0"/>
              <a:t>Fifth level</a:t>
            </a:r>
          </a:p>
        </p:txBody>
      </p:sp>
      <p:sp>
        <p:nvSpPr>
          <p:cNvPr id="6" name="Slide Number Placeholder 5"/>
          <p:cNvSpPr>
            <a:spLocks noGrp="1"/>
          </p:cNvSpPr>
          <p:nvPr>
            <p:ph type="sldNum" sz="quarter" idx="4"/>
          </p:nvPr>
        </p:nvSpPr>
        <p:spPr>
          <a:xfrm>
            <a:off x="11192808" y="6587122"/>
            <a:ext cx="969433" cy="365125"/>
          </a:xfrm>
          <a:prstGeom prst="rect">
            <a:avLst/>
          </a:prstGeom>
          <a:ln w="57150">
            <a:noFill/>
          </a:ln>
        </p:spPr>
        <p:txBody>
          <a:bodyPr/>
          <a:lstStyle>
            <a:lvl1pPr>
              <a:defRPr lang="en-US" sz="900" smtClean="0">
                <a:solidFill>
                  <a:schemeClr val="tx1">
                    <a:lumMod val="65000"/>
                    <a:lumOff val="35000"/>
                  </a:schemeClr>
                </a:solidFill>
                <a:latin typeface="+mn-lt"/>
              </a:defRPr>
            </a:lvl1pPr>
          </a:lstStyle>
          <a:p>
            <a:pPr algn="r"/>
            <a:fld id="{139BD942-CC14-44A4-87FB-46239297AFE5}" type="slidenum">
              <a:rPr lang="en-US" smtClean="0"/>
              <a:pPr algn="r"/>
              <a:t>‹#›</a:t>
            </a:fld>
            <a:endParaRPr lang="en-US" dirty="0"/>
          </a:p>
        </p:txBody>
      </p:sp>
      <p:pic>
        <p:nvPicPr>
          <p:cNvPr id="1033" name="Picture 6"/>
          <p:cNvPicPr>
            <a:picLocks noChangeAspect="1"/>
          </p:cNvPicPr>
          <p:nvPr/>
        </p:nvPicPr>
        <p:blipFill>
          <a:blip r:embed="rId10"/>
          <a:srcRect/>
          <a:stretch>
            <a:fillRect/>
          </a:stretch>
        </p:blipFill>
        <p:spPr bwMode="auto">
          <a:xfrm>
            <a:off x="6079067" y="3416305"/>
            <a:ext cx="25400" cy="3175"/>
          </a:xfrm>
          <a:prstGeom prst="rect">
            <a:avLst/>
          </a:prstGeom>
          <a:noFill/>
          <a:ln w="9525">
            <a:noFill/>
            <a:miter lim="800000"/>
            <a:headEnd/>
            <a:tailEnd/>
          </a:ln>
        </p:spPr>
      </p:pic>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t>US Army Corps of Engineers  </a:t>
            </a:r>
            <a:r>
              <a:rPr lang="en-US" sz="1400" dirty="0">
                <a:sym typeface="Symbol" panose="05050102010706020507" pitchFamily="18" charset="2"/>
              </a:rPr>
              <a:t></a:t>
            </a:r>
            <a:r>
              <a:rPr lang="en-US" sz="1400" dirty="0"/>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chemeClr val="bg2">
                    <a:lumMod val="50000"/>
                  </a:schemeClr>
                </a:solidFill>
              </a:rPr>
              <a:t>CLASSIFICATION</a:t>
            </a:r>
            <a:r>
              <a:rPr lang="en-US" sz="1000" b="1" baseline="0" dirty="0">
                <a:solidFill>
                  <a:schemeClr val="bg2">
                    <a:lumMod val="50000"/>
                  </a:schemeClr>
                </a:solidFill>
              </a:rPr>
              <a:t> STATEMENT HERE</a:t>
            </a:r>
            <a:endParaRPr lang="en-US" sz="1000" b="1" dirty="0">
              <a:solidFill>
                <a:schemeClr val="bg2">
                  <a:lumMod val="50000"/>
                </a:schemeClr>
              </a:solidFill>
            </a:endParaRP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chemeClr val="bg2">
                    <a:lumMod val="50000"/>
                  </a:schemeClr>
                </a:solidFill>
              </a:rPr>
              <a:t>CLASSIFICATION</a:t>
            </a:r>
            <a:r>
              <a:rPr lang="en-US" sz="1000" b="1" baseline="0" dirty="0">
                <a:solidFill>
                  <a:schemeClr val="bg2">
                    <a:lumMod val="50000"/>
                  </a:schemeClr>
                </a:solidFill>
              </a:rPr>
              <a:t> STATEMENT HERE</a:t>
            </a:r>
            <a:endParaRPr lang="en-US" sz="1000" b="1" dirty="0">
              <a:solidFill>
                <a:schemeClr val="bg2">
                  <a:lumMod val="50000"/>
                </a:schemeClr>
              </a:solidFill>
            </a:endParaRPr>
          </a:p>
        </p:txBody>
      </p:sp>
    </p:spTree>
    <p:extLst>
      <p:ext uri="{BB962C8B-B14F-4D97-AF65-F5344CB8AC3E}">
        <p14:creationId xmlns:p14="http://schemas.microsoft.com/office/powerpoint/2010/main" val="3506813200"/>
      </p:ext>
    </p:extLst>
  </p:cSld>
  <p:clrMap bg1="lt1" tx1="dk1" bg2="lt2" tx2="dk2" accent1="accent1" accent2="accent2" accent3="accent3" accent4="accent4" accent5="accent5" accent6="accent6" hlink="hlink" folHlink="folHlink"/>
  <p:sldLayoutIdLst>
    <p:sldLayoutId id="2147484273" r:id="rId1"/>
    <p:sldLayoutId id="2147484279" r:id="rId2"/>
    <p:sldLayoutId id="2147484280" r:id="rId3"/>
    <p:sldLayoutId id="2147484281" r:id="rId4"/>
    <p:sldLayoutId id="2147484282" r:id="rId5"/>
    <p:sldLayoutId id="2147484283" r:id="rId6"/>
    <p:sldLayoutId id="2147484284" r:id="rId7"/>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lang="en-US" sz="2000" b="1" kern="1200" dirty="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lang="en-US" sz="1800" b="1" kern="1200" dirty="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userDrawn="1">
          <p15:clr>
            <a:srgbClr val="5ACBF0"/>
          </p15:clr>
        </p15:guide>
        <p15:guide id="2" pos="7296" userDrawn="1">
          <p15:clr>
            <a:srgbClr val="5ACBF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rgbClr val="D8D8D8"/>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9"/>
          <a:stretch>
            <a:fillRect/>
          </a:stretch>
        </p:blipFill>
        <p:spPr>
          <a:xfrm>
            <a:off x="0" y="0"/>
            <a:ext cx="12192000" cy="6857999"/>
          </a:xfrm>
          <a:prstGeom prst="rect">
            <a:avLst/>
          </a:prstGeom>
        </p:spPr>
      </p:pic>
      <p:sp>
        <p:nvSpPr>
          <p:cNvPr id="3" name="Rounded Rectangle 2">
            <a:extLst>
              <a:ext uri="{FF2B5EF4-FFF2-40B4-BE49-F238E27FC236}">
                <a16:creationId xmlns:a16="http://schemas.microsoft.com/office/drawing/2014/main" id="{24FCF4A6-EBC9-C2AC-2815-3FFFD71A1CF8}"/>
              </a:ext>
            </a:extLst>
          </p:cNvPr>
          <p:cNvSpPr/>
          <p:nvPr userDrawn="1"/>
        </p:nvSpPr>
        <p:spPr>
          <a:xfrm>
            <a:off x="182880" y="217300"/>
            <a:ext cx="11788140" cy="6351139"/>
          </a:xfrm>
          <a:prstGeom prst="roundRect">
            <a:avLst>
              <a:gd name="adj" fmla="val 2258"/>
            </a:avLst>
          </a:prstGeom>
          <a:gradFill>
            <a:gsLst>
              <a:gs pos="0">
                <a:schemeClr val="bg1"/>
              </a:gs>
              <a:gs pos="83000">
                <a:srgbClr val="00B0F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099" name="Title Placeholder 1"/>
          <p:cNvSpPr>
            <a:spLocks noGrp="1"/>
          </p:cNvSpPr>
          <p:nvPr>
            <p:ph type="title"/>
          </p:nvPr>
        </p:nvSpPr>
        <p:spPr bwMode="auto">
          <a:xfrm>
            <a:off x="406400" y="274638"/>
            <a:ext cx="11176000" cy="8064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Slide</a:t>
            </a:r>
          </a:p>
        </p:txBody>
      </p:sp>
      <p:sp>
        <p:nvSpPr>
          <p:cNvPr id="1030" name="Text Placeholder 2"/>
          <p:cNvSpPr>
            <a:spLocks noGrp="1"/>
          </p:cNvSpPr>
          <p:nvPr>
            <p:ph type="body" idx="1"/>
          </p:nvPr>
        </p:nvSpPr>
        <p:spPr bwMode="auto">
          <a:xfrm>
            <a:off x="406400" y="1233932"/>
            <a:ext cx="11176000" cy="470966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buClr>
                <a:schemeClr val="tx1"/>
              </a:buClr>
            </a:pPr>
            <a:r>
              <a:rPr lang="en-US" dirty="0"/>
              <a:t>Click to edit Master text styles</a:t>
            </a:r>
          </a:p>
          <a:p>
            <a:pPr lvl="1">
              <a:buClr>
                <a:schemeClr val="tx1"/>
              </a:buClr>
            </a:pPr>
            <a:r>
              <a:rPr lang="en-US" dirty="0"/>
              <a:t>Second level</a:t>
            </a:r>
          </a:p>
          <a:p>
            <a:pPr lvl="2">
              <a:buClr>
                <a:schemeClr val="tx1"/>
              </a:buClr>
            </a:pPr>
            <a:r>
              <a:rPr lang="en-US" dirty="0"/>
              <a:t>Third level</a:t>
            </a:r>
          </a:p>
          <a:p>
            <a:pPr lvl="3">
              <a:buClr>
                <a:schemeClr val="tx1"/>
              </a:buClr>
            </a:pPr>
            <a:r>
              <a:rPr lang="en-US" dirty="0"/>
              <a:t>Fourth level</a:t>
            </a:r>
          </a:p>
          <a:p>
            <a:pPr lvl="4">
              <a:buClr>
                <a:schemeClr val="tx1"/>
              </a:buClr>
            </a:pPr>
            <a:r>
              <a:rPr lang="en-US" dirty="0"/>
              <a:t>Fifth level</a:t>
            </a:r>
          </a:p>
        </p:txBody>
      </p:sp>
      <p:sp>
        <p:nvSpPr>
          <p:cNvPr id="6" name="Slide Number Placeholder 5"/>
          <p:cNvSpPr>
            <a:spLocks noGrp="1"/>
          </p:cNvSpPr>
          <p:nvPr>
            <p:ph type="sldNum" sz="quarter" idx="4"/>
          </p:nvPr>
        </p:nvSpPr>
        <p:spPr>
          <a:xfrm>
            <a:off x="11217522" y="-1985"/>
            <a:ext cx="969433" cy="365125"/>
          </a:xfrm>
          <a:prstGeom prst="rect">
            <a:avLst/>
          </a:prstGeom>
        </p:spPr>
        <p:txBody>
          <a:bodyPr vert="horz" wrap="square" lIns="91440" tIns="45720" rIns="91440" bIns="45720" numCol="1" anchor="ctr" anchorCtr="0" compatLnSpc="1">
            <a:prstTxWarp prst="textNoShape">
              <a:avLst/>
            </a:prstTxWarp>
          </a:bodyPr>
          <a:lstStyle>
            <a:lvl1pPr algn="r">
              <a:defRPr sz="750" b="1">
                <a:solidFill>
                  <a:srgbClr val="898989"/>
                </a:solidFill>
                <a:cs typeface="Arial" pitchFamily="34" charset="0"/>
              </a:defRPr>
            </a:lvl1pPr>
          </a:lstStyle>
          <a:p>
            <a:fld id="{139BD942-CC14-44A4-87FB-46239297AFE5}" type="slidenum">
              <a:rPr lang="en-US" smtClean="0"/>
              <a:pPr/>
              <a:t>‹#›</a:t>
            </a:fld>
            <a:endParaRPr lang="en-US" dirty="0"/>
          </a:p>
        </p:txBody>
      </p:sp>
      <p:cxnSp>
        <p:nvCxnSpPr>
          <p:cNvPr id="4" name="Straight Connector 3"/>
          <p:cNvCxnSpPr/>
          <p:nvPr userDrawn="1"/>
        </p:nvCxnSpPr>
        <p:spPr>
          <a:xfrm>
            <a:off x="406400" y="6309360"/>
            <a:ext cx="1135888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413316" y="6286500"/>
            <a:ext cx="11351964" cy="307777"/>
          </a:xfrm>
          <a:prstGeom prst="rect">
            <a:avLst/>
          </a:prstGeom>
          <a:noFill/>
        </p:spPr>
        <p:txBody>
          <a:bodyPr wrap="square" rtlCol="0">
            <a:spAutoFit/>
          </a:bodyPr>
          <a:lstStyle/>
          <a:p>
            <a:pPr algn="ctr"/>
            <a:r>
              <a:rPr lang="en-US" sz="1400" dirty="0">
                <a:solidFill>
                  <a:prstClr val="black"/>
                </a:solidFill>
              </a:rPr>
              <a:t>US Army Corps of Engineers  </a:t>
            </a:r>
            <a:r>
              <a:rPr lang="en-US" sz="1400" dirty="0">
                <a:solidFill>
                  <a:prstClr val="black"/>
                </a:solidFill>
                <a:sym typeface="Symbol" panose="05050102010706020507" pitchFamily="18" charset="2"/>
              </a:rPr>
              <a:t></a:t>
            </a:r>
            <a:r>
              <a:rPr lang="en-US" sz="1400" dirty="0">
                <a:solidFill>
                  <a:prstClr val="black"/>
                </a:solidFill>
              </a:rPr>
              <a:t>   Engineer Research and Development Center</a:t>
            </a:r>
          </a:p>
        </p:txBody>
      </p:sp>
      <p:sp>
        <p:nvSpPr>
          <p:cNvPr id="8" name="TextBox 7"/>
          <p:cNvSpPr txBox="1"/>
          <p:nvPr userDrawn="1"/>
        </p:nvSpPr>
        <p:spPr>
          <a:xfrm>
            <a:off x="0" y="0"/>
            <a:ext cx="12192000" cy="246221"/>
          </a:xfrm>
          <a:prstGeom prst="rect">
            <a:avLst/>
          </a:prstGeom>
          <a:noFill/>
        </p:spPr>
        <p:txBody>
          <a:bodyPr wrap="square" rtlCol="0">
            <a:spAutoFit/>
          </a:bodyPr>
          <a:lstStyle/>
          <a:p>
            <a:pPr algn="ctr"/>
            <a:r>
              <a:rPr lang="en-US" sz="1000" b="1" dirty="0">
                <a:solidFill>
                  <a:srgbClr val="EBEBEB">
                    <a:lumMod val="50000"/>
                  </a:srgbClr>
                </a:solidFill>
              </a:rPr>
              <a:t>//CUI//</a:t>
            </a:r>
          </a:p>
        </p:txBody>
      </p:sp>
      <p:sp>
        <p:nvSpPr>
          <p:cNvPr id="18" name="TextBox 17"/>
          <p:cNvSpPr txBox="1"/>
          <p:nvPr userDrawn="1"/>
        </p:nvSpPr>
        <p:spPr>
          <a:xfrm>
            <a:off x="-6773" y="6583538"/>
            <a:ext cx="12192000" cy="246221"/>
          </a:xfrm>
          <a:prstGeom prst="rect">
            <a:avLst/>
          </a:prstGeom>
          <a:noFill/>
        </p:spPr>
        <p:txBody>
          <a:bodyPr wrap="square" rtlCol="0">
            <a:spAutoFit/>
          </a:bodyPr>
          <a:lstStyle/>
          <a:p>
            <a:pPr algn="ctr"/>
            <a:r>
              <a:rPr lang="en-US" sz="1000" b="1" dirty="0">
                <a:solidFill>
                  <a:srgbClr val="EBEBEB">
                    <a:lumMod val="50000"/>
                  </a:srgbClr>
                </a:solidFill>
              </a:rPr>
              <a:t>//CUI//</a:t>
            </a:r>
          </a:p>
        </p:txBody>
      </p:sp>
    </p:spTree>
    <p:extLst>
      <p:ext uri="{BB962C8B-B14F-4D97-AF65-F5344CB8AC3E}">
        <p14:creationId xmlns:p14="http://schemas.microsoft.com/office/powerpoint/2010/main" val="4238848521"/>
      </p:ext>
    </p:extLst>
  </p:cSld>
  <p:clrMap bg1="lt1" tx1="dk1" bg2="lt2" tx2="dk2" accent1="accent1" accent2="accent2" accent3="accent3" accent4="accent4" accent5="accent5" accent6="accent6" hlink="hlink" folHlink="folHlink"/>
  <p:sldLayoutIdLst>
    <p:sldLayoutId id="2147484320" r:id="rId1"/>
    <p:sldLayoutId id="2147484321" r:id="rId2"/>
    <p:sldLayoutId id="2147484322" r:id="rId3"/>
    <p:sldLayoutId id="2147484323" r:id="rId4"/>
    <p:sldLayoutId id="2147484324" r:id="rId5"/>
    <p:sldLayoutId id="2147484325" r:id="rId6"/>
    <p:sldLayoutId id="2147484326" r:id="rId7"/>
  </p:sldLayoutIdLst>
  <p:hf hdr="0"/>
  <p:txStyles>
    <p:titleStyle>
      <a:lvl1pPr algn="l" rtl="0" eaLnBrk="1" fontAlgn="base" hangingPunct="1">
        <a:spcBef>
          <a:spcPct val="0"/>
        </a:spcBef>
        <a:spcAft>
          <a:spcPct val="0"/>
        </a:spcAft>
        <a:defRPr sz="3200" b="1" kern="1200" cap="none">
          <a:solidFill>
            <a:schemeClr val="tx1">
              <a:lumMod val="75000"/>
              <a:lumOff val="25000"/>
            </a:schemeClr>
          </a:solidFill>
          <a:latin typeface="Arial" pitchFamily="34" charset="0"/>
          <a:ea typeface="ＭＳ Ｐゴシック" charset="0"/>
          <a:cs typeface="Arial" pitchFamily="34" charset="0"/>
        </a:defRPr>
      </a:lvl1pPr>
      <a:lvl2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2pPr>
      <a:lvl3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3pPr>
      <a:lvl4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4pPr>
      <a:lvl5pPr algn="l" rtl="0" eaLnBrk="1" fontAlgn="base" hangingPunct="1">
        <a:spcBef>
          <a:spcPct val="0"/>
        </a:spcBef>
        <a:spcAft>
          <a:spcPct val="0"/>
        </a:spcAft>
        <a:defRPr sz="1800" b="1">
          <a:solidFill>
            <a:srgbClr val="978473"/>
          </a:solidFill>
          <a:latin typeface="Arial" charset="0"/>
          <a:ea typeface="ＭＳ Ｐゴシック" charset="0"/>
          <a:cs typeface="Arial" charset="0"/>
        </a:defRPr>
      </a:lvl5pPr>
      <a:lvl6pPr marL="342900" algn="l" rtl="0" eaLnBrk="1" fontAlgn="base" hangingPunct="1">
        <a:spcBef>
          <a:spcPct val="0"/>
        </a:spcBef>
        <a:spcAft>
          <a:spcPct val="0"/>
        </a:spcAft>
        <a:defRPr sz="3300">
          <a:solidFill>
            <a:schemeClr val="tx1"/>
          </a:solidFill>
          <a:latin typeface="Arial" charset="0"/>
          <a:cs typeface="Arial" charset="0"/>
        </a:defRPr>
      </a:lvl6pPr>
      <a:lvl7pPr marL="685800" algn="l" rtl="0" eaLnBrk="1" fontAlgn="base" hangingPunct="1">
        <a:spcBef>
          <a:spcPct val="0"/>
        </a:spcBef>
        <a:spcAft>
          <a:spcPct val="0"/>
        </a:spcAft>
        <a:defRPr sz="3300">
          <a:solidFill>
            <a:schemeClr val="tx1"/>
          </a:solidFill>
          <a:latin typeface="Arial" charset="0"/>
          <a:cs typeface="Arial" charset="0"/>
        </a:defRPr>
      </a:lvl7pPr>
      <a:lvl8pPr marL="1028700" algn="l" rtl="0" eaLnBrk="1" fontAlgn="base" hangingPunct="1">
        <a:spcBef>
          <a:spcPct val="0"/>
        </a:spcBef>
        <a:spcAft>
          <a:spcPct val="0"/>
        </a:spcAft>
        <a:defRPr sz="3300">
          <a:solidFill>
            <a:schemeClr val="tx1"/>
          </a:solidFill>
          <a:latin typeface="Arial" charset="0"/>
          <a:cs typeface="Arial" charset="0"/>
        </a:defRPr>
      </a:lvl8pPr>
      <a:lvl9pPr marL="1371600" algn="l" rtl="0" eaLnBrk="1" fontAlgn="base" hangingPunct="1">
        <a:spcBef>
          <a:spcPct val="0"/>
        </a:spcBef>
        <a:spcAft>
          <a:spcPct val="0"/>
        </a:spcAft>
        <a:defRPr sz="3300">
          <a:solidFill>
            <a:schemeClr val="tx1"/>
          </a:solidFill>
          <a:latin typeface="Arial" charset="0"/>
          <a:cs typeface="Arial" charset="0"/>
        </a:defRPr>
      </a:lvl9pPr>
    </p:titleStyle>
    <p:bodyStyle>
      <a:lvl1pPr marL="228600" indent="-228600" algn="l" rtl="0" eaLnBrk="1" fontAlgn="base" hangingPunct="1">
        <a:spcBef>
          <a:spcPts val="225"/>
        </a:spcBef>
        <a:spcAft>
          <a:spcPct val="0"/>
        </a:spcAft>
        <a:buClr>
          <a:srgbClr val="FF0000"/>
        </a:buClr>
        <a:buFont typeface="Wingdings" panose="05000000000000000000" pitchFamily="2" charset="2"/>
        <a:buChar char="§"/>
        <a:defRPr lang="en-US" sz="2000" b="1" kern="1200" dirty="0">
          <a:solidFill>
            <a:schemeClr val="tx1">
              <a:lumMod val="75000"/>
              <a:lumOff val="25000"/>
            </a:schemeClr>
          </a:solidFill>
          <a:latin typeface="Arial" pitchFamily="34" charset="0"/>
          <a:ea typeface="ＭＳ Ｐゴシック" charset="0"/>
          <a:cs typeface="Arial" pitchFamily="34" charset="0"/>
        </a:defRPr>
      </a:lvl1pPr>
      <a:lvl2pPr marL="571500" indent="-214313" algn="l" rtl="0" eaLnBrk="1" fontAlgn="base" hangingPunct="1">
        <a:spcBef>
          <a:spcPts val="225"/>
        </a:spcBef>
        <a:spcAft>
          <a:spcPct val="0"/>
        </a:spcAft>
        <a:buClr>
          <a:srgbClr val="FF0000"/>
        </a:buClr>
        <a:buFont typeface="Arial" pitchFamily="34" charset="0"/>
        <a:buChar char="•"/>
        <a:defRPr lang="en-US" sz="1800" b="1" kern="1200" dirty="0">
          <a:solidFill>
            <a:schemeClr val="tx1">
              <a:lumMod val="75000"/>
              <a:lumOff val="25000"/>
            </a:schemeClr>
          </a:solidFill>
          <a:latin typeface="Arial" pitchFamily="34" charset="0"/>
          <a:ea typeface="Arial" charset="0"/>
          <a:cs typeface="Arial" pitchFamily="34" charset="0"/>
        </a:defRPr>
      </a:lvl2pPr>
      <a:lvl3pPr marL="860425" indent="-171450" algn="l" rtl="0" eaLnBrk="1" fontAlgn="base" hangingPunct="1">
        <a:spcBef>
          <a:spcPts val="225"/>
        </a:spcBef>
        <a:spcAft>
          <a:spcPct val="0"/>
        </a:spcAft>
        <a:buClr>
          <a:srgbClr val="FF0000"/>
        </a:buClr>
        <a:buSzPct val="70000"/>
        <a:buFont typeface="Arial" panose="020B0604020202020204"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3pPr>
      <a:lvl4pPr marL="11430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4pPr>
      <a:lvl5pPr marL="1371600" indent="-171450" algn="l" rtl="0" eaLnBrk="1" fontAlgn="base" hangingPunct="1">
        <a:spcBef>
          <a:spcPts val="225"/>
        </a:spcBef>
        <a:spcAft>
          <a:spcPct val="0"/>
        </a:spcAft>
        <a:buFont typeface="Arial" pitchFamily="34" charset="0"/>
        <a:buChar char="»"/>
        <a:defRPr lang="en-US" sz="1600" b="1" kern="1200" dirty="0">
          <a:solidFill>
            <a:schemeClr val="tx1">
              <a:lumMod val="75000"/>
              <a:lumOff val="25000"/>
            </a:schemeClr>
          </a:solidFill>
          <a:latin typeface="Arial" pitchFamily="34" charset="0"/>
          <a:ea typeface="Arial" charset="0"/>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56">
          <p15:clr>
            <a:srgbClr val="5ACBF0"/>
          </p15:clr>
        </p15:guide>
        <p15:guide id="2" pos="7296">
          <p15:clr>
            <a:srgbClr val="5ACBF0"/>
          </p15:clr>
        </p15:guide>
      </p15:sldGuideLst>
    </p:ext>
  </p:extLst>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7.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7.xml"/><Relationship Id="rId4" Type="http://schemas.openxmlformats.org/officeDocument/2006/relationships/image" Target="../media/image11.jpe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5.jp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4.jp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 Id="rId4" Type="http://schemas.openxmlformats.org/officeDocument/2006/relationships/image" Target="../media/image18.jpg"/></Relationships>
</file>

<file path=ppt/slides/_rels/slide9.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 Id="rId5" Type="http://schemas.openxmlformats.org/officeDocument/2006/relationships/image" Target="../media/image22.png"/><Relationship Id="rId4" Type="http://schemas.openxmlformats.org/officeDocument/2006/relationships/image" Target="../media/image21.jpeg"/></Relationships>
</file>

<file path=ppt/slides/_rels/slide11.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4.jp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environmentalsystems#applications" TargetMode="External"/><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github.com/environmentalsystems#applications"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3" y="1795640"/>
            <a:ext cx="4113122" cy="400110"/>
          </a:xfrm>
        </p:spPr>
        <p:txBody>
          <a:bodyPr vert="horz" wrap="square" lIns="91440" tIns="45720" rIns="91440" bIns="45720" rtlCol="0" anchor="t">
            <a:spAutoFit/>
          </a:bodyPr>
          <a:lstStyle/>
          <a:p>
            <a:r>
              <a:rPr lang="en-US" sz="2000" dirty="0"/>
              <a:t>Introduction to Modeling</a:t>
            </a:r>
          </a:p>
        </p:txBody>
      </p:sp>
      <p:sp>
        <p:nvSpPr>
          <p:cNvPr id="14339" name="Slide Number Placeholder 4"/>
          <p:cNvSpPr>
            <a:spLocks noGrp="1"/>
          </p:cNvSpPr>
          <p:nvPr>
            <p:ph type="sldNum" sz="quarter" idx="10"/>
          </p:nvPr>
        </p:nvSpPr>
        <p:spPr>
          <a:ln w="57150">
            <a:noFill/>
          </a:ln>
        </p:spPr>
        <p:txBody>
          <a:bodyPr/>
          <a:lstStyle/>
          <a:p>
            <a:fld id="{744B3473-5193-4AC1-9169-6977ADF2DCFC}" type="slidenum">
              <a:rPr lang="en-US"/>
              <a:pPr/>
              <a:t>1</a:t>
            </a:fld>
            <a:endParaRPr lang="en-US"/>
          </a:p>
        </p:txBody>
      </p:sp>
      <p:sp>
        <p:nvSpPr>
          <p:cNvPr id="6" name="Text Placeholder 5"/>
          <p:cNvSpPr>
            <a:spLocks noGrp="1"/>
          </p:cNvSpPr>
          <p:nvPr>
            <p:ph type="body" sz="quarter" idx="13"/>
          </p:nvPr>
        </p:nvSpPr>
        <p:spPr/>
        <p:txBody>
          <a:bodyPr/>
          <a:lstStyle/>
          <a:p>
            <a:r>
              <a:rPr lang="en-US" dirty="0">
                <a:solidFill>
                  <a:schemeClr val="tx1"/>
                </a:solidFill>
              </a:rPr>
              <a:t>UNCLASSIFIED</a:t>
            </a:r>
          </a:p>
        </p:txBody>
      </p:sp>
      <p:sp>
        <p:nvSpPr>
          <p:cNvPr id="7" name="Text Placeholder 6"/>
          <p:cNvSpPr>
            <a:spLocks noGrp="1"/>
          </p:cNvSpPr>
          <p:nvPr>
            <p:ph type="body" sz="quarter" idx="14"/>
          </p:nvPr>
        </p:nvSpPr>
        <p:spPr/>
        <p:txBody>
          <a:bodyPr/>
          <a:lstStyle/>
          <a:p>
            <a:r>
              <a:rPr lang="en-US" dirty="0">
                <a:solidFill>
                  <a:schemeClr val="tx1"/>
                </a:solidFill>
              </a:rPr>
              <a:t>UNCLASSIFIED</a:t>
            </a:r>
          </a:p>
        </p:txBody>
      </p:sp>
      <p:pic>
        <p:nvPicPr>
          <p:cNvPr id="11" name="Picture 10" descr="A close up of a sign&#10;&#10;Description automatically generated">
            <a:extLst>
              <a:ext uri="{FF2B5EF4-FFF2-40B4-BE49-F238E27FC236}">
                <a16:creationId xmlns:a16="http://schemas.microsoft.com/office/drawing/2014/main" id="{7223F22D-5DFC-42EB-8948-9B1384385F08}"/>
              </a:ext>
            </a:extLst>
          </p:cNvPr>
          <p:cNvPicPr>
            <a:picLocks noChangeAspect="1"/>
          </p:cNvPicPr>
          <p:nvPr/>
        </p:nvPicPr>
        <p:blipFill>
          <a:blip r:embed="rId2">
            <a:clrChange>
              <a:clrFrom>
                <a:srgbClr val="FFFFFF"/>
              </a:clrFrom>
              <a:clrTo>
                <a:srgbClr val="FFFFFF">
                  <a:alpha val="0"/>
                </a:srgbClr>
              </a:clrTo>
            </a:clrChange>
            <a:extLst>
              <a:ext uri="{BEBA8EAE-BF5A-486C-A8C5-ECC9F3942E4B}">
                <a14:imgProps xmlns:a14="http://schemas.microsoft.com/office/drawing/2010/main">
                  <a14:imgLayer r:embed="rId3">
                    <a14:imgEffect>
                      <a14:sharpenSoften amount="50000"/>
                    </a14:imgEffect>
                  </a14:imgLayer>
                </a14:imgProps>
              </a:ext>
            </a:extLst>
          </a:blip>
          <a:stretch>
            <a:fillRect/>
          </a:stretch>
        </p:blipFill>
        <p:spPr>
          <a:xfrm>
            <a:off x="1446600" y="5784725"/>
            <a:ext cx="977900" cy="958918"/>
          </a:xfrm>
          <a:prstGeom prst="rect">
            <a:avLst/>
          </a:prstGeom>
        </p:spPr>
      </p:pic>
      <p:pic>
        <p:nvPicPr>
          <p:cNvPr id="14" name="Picture 13">
            <a:extLst>
              <a:ext uri="{FF2B5EF4-FFF2-40B4-BE49-F238E27FC236}">
                <a16:creationId xmlns:a16="http://schemas.microsoft.com/office/drawing/2014/main" id="{517FAA9B-4EFE-46EC-9922-77579BE627FA}"/>
              </a:ext>
            </a:extLst>
          </p:cNvPr>
          <p:cNvPicPr>
            <a:picLocks noChangeAspect="1"/>
          </p:cNvPicPr>
          <p:nvPr/>
        </p:nvPicPr>
        <p:blipFill rotWithShape="1">
          <a:blip r:embed="rId4"/>
          <a:srcRect b="13809"/>
          <a:stretch/>
        </p:blipFill>
        <p:spPr>
          <a:xfrm>
            <a:off x="8261685" y="5635231"/>
            <a:ext cx="1162230" cy="1296087"/>
          </a:xfrm>
          <a:prstGeom prst="rect">
            <a:avLst/>
          </a:prstGeom>
        </p:spPr>
      </p:pic>
      <p:sp>
        <p:nvSpPr>
          <p:cNvPr id="15" name="WordArt 3" descr="Environmental Systems &#10;Modeling Team">
            <a:extLst>
              <a:ext uri="{FF2B5EF4-FFF2-40B4-BE49-F238E27FC236}">
                <a16:creationId xmlns:a16="http://schemas.microsoft.com/office/drawing/2014/main" id="{82DC1E1B-09D6-45CD-941D-66951F4189B7}"/>
              </a:ext>
            </a:extLst>
          </p:cNvPr>
          <p:cNvSpPr>
            <a:spLocks noChangeArrowheads="1" noChangeShapeType="1" noTextEdit="1"/>
          </p:cNvSpPr>
          <p:nvPr/>
        </p:nvSpPr>
        <p:spPr bwMode="auto">
          <a:xfrm>
            <a:off x="8340651" y="5794410"/>
            <a:ext cx="977900" cy="121515"/>
          </a:xfrm>
          <a:prstGeom prst="rect">
            <a:avLst/>
          </a:prstGeom>
          <a:extLst>
            <a:ext uri="{AF507438-7753-43E0-B8FC-AC1667EBCBE1}">
              <a14:hiddenEffects xmlns:a14="http://schemas.microsoft.com/office/drawing/2010/main">
                <a:effectLst/>
              </a14:hiddenEffects>
            </a:ext>
          </a:extLst>
        </p:spPr>
        <p:txBody>
          <a:bodyPr wrap="none" fromWordArt="1">
            <a:prstTxWarp prst="textArchUp">
              <a:avLst>
                <a:gd name="adj" fmla="val 11218855"/>
              </a:avLst>
            </a:prstTxWarp>
          </a:bodyPr>
          <a:lstStyle/>
          <a:p>
            <a:pPr algn="ctr" rtl="0">
              <a:buNone/>
            </a:pPr>
            <a:r>
              <a:rPr lang="en-US" sz="3600" kern="10" spc="0" dirty="0">
                <a:ln w="15875" algn="ctr">
                  <a:solidFill>
                    <a:srgbClr val="000000"/>
                  </a:solidFill>
                  <a:round/>
                  <a:headEnd/>
                  <a:tailEnd/>
                </a:ln>
                <a:solidFill>
                  <a:srgbClr val="000000"/>
                </a:solidFill>
                <a:effectLst/>
                <a:latin typeface="+mj-lt"/>
                <a:cs typeface="Times New Roman" panose="02020603050405020304" pitchFamily="18" charset="0"/>
              </a:rPr>
              <a:t>Environmental Systems</a:t>
            </a:r>
          </a:p>
          <a:p>
            <a:pPr algn="ctr" rtl="0">
              <a:buNone/>
            </a:pPr>
            <a:r>
              <a:rPr lang="en-US" sz="3600" kern="10" spc="0" dirty="0">
                <a:ln w="15875" algn="ctr">
                  <a:solidFill>
                    <a:srgbClr val="000000"/>
                  </a:solidFill>
                  <a:round/>
                  <a:headEnd/>
                  <a:tailEnd/>
                </a:ln>
                <a:solidFill>
                  <a:srgbClr val="000000"/>
                </a:solidFill>
                <a:effectLst/>
                <a:latin typeface="+mj-lt"/>
                <a:cs typeface="Times New Roman" panose="02020603050405020304" pitchFamily="18" charset="0"/>
              </a:rPr>
              <a:t>Modeling Team</a:t>
            </a:r>
          </a:p>
        </p:txBody>
      </p:sp>
      <p:sp>
        <p:nvSpPr>
          <p:cNvPr id="9" name="Text Placeholder 2">
            <a:extLst>
              <a:ext uri="{FF2B5EF4-FFF2-40B4-BE49-F238E27FC236}">
                <a16:creationId xmlns:a16="http://schemas.microsoft.com/office/drawing/2014/main" id="{F0C38335-1D39-760D-4FB8-7EFA5DC47956}"/>
              </a:ext>
            </a:extLst>
          </p:cNvPr>
          <p:cNvSpPr>
            <a:spLocks noGrp="1"/>
          </p:cNvSpPr>
          <p:nvPr>
            <p:ph type="body" sz="quarter" idx="12"/>
          </p:nvPr>
        </p:nvSpPr>
        <p:spPr>
          <a:xfrm>
            <a:off x="609603" y="2375748"/>
            <a:ext cx="7652082" cy="2625334"/>
          </a:xfrm>
        </p:spPr>
        <p:txBody>
          <a:bodyPr vert="horz" lIns="91440" tIns="45720" rIns="91440" bIns="45720" rtlCol="0">
            <a:spAutoFit/>
          </a:bodyPr>
          <a:lstStyle/>
          <a:p>
            <a:pPr defTabSz="514350">
              <a:spcBef>
                <a:spcPts val="563"/>
              </a:spcBef>
            </a:pPr>
            <a:r>
              <a:rPr lang="en-US" sz="1800" b="0" dirty="0">
                <a:solidFill>
                  <a:schemeClr val="bg1"/>
                </a:solidFill>
              </a:rPr>
              <a:t>Todd E. Steissberg, PhD, PE</a:t>
            </a:r>
          </a:p>
          <a:p>
            <a:pPr defTabSz="514350">
              <a:spcBef>
                <a:spcPts val="563"/>
              </a:spcBef>
            </a:pPr>
            <a:r>
              <a:rPr lang="en-US" sz="1800" b="0" dirty="0">
                <a:solidFill>
                  <a:schemeClr val="bg1"/>
                </a:solidFill>
              </a:rPr>
              <a:t>Environmental Laboratory</a:t>
            </a:r>
          </a:p>
          <a:p>
            <a:pPr defTabSz="514350">
              <a:spcBef>
                <a:spcPts val="563"/>
              </a:spcBef>
            </a:pPr>
            <a:r>
              <a:rPr lang="en-US" sz="1800" b="0" dirty="0">
                <a:solidFill>
                  <a:schemeClr val="bg1"/>
                </a:solidFill>
              </a:rPr>
              <a:t>Engineer Research and Development Center (ERDC)</a:t>
            </a:r>
          </a:p>
          <a:p>
            <a:pPr defTabSz="514350">
              <a:spcBef>
                <a:spcPts val="563"/>
              </a:spcBef>
            </a:pPr>
            <a:r>
              <a:rPr lang="en-US" sz="1800" b="0" dirty="0">
                <a:solidFill>
                  <a:schemeClr val="bg1"/>
                </a:solidFill>
              </a:rPr>
              <a:t>U.S. Army Corps of Engineers</a:t>
            </a:r>
          </a:p>
          <a:p>
            <a:pPr defTabSz="514350">
              <a:spcBef>
                <a:spcPts val="563"/>
              </a:spcBef>
            </a:pPr>
            <a:endParaRPr lang="en-US" sz="1800" b="0" dirty="0">
              <a:solidFill>
                <a:schemeClr val="bg1"/>
              </a:solidFill>
            </a:endParaRPr>
          </a:p>
          <a:p>
            <a:pPr defTabSz="514350">
              <a:spcBef>
                <a:spcPts val="563"/>
              </a:spcBef>
            </a:pPr>
            <a:r>
              <a:rPr lang="en-US" sz="1800" b="0" dirty="0">
                <a:solidFill>
                  <a:schemeClr val="bg1"/>
                </a:solidFill>
              </a:rPr>
              <a:t>CE-QUAL-W2 Water Quality Modeling Workshop</a:t>
            </a:r>
          </a:p>
          <a:p>
            <a:pPr defTabSz="514350">
              <a:spcBef>
                <a:spcPts val="563"/>
              </a:spcBef>
            </a:pPr>
            <a:endParaRPr lang="en-US" sz="1800" b="0" dirty="0">
              <a:solidFill>
                <a:schemeClr val="bg1"/>
              </a:solidFill>
            </a:endParaRPr>
          </a:p>
          <a:p>
            <a:pPr defTabSz="514350">
              <a:spcBef>
                <a:spcPts val="563"/>
              </a:spcBef>
            </a:pPr>
            <a:r>
              <a:rPr lang="en-US" sz="1800" b="0" dirty="0">
                <a:solidFill>
                  <a:schemeClr val="bg1"/>
                </a:solidFill>
              </a:rPr>
              <a:t>September 17-18, 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Systems Modeling: Guiding Principles</a:t>
            </a:r>
          </a:p>
        </p:txBody>
      </p:sp>
      <p:sp>
        <p:nvSpPr>
          <p:cNvPr id="3" name="Content Placeholder 2"/>
          <p:cNvSpPr>
            <a:spLocks noGrp="1"/>
          </p:cNvSpPr>
          <p:nvPr>
            <p:ph idx="1"/>
          </p:nvPr>
        </p:nvSpPr>
        <p:spPr>
          <a:xfrm>
            <a:off x="406400" y="1008014"/>
            <a:ext cx="8157983" cy="5220664"/>
          </a:xfrm>
        </p:spPr>
        <p:txBody>
          <a:bodyPr/>
          <a:lstStyle/>
          <a:p>
            <a:pPr>
              <a:spcAft>
                <a:spcPts val="600"/>
              </a:spcAft>
              <a:buClr>
                <a:schemeClr val="tx1"/>
              </a:buClr>
            </a:pPr>
            <a:r>
              <a:rPr lang="en-US" dirty="0">
                <a:solidFill>
                  <a:schemeClr val="tx1"/>
                </a:solidFill>
                <a:latin typeface="+mn-lt"/>
              </a:rPr>
              <a:t>George Box:</a:t>
            </a:r>
          </a:p>
          <a:p>
            <a:pPr marL="357187" lvl="1" indent="0">
              <a:spcAft>
                <a:spcPts val="600"/>
              </a:spcAft>
              <a:buClr>
                <a:schemeClr val="tx1"/>
              </a:buClr>
              <a:buNone/>
            </a:pPr>
            <a:r>
              <a:rPr lang="en-US" b="0" i="1" dirty="0">
                <a:solidFill>
                  <a:schemeClr val="tx1"/>
                </a:solidFill>
                <a:latin typeface="+mn-lt"/>
              </a:rPr>
              <a:t>... all models are approximations. Essentially,</a:t>
            </a:r>
            <a:r>
              <a:rPr lang="en-US" i="1" dirty="0">
                <a:solidFill>
                  <a:schemeClr val="tx1"/>
                </a:solidFill>
                <a:latin typeface="+mn-lt"/>
              </a:rPr>
              <a:t> all models are wrong, but some are useful.</a:t>
            </a:r>
            <a:r>
              <a:rPr lang="en-US" b="0" i="1" dirty="0">
                <a:solidFill>
                  <a:schemeClr val="tx1"/>
                </a:solidFill>
                <a:latin typeface="+mn-lt"/>
              </a:rPr>
              <a:t> However, the approximate nature of the model must always be borne in mind....</a:t>
            </a:r>
          </a:p>
          <a:p>
            <a:pPr marL="357187" lvl="1" indent="0">
              <a:spcAft>
                <a:spcPts val="600"/>
              </a:spcAft>
              <a:buClr>
                <a:schemeClr val="tx1"/>
              </a:buClr>
              <a:buNone/>
            </a:pPr>
            <a:r>
              <a:rPr lang="en-US" b="0" u="sng" dirty="0">
                <a:solidFill>
                  <a:schemeClr val="tx1"/>
                </a:solidFill>
                <a:latin typeface="+mn-lt"/>
              </a:rPr>
              <a:t>Paraphrased</a:t>
            </a:r>
            <a:r>
              <a:rPr lang="en-US" b="0" dirty="0">
                <a:solidFill>
                  <a:schemeClr val="tx1"/>
                </a:solidFill>
                <a:latin typeface="+mn-lt"/>
              </a:rPr>
              <a:t>:</a:t>
            </a:r>
          </a:p>
          <a:p>
            <a:pPr marL="646112" lvl="2" indent="0">
              <a:spcAft>
                <a:spcPts val="600"/>
              </a:spcAft>
              <a:buClr>
                <a:schemeClr val="tx1"/>
              </a:buClr>
              <a:buNone/>
            </a:pPr>
            <a:r>
              <a:rPr lang="en-US" sz="1800" b="0" dirty="0">
                <a:solidFill>
                  <a:schemeClr val="tx1"/>
                </a:solidFill>
                <a:latin typeface="+mn-lt"/>
              </a:rPr>
              <a:t>“All models are wrong, but some are useful.”</a:t>
            </a:r>
          </a:p>
          <a:p>
            <a:pPr>
              <a:spcAft>
                <a:spcPts val="600"/>
              </a:spcAft>
              <a:buClr>
                <a:schemeClr val="tx1"/>
              </a:buClr>
            </a:pPr>
            <a:r>
              <a:rPr lang="en-US" dirty="0">
                <a:solidFill>
                  <a:schemeClr val="tx1"/>
                </a:solidFill>
                <a:latin typeface="+mn-lt"/>
              </a:rPr>
              <a:t>Albert Einstein:</a:t>
            </a:r>
          </a:p>
          <a:p>
            <a:pPr marL="357187" lvl="1" indent="0">
              <a:spcAft>
                <a:spcPts val="600"/>
              </a:spcAft>
              <a:buClr>
                <a:schemeClr val="tx1"/>
              </a:buClr>
              <a:buNone/>
            </a:pPr>
            <a:r>
              <a:rPr lang="en-US" b="0" i="1" dirty="0">
                <a:solidFill>
                  <a:schemeClr val="tx1"/>
                </a:solidFill>
              </a:rPr>
              <a:t>It can scarcely be denied that the supreme goal of all theory is to make the irreducible basic elements as simple and as few as possible without having to surrender the adequate representation of a single datum of experience.</a:t>
            </a:r>
            <a:endParaRPr lang="en-US" b="0" i="1" dirty="0">
              <a:solidFill>
                <a:schemeClr val="tx1"/>
              </a:solidFill>
              <a:latin typeface="+mn-lt"/>
            </a:endParaRPr>
          </a:p>
          <a:p>
            <a:pPr marL="357187" lvl="1" indent="0">
              <a:spcAft>
                <a:spcPts val="600"/>
              </a:spcAft>
              <a:buClr>
                <a:schemeClr val="tx1"/>
              </a:buClr>
              <a:buNone/>
            </a:pPr>
            <a:r>
              <a:rPr lang="en-US" b="0" u="sng" dirty="0">
                <a:solidFill>
                  <a:schemeClr val="tx1"/>
                </a:solidFill>
                <a:latin typeface="+mn-lt"/>
              </a:rPr>
              <a:t>Paraphrased</a:t>
            </a:r>
            <a:r>
              <a:rPr lang="en-US" b="0" dirty="0">
                <a:solidFill>
                  <a:schemeClr val="tx1"/>
                </a:solidFill>
                <a:latin typeface="+mn-lt"/>
              </a:rPr>
              <a:t>:</a:t>
            </a:r>
          </a:p>
          <a:p>
            <a:pPr marL="646112" lvl="2" indent="0">
              <a:spcAft>
                <a:spcPts val="600"/>
              </a:spcAft>
              <a:buClr>
                <a:schemeClr val="tx1"/>
              </a:buClr>
              <a:buNone/>
            </a:pPr>
            <a:r>
              <a:rPr lang="en-US" sz="1800" b="0" dirty="0">
                <a:solidFill>
                  <a:schemeClr val="tx1"/>
                </a:solidFill>
                <a:latin typeface="+mn-lt"/>
              </a:rPr>
              <a:t>“Everything should be made as simple as possible, but no simpler.”</a:t>
            </a:r>
          </a:p>
          <a:p>
            <a:pPr indent="-214313">
              <a:spcAft>
                <a:spcPts val="600"/>
              </a:spcAft>
              <a:buClr>
                <a:schemeClr val="tx1"/>
              </a:buClr>
            </a:pPr>
            <a:r>
              <a:rPr lang="en-US" dirty="0">
                <a:solidFill>
                  <a:schemeClr val="tx1"/>
                </a:solidFill>
                <a:latin typeface="+mn-lt"/>
              </a:rPr>
              <a:t>Hans Albert Einstein (Hydraulic Engineer):</a:t>
            </a:r>
          </a:p>
          <a:p>
            <a:pPr marL="357187" lvl="1" indent="0">
              <a:spcAft>
                <a:spcPts val="600"/>
              </a:spcAft>
              <a:buClr>
                <a:schemeClr val="tx1"/>
              </a:buClr>
              <a:buNone/>
            </a:pPr>
            <a:r>
              <a:rPr lang="en-US" b="0" i="1" dirty="0">
                <a:solidFill>
                  <a:schemeClr val="tx1"/>
                </a:solidFill>
                <a:latin typeface="+mn-lt"/>
              </a:rPr>
              <a:t>You can assume anything you want. The water won’t! </a:t>
            </a:r>
          </a:p>
          <a:p>
            <a:pPr marL="357187" lvl="1" indent="0">
              <a:spcAft>
                <a:spcPts val="600"/>
              </a:spcAft>
              <a:buClr>
                <a:schemeClr val="tx1"/>
              </a:buClr>
              <a:buNone/>
            </a:pPr>
            <a:r>
              <a:rPr lang="en-US" b="0" u="sng" dirty="0">
                <a:solidFill>
                  <a:schemeClr val="tx1"/>
                </a:solidFill>
                <a:latin typeface="+mn-lt"/>
              </a:rPr>
              <a:t>Moral</a:t>
            </a:r>
            <a:r>
              <a:rPr lang="en-US" b="0" dirty="0">
                <a:solidFill>
                  <a:schemeClr val="tx1"/>
                </a:solidFill>
                <a:latin typeface="+mn-lt"/>
              </a:rPr>
              <a:t>: Be careful with your assumptions.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2</a:t>
            </a:fld>
            <a:endParaRPr lang="en-US"/>
          </a:p>
        </p:txBody>
      </p:sp>
      <p:pic>
        <p:nvPicPr>
          <p:cNvPr id="1026" name="Picture 2">
            <a:extLst>
              <a:ext uri="{FF2B5EF4-FFF2-40B4-BE49-F238E27FC236}">
                <a16:creationId xmlns:a16="http://schemas.microsoft.com/office/drawing/2014/main" id="{12B3E320-1ACB-8453-7368-EE4E204C87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59409" y="1037959"/>
            <a:ext cx="1531842" cy="230416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C64A574E-B65E-42C9-6CF5-1BF131F0DA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87163" y="4430332"/>
            <a:ext cx="1739288" cy="173928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FDB090A-CB57-E9ED-03D4-E79FCCBF630D}"/>
              </a:ext>
            </a:extLst>
          </p:cNvPr>
          <p:cNvSpPr txBox="1"/>
          <p:nvPr/>
        </p:nvSpPr>
        <p:spPr>
          <a:xfrm>
            <a:off x="9926451" y="4588845"/>
            <a:ext cx="1666705" cy="1569660"/>
          </a:xfrm>
          <a:prstGeom prst="rect">
            <a:avLst/>
          </a:prstGeom>
          <a:noFill/>
        </p:spPr>
        <p:txBody>
          <a:bodyPr wrap="square" rtlCol="0">
            <a:spAutoFit/>
          </a:bodyPr>
          <a:lstStyle/>
          <a:p>
            <a:r>
              <a:rPr lang="en-US" sz="1600" dirty="0"/>
              <a:t>Albert Einstein, said of his son’s career, “He is working on a more difficult problem.”</a:t>
            </a:r>
          </a:p>
        </p:txBody>
      </p:sp>
      <p:pic>
        <p:nvPicPr>
          <p:cNvPr id="1028" name="Picture 4" descr="Albert Einstein - Wikipedia">
            <a:extLst>
              <a:ext uri="{FF2B5EF4-FFF2-40B4-BE49-F238E27FC236}">
                <a16:creationId xmlns:a16="http://schemas.microsoft.com/office/drawing/2014/main" id="{173D6314-156C-2F5F-8A28-430DAA9570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864761" y="2296632"/>
            <a:ext cx="1728395" cy="22701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06101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The Tea Leaf Paradox</a:t>
            </a:r>
          </a:p>
        </p:txBody>
      </p:sp>
      <p:sp>
        <p:nvSpPr>
          <p:cNvPr id="5" name="Slide Number Placeholder 4"/>
          <p:cNvSpPr>
            <a:spLocks noGrp="1"/>
          </p:cNvSpPr>
          <p:nvPr>
            <p:ph type="sldNum" sz="quarter" idx="11"/>
          </p:nvPr>
        </p:nvSpPr>
        <p:spPr/>
        <p:txBody>
          <a:bodyPr/>
          <a:lstStyle/>
          <a:p>
            <a:fld id="{9A257827-C34C-4251-B995-96C9C233CCC8}" type="slidenum">
              <a:rPr lang="en-US" smtClean="0"/>
              <a:pPr/>
              <a:t>3</a:t>
            </a:fld>
            <a:endParaRPr lang="en-US"/>
          </a:p>
        </p:txBody>
      </p:sp>
      <p:sp>
        <p:nvSpPr>
          <p:cNvPr id="8" name="Content Placeholder 2">
            <a:extLst>
              <a:ext uri="{FF2B5EF4-FFF2-40B4-BE49-F238E27FC236}">
                <a16:creationId xmlns:a16="http://schemas.microsoft.com/office/drawing/2014/main" id="{B5558295-BA94-B19A-DE8B-79140C73887A}"/>
              </a:ext>
            </a:extLst>
          </p:cNvPr>
          <p:cNvSpPr>
            <a:spLocks noGrp="1"/>
          </p:cNvSpPr>
          <p:nvPr>
            <p:ph idx="1"/>
          </p:nvPr>
        </p:nvSpPr>
        <p:spPr>
          <a:xfrm>
            <a:off x="406400" y="1032424"/>
            <a:ext cx="6908801" cy="5220664"/>
          </a:xfrm>
        </p:spPr>
        <p:txBody>
          <a:bodyPr/>
          <a:lstStyle/>
          <a:p>
            <a:pPr marL="228600" indent="-228600">
              <a:buClr>
                <a:schemeClr val="tx1"/>
              </a:buClr>
              <a:buFont typeface="Arial" panose="020B0604020202020204" pitchFamily="34" charset="0"/>
              <a:buChar char="•"/>
            </a:pPr>
            <a:r>
              <a:rPr lang="en-US" b="0" dirty="0">
                <a:solidFill>
                  <a:schemeClr val="tx1"/>
                </a:solidFill>
              </a:rPr>
              <a:t>Question: When you stir a cup of tea with tea leaves in the bottom of the cup, do they move towards the center of the cup or towards the sides?</a:t>
            </a:r>
          </a:p>
        </p:txBody>
      </p:sp>
      <p:pic>
        <p:nvPicPr>
          <p:cNvPr id="11" name="Tea Leaf Paradox Stirring-7w8FHZJrJvM.mp4" descr="Tea Leaf Paradox Stirring-7w8FHZJrJvM.mp4">
            <a:hlinkClick r:id="" action="ppaction://media"/>
            <a:extLst>
              <a:ext uri="{FF2B5EF4-FFF2-40B4-BE49-F238E27FC236}">
                <a16:creationId xmlns:a16="http://schemas.microsoft.com/office/drawing/2014/main" id="{C47AA46F-E2D7-EC80-128C-FC61C5EB95F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7518400" y="683710"/>
            <a:ext cx="4064000" cy="3048000"/>
          </a:xfrm>
          <a:prstGeom prst="rect">
            <a:avLst/>
          </a:prstGeom>
        </p:spPr>
      </p:pic>
    </p:spTree>
    <p:extLst>
      <p:ext uri="{BB962C8B-B14F-4D97-AF65-F5344CB8AC3E}">
        <p14:creationId xmlns:p14="http://schemas.microsoft.com/office/powerpoint/2010/main" val="471233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149"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1"/>
                </p:tgtEl>
              </p:cMediaNode>
            </p:video>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The Tea Leaf Paradox</a:t>
            </a:r>
          </a:p>
        </p:txBody>
      </p:sp>
      <p:sp>
        <p:nvSpPr>
          <p:cNvPr id="5" name="Slide Number Placeholder 4"/>
          <p:cNvSpPr>
            <a:spLocks noGrp="1"/>
          </p:cNvSpPr>
          <p:nvPr>
            <p:ph type="sldNum" sz="quarter" idx="11"/>
          </p:nvPr>
        </p:nvSpPr>
        <p:spPr/>
        <p:txBody>
          <a:bodyPr/>
          <a:lstStyle/>
          <a:p>
            <a:fld id="{9A257827-C34C-4251-B995-96C9C233CCC8}" type="slidenum">
              <a:rPr lang="en-US" smtClean="0"/>
              <a:pPr/>
              <a:t>4</a:t>
            </a:fld>
            <a:endParaRPr lang="en-US"/>
          </a:p>
        </p:txBody>
      </p:sp>
      <p:sp>
        <p:nvSpPr>
          <p:cNvPr id="8" name="Content Placeholder 2">
            <a:extLst>
              <a:ext uri="{FF2B5EF4-FFF2-40B4-BE49-F238E27FC236}">
                <a16:creationId xmlns:a16="http://schemas.microsoft.com/office/drawing/2014/main" id="{B5558295-BA94-B19A-DE8B-79140C73887A}"/>
              </a:ext>
            </a:extLst>
          </p:cNvPr>
          <p:cNvSpPr>
            <a:spLocks noGrp="1"/>
          </p:cNvSpPr>
          <p:nvPr>
            <p:ph idx="1"/>
          </p:nvPr>
        </p:nvSpPr>
        <p:spPr>
          <a:xfrm>
            <a:off x="406400" y="1032424"/>
            <a:ext cx="6908801" cy="5220664"/>
          </a:xfrm>
        </p:spPr>
        <p:txBody>
          <a:bodyPr/>
          <a:lstStyle/>
          <a:p>
            <a:pPr marL="228600" indent="-228600">
              <a:buClr>
                <a:schemeClr val="tx1"/>
              </a:buClr>
              <a:buFont typeface="Arial" panose="020B0604020202020204" pitchFamily="34" charset="0"/>
              <a:buChar char="•"/>
            </a:pPr>
            <a:r>
              <a:rPr lang="en-US" b="0" dirty="0">
                <a:solidFill>
                  <a:schemeClr val="tx1"/>
                </a:solidFill>
              </a:rPr>
              <a:t>Question: When you stir a cup of tea with tea leaves in the bottom of the cup, do they move towards the center of the cup or towards the sides?</a:t>
            </a:r>
          </a:p>
          <a:p>
            <a:pPr marL="228600" indent="-228600">
              <a:buClr>
                <a:schemeClr val="tx1"/>
              </a:buClr>
              <a:buFont typeface="Arial" panose="020B0604020202020204" pitchFamily="34" charset="0"/>
              <a:buChar char="•"/>
            </a:pPr>
            <a:r>
              <a:rPr lang="en-US" b="0" dirty="0">
                <a:solidFill>
                  <a:schemeClr val="tx1"/>
                </a:solidFill>
              </a:rPr>
              <a:t>It seems simple: centrifugal force should cause the tea leaves to collect along the sides of the cup. But do they?</a:t>
            </a:r>
          </a:p>
        </p:txBody>
      </p:sp>
      <p:pic>
        <p:nvPicPr>
          <p:cNvPr id="11" name="Tea Leaf Paradox Stirring-7w8FHZJrJvM.mp4" descr="Tea Leaf Paradox Stirring-7w8FHZJrJvM.mp4">
            <a:hlinkClick r:id="" action="ppaction://media"/>
            <a:extLst>
              <a:ext uri="{FF2B5EF4-FFF2-40B4-BE49-F238E27FC236}">
                <a16:creationId xmlns:a16="http://schemas.microsoft.com/office/drawing/2014/main" id="{C47AA46F-E2D7-EC80-128C-FC61C5EB95F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7518400" y="683710"/>
            <a:ext cx="4064000" cy="3048000"/>
          </a:xfrm>
          <a:prstGeom prst="rect">
            <a:avLst/>
          </a:prstGeom>
        </p:spPr>
      </p:pic>
    </p:spTree>
    <p:extLst>
      <p:ext uri="{BB962C8B-B14F-4D97-AF65-F5344CB8AC3E}">
        <p14:creationId xmlns:p14="http://schemas.microsoft.com/office/powerpoint/2010/main" val="170371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149"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1"/>
                </p:tgtEl>
              </p:cMediaNode>
            </p:video>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The Tea Leaf Paradox</a:t>
            </a:r>
          </a:p>
        </p:txBody>
      </p:sp>
      <p:sp>
        <p:nvSpPr>
          <p:cNvPr id="5" name="Slide Number Placeholder 4"/>
          <p:cNvSpPr>
            <a:spLocks noGrp="1"/>
          </p:cNvSpPr>
          <p:nvPr>
            <p:ph type="sldNum" sz="quarter" idx="11"/>
          </p:nvPr>
        </p:nvSpPr>
        <p:spPr/>
        <p:txBody>
          <a:bodyPr/>
          <a:lstStyle/>
          <a:p>
            <a:fld id="{9A257827-C34C-4251-B995-96C9C233CCC8}" type="slidenum">
              <a:rPr lang="en-US" smtClean="0"/>
              <a:pPr/>
              <a:t>5</a:t>
            </a:fld>
            <a:endParaRPr lang="en-US"/>
          </a:p>
        </p:txBody>
      </p:sp>
      <p:sp>
        <p:nvSpPr>
          <p:cNvPr id="8" name="Content Placeholder 2">
            <a:extLst>
              <a:ext uri="{FF2B5EF4-FFF2-40B4-BE49-F238E27FC236}">
                <a16:creationId xmlns:a16="http://schemas.microsoft.com/office/drawing/2014/main" id="{B5558295-BA94-B19A-DE8B-79140C73887A}"/>
              </a:ext>
            </a:extLst>
          </p:cNvPr>
          <p:cNvSpPr>
            <a:spLocks noGrp="1"/>
          </p:cNvSpPr>
          <p:nvPr>
            <p:ph idx="1"/>
          </p:nvPr>
        </p:nvSpPr>
        <p:spPr>
          <a:xfrm>
            <a:off x="406400" y="1032424"/>
            <a:ext cx="6908801" cy="5220664"/>
          </a:xfrm>
        </p:spPr>
        <p:txBody>
          <a:bodyPr/>
          <a:lstStyle/>
          <a:p>
            <a:pPr marL="228600" indent="-228600">
              <a:buClr>
                <a:schemeClr val="tx1"/>
              </a:buClr>
              <a:buFont typeface="Arial" panose="020B0604020202020204" pitchFamily="34" charset="0"/>
              <a:buChar char="•"/>
            </a:pPr>
            <a:r>
              <a:rPr lang="en-US" b="0" dirty="0">
                <a:solidFill>
                  <a:schemeClr val="tx1"/>
                </a:solidFill>
              </a:rPr>
              <a:t>Question: When you stir a cup of tea with tea leaves in the bottom of the cup, do they move towards the center of the cup or towards the sides?</a:t>
            </a:r>
          </a:p>
          <a:p>
            <a:pPr marL="228600" indent="-228600">
              <a:buClr>
                <a:schemeClr val="tx1"/>
              </a:buClr>
              <a:buFont typeface="Arial" panose="020B0604020202020204" pitchFamily="34" charset="0"/>
              <a:buChar char="•"/>
            </a:pPr>
            <a:r>
              <a:rPr lang="en-US" b="0" dirty="0">
                <a:solidFill>
                  <a:schemeClr val="tx1"/>
                </a:solidFill>
              </a:rPr>
              <a:t>It seems simple: centrifugal force should cause the tea leaves to collect along the sides of the cup. But do they?</a:t>
            </a:r>
          </a:p>
          <a:p>
            <a:pPr marL="228600" indent="-228600">
              <a:buClr>
                <a:schemeClr val="tx1"/>
              </a:buClr>
              <a:buFont typeface="Arial" panose="020B0604020202020204" pitchFamily="34" charset="0"/>
              <a:buChar char="•"/>
            </a:pPr>
            <a:r>
              <a:rPr lang="en-US" b="0" dirty="0">
                <a:solidFill>
                  <a:schemeClr val="tx1"/>
                </a:solidFill>
              </a:rPr>
              <a:t>Albert Einstein solved this problem in 1926 in a paper he wrote on meandering rivers. Einstein was the first person to describe how </a:t>
            </a:r>
            <a:r>
              <a:rPr lang="en-US" b="0" i="1" dirty="0">
                <a:solidFill>
                  <a:schemeClr val="tx1"/>
                </a:solidFill>
              </a:rPr>
              <a:t>helical flow </a:t>
            </a:r>
            <a:r>
              <a:rPr lang="en-US" b="0" dirty="0">
                <a:solidFill>
                  <a:schemeClr val="tx1"/>
                </a:solidFill>
              </a:rPr>
              <a:t>helps to determine the length and migration of meander bends in rivers.</a:t>
            </a:r>
          </a:p>
          <a:p>
            <a:pPr marL="342900" indent="-342900">
              <a:buClr>
                <a:schemeClr val="tx1"/>
              </a:buClr>
              <a:buFont typeface="Arial" panose="020B0604020202020204" pitchFamily="34" charset="0"/>
              <a:buChar char="•"/>
            </a:pPr>
            <a:endParaRPr lang="en-US" b="0" dirty="0">
              <a:solidFill>
                <a:schemeClr val="tx1"/>
              </a:solidFill>
            </a:endParaRPr>
          </a:p>
        </p:txBody>
      </p:sp>
      <p:pic>
        <p:nvPicPr>
          <p:cNvPr id="11" name="Tea Leaf Paradox Stirring-7w8FHZJrJvM.mp4" descr="Tea Leaf Paradox Stirring-7w8FHZJrJvM.mp4">
            <a:hlinkClick r:id="" action="ppaction://media"/>
            <a:extLst>
              <a:ext uri="{FF2B5EF4-FFF2-40B4-BE49-F238E27FC236}">
                <a16:creationId xmlns:a16="http://schemas.microsoft.com/office/drawing/2014/main" id="{C47AA46F-E2D7-EC80-128C-FC61C5EB95F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7518400" y="683710"/>
            <a:ext cx="4064000" cy="3048000"/>
          </a:xfrm>
          <a:prstGeom prst="rect">
            <a:avLst/>
          </a:prstGeom>
        </p:spPr>
      </p:pic>
      <p:pic>
        <p:nvPicPr>
          <p:cNvPr id="11266" name="Picture 2">
            <a:extLst>
              <a:ext uri="{FF2B5EF4-FFF2-40B4-BE49-F238E27FC236}">
                <a16:creationId xmlns:a16="http://schemas.microsoft.com/office/drawing/2014/main" id="{FDB35643-C0F2-D557-417A-70A92ACEBA1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08515" y="3838238"/>
            <a:ext cx="2625237" cy="25263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8455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149"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1"/>
                </p:tgtEl>
              </p:cMediaNode>
            </p:video>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The Tea Leaf Paradox</a:t>
            </a:r>
          </a:p>
        </p:txBody>
      </p:sp>
      <p:sp>
        <p:nvSpPr>
          <p:cNvPr id="5" name="Slide Number Placeholder 4"/>
          <p:cNvSpPr>
            <a:spLocks noGrp="1"/>
          </p:cNvSpPr>
          <p:nvPr>
            <p:ph type="sldNum" sz="quarter" idx="11"/>
          </p:nvPr>
        </p:nvSpPr>
        <p:spPr/>
        <p:txBody>
          <a:bodyPr/>
          <a:lstStyle/>
          <a:p>
            <a:fld id="{9A257827-C34C-4251-B995-96C9C233CCC8}" type="slidenum">
              <a:rPr lang="en-US" smtClean="0"/>
              <a:pPr/>
              <a:t>6</a:t>
            </a:fld>
            <a:endParaRPr lang="en-US"/>
          </a:p>
        </p:txBody>
      </p:sp>
      <p:sp>
        <p:nvSpPr>
          <p:cNvPr id="8" name="Content Placeholder 2">
            <a:extLst>
              <a:ext uri="{FF2B5EF4-FFF2-40B4-BE49-F238E27FC236}">
                <a16:creationId xmlns:a16="http://schemas.microsoft.com/office/drawing/2014/main" id="{B5558295-BA94-B19A-DE8B-79140C73887A}"/>
              </a:ext>
            </a:extLst>
          </p:cNvPr>
          <p:cNvSpPr>
            <a:spLocks noGrp="1"/>
          </p:cNvSpPr>
          <p:nvPr>
            <p:ph idx="1"/>
          </p:nvPr>
        </p:nvSpPr>
        <p:spPr>
          <a:xfrm>
            <a:off x="406400" y="1032424"/>
            <a:ext cx="6908801" cy="5220664"/>
          </a:xfrm>
        </p:spPr>
        <p:txBody>
          <a:bodyPr/>
          <a:lstStyle/>
          <a:p>
            <a:pPr marL="228600" indent="-228600">
              <a:buClr>
                <a:schemeClr val="tx1"/>
              </a:buClr>
              <a:buFont typeface="Arial" panose="020B0604020202020204" pitchFamily="34" charset="0"/>
              <a:buChar char="•"/>
            </a:pPr>
            <a:r>
              <a:rPr lang="en-US" b="0" dirty="0">
                <a:solidFill>
                  <a:schemeClr val="tx1"/>
                </a:solidFill>
              </a:rPr>
              <a:t>Question: When you stir a cup of tea with tea leaves in the bottom of the cup, do they move towards the center of the cup or towards the sides?</a:t>
            </a:r>
          </a:p>
          <a:p>
            <a:pPr marL="228600" indent="-228600">
              <a:buClr>
                <a:schemeClr val="tx1"/>
              </a:buClr>
              <a:buFont typeface="Arial" panose="020B0604020202020204" pitchFamily="34" charset="0"/>
              <a:buChar char="•"/>
            </a:pPr>
            <a:r>
              <a:rPr lang="en-US" b="0" dirty="0">
                <a:solidFill>
                  <a:schemeClr val="tx1"/>
                </a:solidFill>
              </a:rPr>
              <a:t>It seems simple: centrifugal force should cause the tea leaves to collect along the sides of the cup. But do they?</a:t>
            </a:r>
          </a:p>
          <a:p>
            <a:pPr marL="228600" indent="-228600">
              <a:buClr>
                <a:schemeClr val="tx1"/>
              </a:buClr>
              <a:buFont typeface="Arial" panose="020B0604020202020204" pitchFamily="34" charset="0"/>
              <a:buChar char="•"/>
            </a:pPr>
            <a:r>
              <a:rPr lang="en-US" b="0" dirty="0">
                <a:solidFill>
                  <a:schemeClr val="tx1"/>
                </a:solidFill>
              </a:rPr>
              <a:t>Albert Einstein solved this problem in 1926 in a paper he wrote on meandering rivers. Einstein was the first person to describe how </a:t>
            </a:r>
            <a:r>
              <a:rPr lang="en-US" b="0" i="1" dirty="0">
                <a:solidFill>
                  <a:schemeClr val="tx1"/>
                </a:solidFill>
              </a:rPr>
              <a:t>helical flow </a:t>
            </a:r>
            <a:r>
              <a:rPr lang="en-US" b="0" dirty="0">
                <a:solidFill>
                  <a:schemeClr val="tx1"/>
                </a:solidFill>
              </a:rPr>
              <a:t>helps to determine the length and migration of meander bends in rivers.</a:t>
            </a:r>
          </a:p>
          <a:p>
            <a:pPr marL="342900" indent="-342900">
              <a:buClr>
                <a:schemeClr val="tx1"/>
              </a:buClr>
              <a:buFont typeface="Arial" panose="020B0604020202020204" pitchFamily="34" charset="0"/>
              <a:buChar char="•"/>
            </a:pPr>
            <a:endParaRPr lang="en-US" b="0" dirty="0">
              <a:solidFill>
                <a:schemeClr val="tx1"/>
              </a:solidFill>
            </a:endParaRPr>
          </a:p>
        </p:txBody>
      </p:sp>
      <p:pic>
        <p:nvPicPr>
          <p:cNvPr id="11" name="Tea Leaf Paradox Stirring-7w8FHZJrJvM.mp4" descr="Tea Leaf Paradox Stirring-7w8FHZJrJvM.mp4">
            <a:hlinkClick r:id="" action="ppaction://media"/>
            <a:extLst>
              <a:ext uri="{FF2B5EF4-FFF2-40B4-BE49-F238E27FC236}">
                <a16:creationId xmlns:a16="http://schemas.microsoft.com/office/drawing/2014/main" id="{C47AA46F-E2D7-EC80-128C-FC61C5EB95F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7518400" y="683710"/>
            <a:ext cx="4064000" cy="3048000"/>
          </a:xfrm>
          <a:prstGeom prst="rect">
            <a:avLst/>
          </a:prstGeom>
        </p:spPr>
      </p:pic>
      <p:pic>
        <p:nvPicPr>
          <p:cNvPr id="11266" name="Picture 2">
            <a:extLst>
              <a:ext uri="{FF2B5EF4-FFF2-40B4-BE49-F238E27FC236}">
                <a16:creationId xmlns:a16="http://schemas.microsoft.com/office/drawing/2014/main" id="{FDB35643-C0F2-D557-417A-70A92ACEBA1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08515" y="3838238"/>
            <a:ext cx="2625237" cy="2526369"/>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4" descr="A picture containing background pattern&#10;&#10;Description automatically generated">
            <a:extLst>
              <a:ext uri="{FF2B5EF4-FFF2-40B4-BE49-F238E27FC236}">
                <a16:creationId xmlns:a16="http://schemas.microsoft.com/office/drawing/2014/main" id="{2F55BA1C-7903-004A-A3CC-C4BCBA87ED5E}"/>
              </a:ext>
            </a:extLst>
          </p:cNvPr>
          <p:cNvPicPr>
            <a:picLocks noChangeAspect="1"/>
          </p:cNvPicPr>
          <p:nvPr/>
        </p:nvPicPr>
        <p:blipFill>
          <a:blip r:embed="rId6"/>
          <a:stretch>
            <a:fillRect/>
          </a:stretch>
        </p:blipFill>
        <p:spPr>
          <a:xfrm>
            <a:off x="3836117" y="3731292"/>
            <a:ext cx="3279820" cy="2186547"/>
          </a:xfrm>
          <a:prstGeom prst="rect">
            <a:avLst/>
          </a:prstGeom>
        </p:spPr>
      </p:pic>
      <p:pic>
        <p:nvPicPr>
          <p:cNvPr id="17" name="Picture 16" descr="A picture containing text, grass, blackboard&#10;&#10;Description automatically generated">
            <a:extLst>
              <a:ext uri="{FF2B5EF4-FFF2-40B4-BE49-F238E27FC236}">
                <a16:creationId xmlns:a16="http://schemas.microsoft.com/office/drawing/2014/main" id="{EC580901-1F95-8CDE-4C36-6AF7C2E0B03E}"/>
              </a:ext>
            </a:extLst>
          </p:cNvPr>
          <p:cNvPicPr>
            <a:picLocks noChangeAspect="1"/>
          </p:cNvPicPr>
          <p:nvPr/>
        </p:nvPicPr>
        <p:blipFill>
          <a:blip r:embed="rId7"/>
          <a:stretch>
            <a:fillRect/>
          </a:stretch>
        </p:blipFill>
        <p:spPr>
          <a:xfrm>
            <a:off x="483674" y="3731292"/>
            <a:ext cx="3276600" cy="2184400"/>
          </a:xfrm>
          <a:prstGeom prst="rect">
            <a:avLst/>
          </a:prstGeom>
        </p:spPr>
      </p:pic>
      <p:sp>
        <p:nvSpPr>
          <p:cNvPr id="18" name="TextBox 17">
            <a:extLst>
              <a:ext uri="{FF2B5EF4-FFF2-40B4-BE49-F238E27FC236}">
                <a16:creationId xmlns:a16="http://schemas.microsoft.com/office/drawing/2014/main" id="{DD8B416E-29A6-B8D3-6C1F-5B1257A3D136}"/>
              </a:ext>
            </a:extLst>
          </p:cNvPr>
          <p:cNvSpPr txBox="1"/>
          <p:nvPr/>
        </p:nvSpPr>
        <p:spPr>
          <a:xfrm>
            <a:off x="483674" y="5941273"/>
            <a:ext cx="3279820" cy="338554"/>
          </a:xfrm>
          <a:prstGeom prst="rect">
            <a:avLst/>
          </a:prstGeom>
          <a:noFill/>
        </p:spPr>
        <p:txBody>
          <a:bodyPr wrap="square" rtlCol="0">
            <a:spAutoFit/>
          </a:bodyPr>
          <a:lstStyle/>
          <a:p>
            <a:pPr algn="ctr"/>
            <a:r>
              <a:rPr lang="en-US" sz="1600" dirty="0"/>
              <a:t>Amazon River, 1985</a:t>
            </a:r>
          </a:p>
        </p:txBody>
      </p:sp>
      <p:sp>
        <p:nvSpPr>
          <p:cNvPr id="21" name="TextBox 20">
            <a:extLst>
              <a:ext uri="{FF2B5EF4-FFF2-40B4-BE49-F238E27FC236}">
                <a16:creationId xmlns:a16="http://schemas.microsoft.com/office/drawing/2014/main" id="{0D852614-868A-B6D3-C9C2-2C9018CA6A1C}"/>
              </a:ext>
            </a:extLst>
          </p:cNvPr>
          <p:cNvSpPr txBox="1"/>
          <p:nvPr/>
        </p:nvSpPr>
        <p:spPr>
          <a:xfrm>
            <a:off x="3836117" y="5941273"/>
            <a:ext cx="3279820" cy="338554"/>
          </a:xfrm>
          <a:prstGeom prst="rect">
            <a:avLst/>
          </a:prstGeom>
          <a:noFill/>
        </p:spPr>
        <p:txBody>
          <a:bodyPr wrap="square" rtlCol="0">
            <a:spAutoFit/>
          </a:bodyPr>
          <a:lstStyle/>
          <a:p>
            <a:pPr algn="ctr"/>
            <a:r>
              <a:rPr lang="en-US" sz="1600" dirty="0"/>
              <a:t>Amazon River, 2014</a:t>
            </a:r>
          </a:p>
        </p:txBody>
      </p:sp>
      <p:sp>
        <p:nvSpPr>
          <p:cNvPr id="22" name="TextBox 21">
            <a:extLst>
              <a:ext uri="{FF2B5EF4-FFF2-40B4-BE49-F238E27FC236}">
                <a16:creationId xmlns:a16="http://schemas.microsoft.com/office/drawing/2014/main" id="{8B417399-1454-1A0E-D140-90C3AA2EE741}"/>
              </a:ext>
            </a:extLst>
          </p:cNvPr>
          <p:cNvSpPr txBox="1"/>
          <p:nvPr/>
        </p:nvSpPr>
        <p:spPr>
          <a:xfrm>
            <a:off x="3851321" y="5564082"/>
            <a:ext cx="3249411" cy="338554"/>
          </a:xfrm>
          <a:prstGeom prst="rect">
            <a:avLst/>
          </a:prstGeom>
          <a:noFill/>
        </p:spPr>
        <p:txBody>
          <a:bodyPr wrap="square" rtlCol="0">
            <a:spAutoFit/>
          </a:bodyPr>
          <a:lstStyle/>
          <a:p>
            <a:pPr algn="ctr"/>
            <a:r>
              <a:rPr lang="en-US" sz="1600" dirty="0">
                <a:solidFill>
                  <a:schemeClr val="bg1"/>
                </a:solidFill>
              </a:rPr>
              <a:t>https:earthobservatory.nasa.gov</a:t>
            </a:r>
          </a:p>
        </p:txBody>
      </p:sp>
    </p:spTree>
    <p:extLst>
      <p:ext uri="{BB962C8B-B14F-4D97-AF65-F5344CB8AC3E}">
        <p14:creationId xmlns:p14="http://schemas.microsoft.com/office/powerpoint/2010/main" val="4267673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101"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1"/>
                </p:tgtEl>
              </p:cMediaNode>
            </p:video>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Modeling Definitions</a:t>
            </a:r>
          </a:p>
        </p:txBody>
      </p:sp>
      <p:sp>
        <p:nvSpPr>
          <p:cNvPr id="3" name="Content Placeholder 2"/>
          <p:cNvSpPr>
            <a:spLocks noGrp="1"/>
          </p:cNvSpPr>
          <p:nvPr>
            <p:ph idx="1"/>
          </p:nvPr>
        </p:nvSpPr>
        <p:spPr>
          <a:xfrm>
            <a:off x="406400" y="1032424"/>
            <a:ext cx="6680200" cy="5220664"/>
          </a:xfrm>
        </p:spPr>
        <p:txBody>
          <a:bodyPr/>
          <a:lstStyle/>
          <a:p>
            <a:pPr marL="228600" indent="-228600">
              <a:buClr>
                <a:schemeClr val="tx1"/>
              </a:buClr>
              <a:buFont typeface="Arial" panose="020B0604020202020204" pitchFamily="34" charset="0"/>
              <a:buChar char="•"/>
            </a:pPr>
            <a:r>
              <a:rPr lang="en-US" sz="2000" b="0" dirty="0">
                <a:solidFill>
                  <a:schemeClr val="tx1"/>
                </a:solidFill>
              </a:rPr>
              <a:t>Mathematical modeling is the process of developing a mathematical representation of a system using mathematical concepts and techniques to describe the processes, interactions, and parameters of that system.</a:t>
            </a:r>
          </a:p>
          <a:p>
            <a:pPr marL="228600" indent="-228600">
              <a:buClr>
                <a:schemeClr val="tx1"/>
              </a:buClr>
              <a:buFont typeface="Arial" panose="020B0604020202020204" pitchFamily="34" charset="0"/>
              <a:buChar char="•"/>
            </a:pPr>
            <a:r>
              <a:rPr lang="en-US" sz="2000" b="0" dirty="0">
                <a:solidFill>
                  <a:schemeClr val="tx1"/>
                </a:solidFill>
              </a:rPr>
              <a:t>Computer modeling is the process of developing mathematical algorithms that describe a system and then developing the computer code to simulate them.</a:t>
            </a:r>
          </a:p>
          <a:p>
            <a:pPr marL="228600" indent="-228600">
              <a:buClr>
                <a:schemeClr val="tx1"/>
              </a:buClr>
              <a:buFont typeface="Arial" panose="020B0604020202020204" pitchFamily="34" charset="0"/>
              <a:buChar char="•"/>
            </a:pPr>
            <a:r>
              <a:rPr lang="en-US" sz="2000" b="0" dirty="0">
                <a:solidFill>
                  <a:schemeClr val="tx1"/>
                </a:solidFill>
              </a:rPr>
              <a:t>Modeling vs. Simulation:</a:t>
            </a:r>
          </a:p>
          <a:p>
            <a:pPr marL="685800" lvl="1" indent="-228600">
              <a:buClr>
                <a:schemeClr val="tx1"/>
              </a:buClr>
            </a:pPr>
            <a:r>
              <a:rPr lang="en-US" sz="2000" b="0" dirty="0">
                <a:solidFill>
                  <a:schemeClr val="tx1"/>
                </a:solidFill>
              </a:rPr>
              <a:t>Modeling is the process of </a:t>
            </a:r>
            <a:r>
              <a:rPr lang="en-US" sz="2000" b="0" i="1" dirty="0">
                <a:solidFill>
                  <a:schemeClr val="tx1"/>
                </a:solidFill>
              </a:rPr>
              <a:t>building</a:t>
            </a:r>
            <a:r>
              <a:rPr lang="en-US" sz="2000" b="0" dirty="0">
                <a:solidFill>
                  <a:schemeClr val="tx1"/>
                </a:solidFill>
              </a:rPr>
              <a:t> a model</a:t>
            </a:r>
          </a:p>
          <a:p>
            <a:pPr marL="685800" lvl="1" indent="-228600">
              <a:buClr>
                <a:schemeClr val="tx1"/>
              </a:buClr>
            </a:pPr>
            <a:r>
              <a:rPr lang="en-US" sz="2000" b="0" dirty="0">
                <a:solidFill>
                  <a:schemeClr val="tx1"/>
                </a:solidFill>
              </a:rPr>
              <a:t>Simulation is the process of </a:t>
            </a:r>
            <a:r>
              <a:rPr lang="en-US" sz="2000" b="0" i="1" dirty="0">
                <a:solidFill>
                  <a:schemeClr val="tx1"/>
                </a:solidFill>
              </a:rPr>
              <a:t>using</a:t>
            </a:r>
            <a:r>
              <a:rPr lang="en-US" sz="2000" b="0" dirty="0">
                <a:solidFill>
                  <a:schemeClr val="tx1"/>
                </a:solidFill>
              </a:rPr>
              <a:t> a mathematical model to study the behavior of a system </a:t>
            </a:r>
            <a:r>
              <a:rPr lang="en-US" sz="2000" b="0" i="1" dirty="0">
                <a:solidFill>
                  <a:schemeClr val="tx1"/>
                </a:solidFill>
              </a:rPr>
              <a:t>for a particular time period</a:t>
            </a:r>
            <a:r>
              <a:rPr lang="en-US" sz="2000" b="0" dirty="0">
                <a:solidFill>
                  <a:schemeClr val="tx1"/>
                </a:solidFill>
              </a:rPr>
              <a:t>.</a:t>
            </a:r>
          </a:p>
        </p:txBody>
      </p:sp>
      <p:sp>
        <p:nvSpPr>
          <p:cNvPr id="5" name="Slide Number Placeholder 4"/>
          <p:cNvSpPr>
            <a:spLocks noGrp="1"/>
          </p:cNvSpPr>
          <p:nvPr>
            <p:ph type="sldNum" sz="quarter" idx="11"/>
          </p:nvPr>
        </p:nvSpPr>
        <p:spPr/>
        <p:txBody>
          <a:bodyPr/>
          <a:lstStyle/>
          <a:p>
            <a:fld id="{9A257827-C34C-4251-B995-96C9C233CCC8}" type="slidenum">
              <a:rPr lang="en-US" smtClean="0"/>
              <a:pPr/>
              <a:t>7</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13314" name="Picture 2">
            <a:extLst>
              <a:ext uri="{FF2B5EF4-FFF2-40B4-BE49-F238E27FC236}">
                <a16:creationId xmlns:a16="http://schemas.microsoft.com/office/drawing/2014/main" id="{4F536536-3346-8C15-B6BD-E48CF9C460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69537" y="602459"/>
            <a:ext cx="3770927" cy="513892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0BFE7B6-A17F-332C-8981-05B7B9373E50}"/>
              </a:ext>
            </a:extLst>
          </p:cNvPr>
          <p:cNvSpPr txBox="1"/>
          <p:nvPr/>
        </p:nvSpPr>
        <p:spPr>
          <a:xfrm>
            <a:off x="7247173" y="5822069"/>
            <a:ext cx="4538427" cy="338554"/>
          </a:xfrm>
          <a:prstGeom prst="rect">
            <a:avLst/>
          </a:prstGeom>
          <a:noFill/>
        </p:spPr>
        <p:txBody>
          <a:bodyPr wrap="square" rtlCol="0">
            <a:spAutoFit/>
          </a:bodyPr>
          <a:lstStyle/>
          <a:p>
            <a:r>
              <a:rPr lang="en-US" sz="1600" dirty="0"/>
              <a:t>Source: https://</a:t>
            </a:r>
            <a:r>
              <a:rPr lang="en-US" sz="1600" dirty="0" err="1"/>
              <a:t>en.wikipedia.org</a:t>
            </a:r>
            <a:r>
              <a:rPr lang="en-US" sz="1600" dirty="0"/>
              <a:t>/wiki/Flowchart</a:t>
            </a:r>
          </a:p>
        </p:txBody>
      </p:sp>
    </p:spTree>
    <p:extLst>
      <p:ext uri="{BB962C8B-B14F-4D97-AF65-F5344CB8AC3E}">
        <p14:creationId xmlns:p14="http://schemas.microsoft.com/office/powerpoint/2010/main" val="39028907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Modeling Definitions</a:t>
            </a:r>
          </a:p>
        </p:txBody>
      </p:sp>
      <p:sp>
        <p:nvSpPr>
          <p:cNvPr id="3" name="Content Placeholder 2"/>
          <p:cNvSpPr>
            <a:spLocks noGrp="1"/>
          </p:cNvSpPr>
          <p:nvPr>
            <p:ph idx="1"/>
          </p:nvPr>
        </p:nvSpPr>
        <p:spPr>
          <a:xfrm>
            <a:off x="406400" y="1032424"/>
            <a:ext cx="6497001" cy="5220664"/>
          </a:xfrm>
        </p:spPr>
        <p:txBody>
          <a:bodyPr/>
          <a:lstStyle/>
          <a:p>
            <a:pPr marL="228600" indent="-228600">
              <a:buClr>
                <a:schemeClr val="tx1"/>
              </a:buClr>
              <a:buFont typeface="Arial" panose="020B0604020202020204" pitchFamily="34" charset="0"/>
              <a:buChar char="•"/>
            </a:pPr>
            <a:r>
              <a:rPr lang="en-US" sz="2000" b="0" i="1" dirty="0">
                <a:solidFill>
                  <a:schemeClr val="tx1"/>
                </a:solidFill>
              </a:rPr>
              <a:t>Empirical </a:t>
            </a:r>
            <a:r>
              <a:rPr lang="en-US" sz="2000" b="0" dirty="0">
                <a:solidFill>
                  <a:schemeClr val="tx1"/>
                </a:solidFill>
              </a:rPr>
              <a:t>modeling</a:t>
            </a:r>
            <a:r>
              <a:rPr lang="en-US" sz="2000" b="0" i="1" dirty="0">
                <a:solidFill>
                  <a:schemeClr val="tx1"/>
                </a:solidFill>
              </a:rPr>
              <a:t> </a:t>
            </a:r>
            <a:r>
              <a:rPr lang="en-US" sz="2000" b="0" dirty="0">
                <a:solidFill>
                  <a:schemeClr val="tx1"/>
                </a:solidFill>
              </a:rPr>
              <a:t>uses an inductive approach, based on observations (data) and the relationships between system components, such as determined through linear and non-linear regression.</a:t>
            </a:r>
          </a:p>
          <a:p>
            <a:pPr marL="228600" indent="-228600">
              <a:buClr>
                <a:schemeClr val="tx1"/>
              </a:buClr>
              <a:buFont typeface="Arial" panose="020B0604020202020204" pitchFamily="34" charset="0"/>
              <a:buChar char="•"/>
            </a:pPr>
            <a:r>
              <a:rPr lang="en-US" sz="2000" b="0" i="1" dirty="0">
                <a:solidFill>
                  <a:schemeClr val="tx1"/>
                </a:solidFill>
              </a:rPr>
              <a:t>Mechanistic</a:t>
            </a:r>
            <a:r>
              <a:rPr lang="en-US" sz="2000" b="0" dirty="0">
                <a:solidFill>
                  <a:schemeClr val="tx1"/>
                </a:solidFill>
              </a:rPr>
              <a:t> (process-based) models use a deductive approach, based on the principles of physics, chemistry, and biology.</a:t>
            </a:r>
          </a:p>
          <a:p>
            <a:pPr marL="228600" indent="-228600">
              <a:buClr>
                <a:schemeClr val="tx1"/>
              </a:buClr>
              <a:buFont typeface="Arial" panose="020B0604020202020204" pitchFamily="34" charset="0"/>
              <a:buChar char="•"/>
            </a:pPr>
            <a:r>
              <a:rPr lang="en-US" sz="2000" b="0" dirty="0">
                <a:solidFill>
                  <a:schemeClr val="tx1"/>
                </a:solidFill>
              </a:rPr>
              <a:t>Most water quality models use a mixture of empirically-derived relationships combined with iterative calculations that describe the physical and biogeochemical processes.</a:t>
            </a:r>
          </a:p>
          <a:p>
            <a:pPr marL="342900" indent="-342900">
              <a:buClr>
                <a:schemeClr val="tx1"/>
              </a:buClr>
              <a:buFont typeface="Arial" panose="020B0604020202020204" pitchFamily="34" charset="0"/>
              <a:buChar char="•"/>
            </a:pPr>
            <a:endParaRPr lang="en-US" sz="2000" b="0" dirty="0">
              <a:solidFill>
                <a:schemeClr val="tx1"/>
              </a:solidFill>
            </a:endParaRPr>
          </a:p>
          <a:p>
            <a:pPr>
              <a:buClr>
                <a:schemeClr val="tx1"/>
              </a:buClr>
            </a:pPr>
            <a:endParaRPr lang="en-US" sz="1400" b="0" dirty="0">
              <a:solidFill>
                <a:schemeClr val="tx1"/>
              </a:solidFill>
            </a:endParaRPr>
          </a:p>
          <a:p>
            <a:pPr>
              <a:buClr>
                <a:schemeClr val="tx1"/>
              </a:buClr>
            </a:pPr>
            <a:endParaRPr lang="en-US" sz="1400" b="0" dirty="0">
              <a:solidFill>
                <a:schemeClr val="tx1"/>
              </a:solidFill>
            </a:endParaRPr>
          </a:p>
          <a:p>
            <a:pPr>
              <a:buClr>
                <a:schemeClr val="tx1"/>
              </a:buClr>
            </a:pPr>
            <a:endParaRPr lang="en-US" sz="1400" b="0" dirty="0">
              <a:solidFill>
                <a:schemeClr val="tx1"/>
              </a:solidFill>
            </a:endParaRPr>
          </a:p>
          <a:p>
            <a:pPr>
              <a:buClr>
                <a:schemeClr val="tx1"/>
              </a:buClr>
            </a:pPr>
            <a:r>
              <a:rPr lang="en-US" sz="1600" b="0" dirty="0">
                <a:solidFill>
                  <a:schemeClr val="tx1"/>
                </a:solidFill>
              </a:rPr>
              <a:t>Source: Steven C. Chapra (1997). Surface Water-Quality Modeling. Waveland Press, Long Grove, IL.</a:t>
            </a:r>
          </a:p>
        </p:txBody>
      </p:sp>
      <p:sp>
        <p:nvSpPr>
          <p:cNvPr id="5" name="Slide Number Placeholder 4"/>
          <p:cNvSpPr>
            <a:spLocks noGrp="1"/>
          </p:cNvSpPr>
          <p:nvPr>
            <p:ph type="sldNum" sz="quarter" idx="11"/>
          </p:nvPr>
        </p:nvSpPr>
        <p:spPr/>
        <p:txBody>
          <a:bodyPr/>
          <a:lstStyle/>
          <a:p>
            <a:fld id="{9A257827-C34C-4251-B995-96C9C233CCC8}" type="slidenum">
              <a:rPr lang="en-US" smtClean="0"/>
              <a:pPr/>
              <a:t>8</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4" name="Picture 3">
            <a:extLst>
              <a:ext uri="{FF2B5EF4-FFF2-40B4-BE49-F238E27FC236}">
                <a16:creationId xmlns:a16="http://schemas.microsoft.com/office/drawing/2014/main" id="{408FA94B-A3CE-DCC4-E627-B39361DCB29B}"/>
              </a:ext>
            </a:extLst>
          </p:cNvPr>
          <p:cNvPicPr>
            <a:picLocks noChangeAspect="1"/>
          </p:cNvPicPr>
          <p:nvPr/>
        </p:nvPicPr>
        <p:blipFill>
          <a:blip r:embed="rId3"/>
          <a:stretch>
            <a:fillRect/>
          </a:stretch>
        </p:blipFill>
        <p:spPr>
          <a:xfrm>
            <a:off x="7940509" y="515153"/>
            <a:ext cx="3634680" cy="2726012"/>
          </a:xfrm>
          <a:prstGeom prst="rect">
            <a:avLst/>
          </a:prstGeom>
          <a:ln w="19050">
            <a:solidFill>
              <a:schemeClr val="bg1"/>
            </a:solidFill>
          </a:ln>
        </p:spPr>
      </p:pic>
      <p:pic>
        <p:nvPicPr>
          <p:cNvPr id="6" name="Picture 5" descr="A boat in the water&#10;&#10;Description automatically generated with medium confidence">
            <a:extLst>
              <a:ext uri="{FF2B5EF4-FFF2-40B4-BE49-F238E27FC236}">
                <a16:creationId xmlns:a16="http://schemas.microsoft.com/office/drawing/2014/main" id="{A9F726E1-8864-E309-F6ED-F72C4DFCB43E}"/>
              </a:ext>
            </a:extLst>
          </p:cNvPr>
          <p:cNvPicPr>
            <a:picLocks noChangeAspect="1"/>
          </p:cNvPicPr>
          <p:nvPr/>
        </p:nvPicPr>
        <p:blipFill>
          <a:blip r:embed="rId4"/>
          <a:stretch>
            <a:fillRect/>
          </a:stretch>
        </p:blipFill>
        <p:spPr>
          <a:xfrm>
            <a:off x="7940508" y="3237566"/>
            <a:ext cx="3634681" cy="3010465"/>
          </a:xfrm>
          <a:prstGeom prst="rect">
            <a:avLst/>
          </a:prstGeom>
          <a:ln>
            <a:solidFill>
              <a:schemeClr val="accent1"/>
            </a:solidFill>
          </a:ln>
        </p:spPr>
      </p:pic>
    </p:spTree>
    <p:extLst>
      <p:ext uri="{BB962C8B-B14F-4D97-AF65-F5344CB8AC3E}">
        <p14:creationId xmlns:p14="http://schemas.microsoft.com/office/powerpoint/2010/main" val="15979352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Computer Models &amp; Programming</a:t>
            </a:r>
          </a:p>
        </p:txBody>
      </p:sp>
      <p:sp>
        <p:nvSpPr>
          <p:cNvPr id="3" name="Content Placeholder 2"/>
          <p:cNvSpPr>
            <a:spLocks noGrp="1"/>
          </p:cNvSpPr>
          <p:nvPr>
            <p:ph idx="1"/>
          </p:nvPr>
        </p:nvSpPr>
        <p:spPr>
          <a:xfrm>
            <a:off x="406400" y="1032424"/>
            <a:ext cx="6680200" cy="5220664"/>
          </a:xfrm>
        </p:spPr>
        <p:txBody>
          <a:bodyPr/>
          <a:lstStyle/>
          <a:p>
            <a:pPr marL="228600" indent="-228600">
              <a:buClr>
                <a:schemeClr val="tx1"/>
              </a:buClr>
              <a:buFont typeface="Arial" panose="020B0604020202020204" pitchFamily="34" charset="0"/>
              <a:buChar char="•"/>
            </a:pPr>
            <a:r>
              <a:rPr lang="en-US" b="0" dirty="0">
                <a:solidFill>
                  <a:schemeClr val="tx1"/>
                </a:solidFill>
              </a:rPr>
              <a:t>Early computer models were custom-developed applications programmed for a specific purpose, such as a water quality model of a particular lake or reservoir.</a:t>
            </a:r>
          </a:p>
          <a:p>
            <a:pPr marL="228600" indent="-228600">
              <a:buClr>
                <a:schemeClr val="tx1"/>
              </a:buClr>
              <a:buFont typeface="Arial" panose="020B0604020202020204" pitchFamily="34" charset="0"/>
              <a:buChar char="•"/>
            </a:pPr>
            <a:r>
              <a:rPr lang="en-US" b="0" dirty="0">
                <a:solidFill>
                  <a:schemeClr val="tx1"/>
                </a:solidFill>
                <a:latin typeface="+mn-lt"/>
              </a:rPr>
              <a:t>The first </a:t>
            </a:r>
            <a:r>
              <a:rPr lang="en-US" b="0" i="1" dirty="0">
                <a:solidFill>
                  <a:schemeClr val="tx1"/>
                </a:solidFill>
                <a:latin typeface="+mn-lt"/>
              </a:rPr>
              <a:t>mathematical</a:t>
            </a:r>
            <a:r>
              <a:rPr lang="en-US" b="0" dirty="0">
                <a:solidFill>
                  <a:schemeClr val="tx1"/>
                </a:solidFill>
                <a:latin typeface="+mn-lt"/>
              </a:rPr>
              <a:t> water quality model was developed by Streeter and Phelps in 1925. It predicted the dissolved oxygen “sag curve” in rivers.</a:t>
            </a:r>
          </a:p>
          <a:p>
            <a:pPr marL="228600" indent="-228600">
              <a:buClr>
                <a:schemeClr val="tx1"/>
              </a:buClr>
              <a:buFont typeface="Arial" panose="020B0604020202020204" pitchFamily="34" charset="0"/>
              <a:buChar char="•"/>
            </a:pPr>
            <a:r>
              <a:rPr lang="en-US" b="0" dirty="0">
                <a:solidFill>
                  <a:schemeClr val="tx1"/>
                </a:solidFill>
                <a:latin typeface="+mn-lt"/>
              </a:rPr>
              <a:t>In the 1960’s, computer models began to be developed. By the early 1970’s, general-purpose models began to emerge.</a:t>
            </a:r>
          </a:p>
          <a:p>
            <a:pPr marL="228600" indent="-228600">
              <a:buClr>
                <a:schemeClr val="tx1"/>
              </a:buClr>
              <a:buFont typeface="Arial" panose="020B0604020202020204" pitchFamily="34" charset="0"/>
              <a:buChar char="•"/>
            </a:pPr>
            <a:r>
              <a:rPr lang="en-US" b="0" dirty="0">
                <a:solidFill>
                  <a:schemeClr val="tx1"/>
                </a:solidFill>
                <a:latin typeface="+mn-lt"/>
              </a:rPr>
              <a:t>Today’s general-purpose water resources models, e.g., HEC-RAS, HEC-ResSim, and CE-QUAL-W2, typically do not require the modeler to do any programming.</a:t>
            </a:r>
          </a:p>
          <a:p>
            <a:pPr marL="685800" lvl="1" indent="-228600">
              <a:buClr>
                <a:schemeClr val="tx1"/>
              </a:buClr>
            </a:pPr>
            <a:r>
              <a:rPr lang="en-US" b="0" dirty="0">
                <a:solidFill>
                  <a:schemeClr val="tx1"/>
                </a:solidFill>
              </a:rPr>
              <a:t>CE-QUAL-W2 is a general-purpose model, but it allows custom computations through modifying and enhancing the </a:t>
            </a:r>
            <a:r>
              <a:rPr lang="en-US" b="0" i="1" dirty="0">
                <a:solidFill>
                  <a:schemeClr val="tx1"/>
                </a:solidFill>
              </a:rPr>
              <a:t>source code</a:t>
            </a:r>
            <a:r>
              <a:rPr lang="en-US" b="0" dirty="0">
                <a:solidFill>
                  <a:schemeClr val="tx1"/>
                </a:solidFill>
              </a:rPr>
              <a:t>.</a:t>
            </a:r>
          </a:p>
          <a:p>
            <a:pPr marL="685800" lvl="1" indent="-228600">
              <a:buClr>
                <a:schemeClr val="tx1"/>
              </a:buClr>
            </a:pPr>
            <a:r>
              <a:rPr lang="en-US" b="0" dirty="0">
                <a:solidFill>
                  <a:schemeClr val="tx1"/>
                </a:solidFill>
                <a:latin typeface="+mn-lt"/>
              </a:rPr>
              <a:t>HEC-ResSim allows custom computations through “scripting.” Modelers cannot alter the source code.</a:t>
            </a:r>
          </a:p>
          <a:p>
            <a:pPr marL="685800" lvl="1" indent="-228600">
              <a:buClr>
                <a:schemeClr val="tx1"/>
              </a:buClr>
            </a:pPr>
            <a:r>
              <a:rPr lang="en-US" b="0" dirty="0">
                <a:solidFill>
                  <a:schemeClr val="tx1"/>
                </a:solidFill>
                <a:latin typeface="+mn-lt"/>
              </a:rPr>
              <a:t>Scripting (Python, R, MATLAB) is increasingly used for visualization and analysis of the results.</a:t>
            </a:r>
            <a:endParaRPr lang="en-US" sz="1800"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9</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3077" name="Picture 5">
            <a:extLst>
              <a:ext uri="{FF2B5EF4-FFF2-40B4-BE49-F238E27FC236}">
                <a16:creationId xmlns:a16="http://schemas.microsoft.com/office/drawing/2014/main" id="{167D7BFE-6EB3-FD69-7855-3FD387CCC1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19205" y="636871"/>
            <a:ext cx="4450081" cy="3990240"/>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6A500C85-D5CC-22CD-B331-5CC439F3C162}"/>
              </a:ext>
            </a:extLst>
          </p:cNvPr>
          <p:cNvSpPr txBox="1"/>
          <p:nvPr/>
        </p:nvSpPr>
        <p:spPr>
          <a:xfrm>
            <a:off x="7169509" y="4627111"/>
            <a:ext cx="4752415" cy="1569660"/>
          </a:xfrm>
          <a:prstGeom prst="rect">
            <a:avLst/>
          </a:prstGeom>
          <a:noFill/>
        </p:spPr>
        <p:txBody>
          <a:bodyPr wrap="square" rtlCol="0">
            <a:spAutoFit/>
          </a:bodyPr>
          <a:lstStyle/>
          <a:p>
            <a:r>
              <a:rPr lang="en-US" sz="1600" dirty="0"/>
              <a:t>A 48-hour computer simulation of Typhoon Mawar using the Weather Research and Forecasting model.</a:t>
            </a:r>
          </a:p>
          <a:p>
            <a:endParaRPr lang="en-US" sz="1600" dirty="0"/>
          </a:p>
          <a:p>
            <a:r>
              <a:rPr lang="en-US" sz="1600" dirty="0"/>
              <a:t>Source: </a:t>
            </a:r>
          </a:p>
          <a:p>
            <a:r>
              <a:rPr lang="en-US" sz="1600" dirty="0"/>
              <a:t>https://</a:t>
            </a:r>
            <a:r>
              <a:rPr lang="en-US" sz="1600" dirty="0" err="1"/>
              <a:t>en.wikipedia.org</a:t>
            </a:r>
            <a:r>
              <a:rPr lang="en-US" sz="1600" dirty="0"/>
              <a:t>/wiki/</a:t>
            </a:r>
            <a:r>
              <a:rPr lang="en-US" sz="1600" dirty="0" err="1"/>
              <a:t>Computer_simulation</a:t>
            </a:r>
            <a:endParaRPr lang="en-US" sz="1600" dirty="0"/>
          </a:p>
        </p:txBody>
      </p:sp>
    </p:spTree>
    <p:extLst>
      <p:ext uri="{BB962C8B-B14F-4D97-AF65-F5344CB8AC3E}">
        <p14:creationId xmlns:p14="http://schemas.microsoft.com/office/powerpoint/2010/main" val="20429262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Water Quality Modeling</a:t>
            </a:r>
          </a:p>
        </p:txBody>
      </p:sp>
      <p:sp>
        <p:nvSpPr>
          <p:cNvPr id="3" name="Content Placeholder 2"/>
          <p:cNvSpPr>
            <a:spLocks noGrp="1"/>
          </p:cNvSpPr>
          <p:nvPr>
            <p:ph idx="1"/>
          </p:nvPr>
        </p:nvSpPr>
        <p:spPr>
          <a:xfrm>
            <a:off x="406400" y="1032424"/>
            <a:ext cx="6040119" cy="5220664"/>
          </a:xfrm>
        </p:spPr>
        <p:txBody>
          <a:bodyPr/>
          <a:lstStyle/>
          <a:p>
            <a:pPr marL="228600" indent="-228600">
              <a:buClr>
                <a:schemeClr val="tx1"/>
              </a:buClr>
              <a:buFont typeface="Arial" panose="020B0604020202020204" pitchFamily="34" charset="0"/>
              <a:buChar char="•"/>
            </a:pPr>
            <a:r>
              <a:rPr lang="en-US" sz="1800" b="0" dirty="0">
                <a:solidFill>
                  <a:schemeClr val="tx1"/>
                </a:solidFill>
                <a:latin typeface="+mn-lt"/>
              </a:rPr>
              <a:t>Water quality modeling combines mathematical descriptions of the physical and biogeochemical processes </a:t>
            </a:r>
            <a:r>
              <a:rPr lang="en-US" b="0" dirty="0">
                <a:solidFill>
                  <a:schemeClr val="tx1"/>
                </a:solidFill>
                <a:latin typeface="+mn-lt"/>
              </a:rPr>
              <a:t>to characterize behavior of a waterbody or water resource. </a:t>
            </a:r>
          </a:p>
          <a:p>
            <a:pPr marL="228600" indent="-228600">
              <a:buClr>
                <a:schemeClr val="tx1"/>
              </a:buClr>
              <a:buFont typeface="Arial" panose="020B0604020202020204" pitchFamily="34" charset="0"/>
              <a:buChar char="•"/>
            </a:pPr>
            <a:r>
              <a:rPr lang="en-US" b="0" dirty="0">
                <a:solidFill>
                  <a:schemeClr val="tx1"/>
                </a:solidFill>
                <a:latin typeface="+mn-lt"/>
              </a:rPr>
              <a:t>Water resource and water quality models have been developed to understand and predict the processes in reservoirs, rivers, and watershed runoff.</a:t>
            </a:r>
          </a:p>
          <a:p>
            <a:pPr marL="228600" indent="-228600">
              <a:buClr>
                <a:schemeClr val="tx1"/>
              </a:buClr>
              <a:buFont typeface="Arial" panose="020B0604020202020204" pitchFamily="34" charset="0"/>
              <a:buChar char="•"/>
            </a:pPr>
            <a:r>
              <a:rPr lang="en-US" sz="1800" b="0" dirty="0">
                <a:solidFill>
                  <a:schemeClr val="tx1"/>
                </a:solidFill>
                <a:latin typeface="+mn-lt"/>
              </a:rPr>
              <a:t>The following </a:t>
            </a:r>
            <a:r>
              <a:rPr lang="en-US" b="0" dirty="0">
                <a:solidFill>
                  <a:schemeClr val="tx1"/>
                </a:solidFill>
                <a:latin typeface="+mn-lt"/>
              </a:rPr>
              <a:t>fields comprise the body of knowledge required for accurate water quality modeling and analysis:</a:t>
            </a:r>
            <a:endParaRPr lang="en-US" sz="1800" b="0" dirty="0">
              <a:solidFill>
                <a:schemeClr val="tx1"/>
              </a:solidFill>
              <a:latin typeface="+mn-lt"/>
            </a:endParaRPr>
          </a:p>
          <a:p>
            <a:pPr marL="685800" lvl="1" indent="-228600">
              <a:buClr>
                <a:schemeClr val="tx1"/>
              </a:buClr>
            </a:pPr>
            <a:r>
              <a:rPr lang="en-US" b="0" dirty="0">
                <a:solidFill>
                  <a:schemeClr val="tx1"/>
                </a:solidFill>
                <a:latin typeface="+mn-lt"/>
              </a:rPr>
              <a:t>Hydrodynamics (physical limnology)</a:t>
            </a:r>
          </a:p>
          <a:p>
            <a:pPr marL="685800" lvl="1" indent="-228600">
              <a:buClr>
                <a:schemeClr val="tx1"/>
              </a:buClr>
            </a:pPr>
            <a:r>
              <a:rPr lang="en-US" b="0" dirty="0">
                <a:solidFill>
                  <a:schemeClr val="tx1"/>
                </a:solidFill>
                <a:latin typeface="+mn-lt"/>
              </a:rPr>
              <a:t>Meteorology</a:t>
            </a:r>
          </a:p>
          <a:p>
            <a:pPr marL="685800" lvl="1" indent="-228600">
              <a:buClr>
                <a:schemeClr val="tx1"/>
              </a:buClr>
            </a:pPr>
            <a:r>
              <a:rPr lang="en-US" b="0" dirty="0">
                <a:solidFill>
                  <a:schemeClr val="tx1"/>
                </a:solidFill>
                <a:latin typeface="+mn-lt"/>
              </a:rPr>
              <a:t>Aquatic chemistry (chemical limnology)</a:t>
            </a:r>
          </a:p>
          <a:p>
            <a:pPr marL="685800" lvl="1" indent="-228600">
              <a:buClr>
                <a:schemeClr val="tx1"/>
              </a:buClr>
            </a:pPr>
            <a:r>
              <a:rPr lang="en-US" b="0" dirty="0">
                <a:solidFill>
                  <a:schemeClr val="tx1"/>
                </a:solidFill>
                <a:latin typeface="+mn-lt"/>
              </a:rPr>
              <a:t>Aquatic biology (biological limnology)</a:t>
            </a:r>
          </a:p>
          <a:p>
            <a:pPr marL="685800" lvl="1" indent="-228600">
              <a:buClr>
                <a:schemeClr val="tx1"/>
              </a:buClr>
            </a:pPr>
            <a:r>
              <a:rPr lang="en-US" b="0" dirty="0">
                <a:solidFill>
                  <a:schemeClr val="tx1"/>
                </a:solidFill>
                <a:latin typeface="+mn-lt"/>
              </a:rPr>
              <a:t>Geology (sedimentation, sediment settling, resuspension, and transport)</a:t>
            </a:r>
          </a:p>
          <a:p>
            <a:pPr marL="685800" lvl="1" indent="-228600">
              <a:buClr>
                <a:schemeClr val="tx1"/>
              </a:buClr>
            </a:pPr>
            <a:r>
              <a:rPr lang="en-US" b="0" dirty="0">
                <a:solidFill>
                  <a:schemeClr val="tx1"/>
                </a:solidFill>
                <a:latin typeface="+mn-lt"/>
              </a:rPr>
              <a:t>Mathematics and numerical methods</a:t>
            </a:r>
          </a:p>
          <a:p>
            <a:pPr marL="685800" lvl="1" indent="-228600">
              <a:buClr>
                <a:schemeClr val="tx1"/>
              </a:buClr>
            </a:pPr>
            <a:r>
              <a:rPr lang="en-US" b="0" dirty="0">
                <a:solidFill>
                  <a:schemeClr val="tx1"/>
                </a:solidFill>
                <a:latin typeface="+mn-lt"/>
              </a:rPr>
              <a:t>Statistics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10</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grpSp>
        <p:nvGrpSpPr>
          <p:cNvPr id="10" name="Group 9">
            <a:extLst>
              <a:ext uri="{FF2B5EF4-FFF2-40B4-BE49-F238E27FC236}">
                <a16:creationId xmlns:a16="http://schemas.microsoft.com/office/drawing/2014/main" id="{8190BB8E-1AAD-2622-807C-BD18F48439F5}"/>
              </a:ext>
            </a:extLst>
          </p:cNvPr>
          <p:cNvGrpSpPr/>
          <p:nvPr/>
        </p:nvGrpSpPr>
        <p:grpSpPr>
          <a:xfrm>
            <a:off x="6479919" y="1180268"/>
            <a:ext cx="5190493" cy="4497464"/>
            <a:chOff x="4243393" y="2589079"/>
            <a:chExt cx="4748207" cy="4002965"/>
          </a:xfrm>
        </p:grpSpPr>
        <p:pic>
          <p:nvPicPr>
            <p:cNvPr id="11" name="Picture 10" descr="C:\Users\q0hectes\Desktop\WMIST Webinar Water Quality in HEC-ResSim and CWMS\images\02-br6-mehr-dam 90.jpg">
              <a:extLst>
                <a:ext uri="{FF2B5EF4-FFF2-40B4-BE49-F238E27FC236}">
                  <a16:creationId xmlns:a16="http://schemas.microsoft.com/office/drawing/2014/main" id="{A1FD1C6E-D933-DD7A-5708-446288C268D8}"/>
                </a:ext>
              </a:extLst>
            </p:cNvPr>
            <p:cNvPicPr>
              <a:picLocks noChangeAspect="1" noChangeArrowheads="1"/>
            </p:cNvPicPr>
            <p:nvPr/>
          </p:nvPicPr>
          <p:blipFill>
            <a:blip r:embed="rId3" cstate="print"/>
            <a:stretch>
              <a:fillRect/>
            </a:stretch>
          </p:blipFill>
          <p:spPr bwMode="auto">
            <a:xfrm>
              <a:off x="5693170" y="4378657"/>
              <a:ext cx="3222230" cy="2213387"/>
            </a:xfrm>
            <a:prstGeom prst="rect">
              <a:avLst/>
            </a:prstGeom>
            <a:noFill/>
            <a:ln w="12700">
              <a:noFill/>
            </a:ln>
          </p:spPr>
        </p:pic>
        <p:pic>
          <p:nvPicPr>
            <p:cNvPr id="12" name="Picture 11" descr="C:\Users\q0hectes\Desktop\WMIST Webinar Water Quality in HEC-ResSim and CWMS\images\RooseveltDam.jpg">
              <a:extLst>
                <a:ext uri="{FF2B5EF4-FFF2-40B4-BE49-F238E27FC236}">
                  <a16:creationId xmlns:a16="http://schemas.microsoft.com/office/drawing/2014/main" id="{BC2E5759-9677-98F4-B39E-6470FB249891}"/>
                </a:ext>
              </a:extLst>
            </p:cNvPr>
            <p:cNvPicPr>
              <a:picLocks noChangeAspect="1" noChangeArrowheads="1"/>
            </p:cNvPicPr>
            <p:nvPr/>
          </p:nvPicPr>
          <p:blipFill>
            <a:blip r:embed="rId4" cstate="print"/>
            <a:stretch>
              <a:fillRect/>
            </a:stretch>
          </p:blipFill>
          <p:spPr bwMode="auto">
            <a:xfrm>
              <a:off x="4243393" y="2635870"/>
              <a:ext cx="3106003" cy="2301922"/>
            </a:xfrm>
            <a:prstGeom prst="rect">
              <a:avLst/>
            </a:prstGeom>
            <a:noFill/>
            <a:ln w="12700">
              <a:noFill/>
            </a:ln>
          </p:spPr>
        </p:pic>
        <p:sp>
          <p:nvSpPr>
            <p:cNvPr id="13" name="TextBox 12">
              <a:extLst>
                <a:ext uri="{FF2B5EF4-FFF2-40B4-BE49-F238E27FC236}">
                  <a16:creationId xmlns:a16="http://schemas.microsoft.com/office/drawing/2014/main" id="{3E3C44E8-22D2-FD53-41BD-C836BC2C239D}"/>
                </a:ext>
              </a:extLst>
            </p:cNvPr>
            <p:cNvSpPr txBox="1"/>
            <p:nvPr/>
          </p:nvSpPr>
          <p:spPr>
            <a:xfrm>
              <a:off x="7373203" y="2589079"/>
              <a:ext cx="1618397" cy="584775"/>
            </a:xfrm>
            <a:prstGeom prst="rect">
              <a:avLst/>
            </a:prstGeom>
            <a:noFill/>
            <a:ln w="12700">
              <a:noFill/>
            </a:ln>
          </p:spPr>
          <p:txBody>
            <a:bodyPr wrap="square" rtlCol="0">
              <a:spAutoFit/>
            </a:bodyPr>
            <a:lstStyle/>
            <a:p>
              <a:r>
                <a:rPr lang="en-US" sz="1600" dirty="0">
                  <a:solidFill>
                    <a:srgbClr val="FF6600"/>
                  </a:solidFill>
                  <a:effectLst>
                    <a:outerShdw blurRad="38100" dist="38100" dir="2700000" algn="tl">
                      <a:srgbClr val="000000">
                        <a:alpha val="43137"/>
                      </a:srgbClr>
                    </a:outerShdw>
                  </a:effectLst>
                </a:rPr>
                <a:t>Flows influence water quality</a:t>
              </a:r>
            </a:p>
          </p:txBody>
        </p:sp>
        <p:sp>
          <p:nvSpPr>
            <p:cNvPr id="14" name="TextBox 13">
              <a:extLst>
                <a:ext uri="{FF2B5EF4-FFF2-40B4-BE49-F238E27FC236}">
                  <a16:creationId xmlns:a16="http://schemas.microsoft.com/office/drawing/2014/main" id="{FCCD6219-52A1-F0E2-8EB5-1A95C3FCD6D0}"/>
                </a:ext>
              </a:extLst>
            </p:cNvPr>
            <p:cNvSpPr txBox="1"/>
            <p:nvPr/>
          </p:nvSpPr>
          <p:spPr>
            <a:xfrm>
              <a:off x="7373203" y="4378657"/>
              <a:ext cx="1542197" cy="830997"/>
            </a:xfrm>
            <a:prstGeom prst="rect">
              <a:avLst/>
            </a:prstGeom>
            <a:noFill/>
            <a:ln w="12700">
              <a:noFill/>
            </a:ln>
          </p:spPr>
          <p:txBody>
            <a:bodyPr wrap="square" rtlCol="0">
              <a:spAutoFit/>
            </a:bodyPr>
            <a:lstStyle/>
            <a:p>
              <a:r>
                <a:rPr lang="en-US" sz="1600" dirty="0">
                  <a:solidFill>
                    <a:srgbClr val="FF6600"/>
                  </a:solidFill>
                  <a:effectLst>
                    <a:outerShdw blurRad="38100" dist="38100" dir="2700000" algn="tl">
                      <a:srgbClr val="000000">
                        <a:alpha val="43137"/>
                      </a:srgbClr>
                    </a:outerShdw>
                  </a:effectLst>
                </a:rPr>
                <a:t>Water quality must influence flows</a:t>
              </a:r>
            </a:p>
          </p:txBody>
        </p:sp>
        <p:sp>
          <p:nvSpPr>
            <p:cNvPr id="15" name="Down Arrow 14">
              <a:extLst>
                <a:ext uri="{FF2B5EF4-FFF2-40B4-BE49-F238E27FC236}">
                  <a16:creationId xmlns:a16="http://schemas.microsoft.com/office/drawing/2014/main" id="{54E245B3-7DE0-0C00-4D58-84AE164DC544}"/>
                </a:ext>
              </a:extLst>
            </p:cNvPr>
            <p:cNvSpPr/>
            <p:nvPr/>
          </p:nvSpPr>
          <p:spPr>
            <a:xfrm>
              <a:off x="7816483" y="3160709"/>
              <a:ext cx="562970" cy="1194549"/>
            </a:xfrm>
            <a:prstGeom prst="downArrow">
              <a:avLst/>
            </a:prstGeom>
            <a:blipFill>
              <a:blip r:embed="rId5"/>
              <a:stretch>
                <a:fillRect/>
              </a:stretch>
            </a:blip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814931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1015" y="244498"/>
            <a:ext cx="11371385" cy="806451"/>
          </a:xfrm>
        </p:spPr>
        <p:txBody>
          <a:bodyPr/>
          <a:lstStyle/>
          <a:p>
            <a:r>
              <a:rPr lang="en-US" dirty="0">
                <a:solidFill>
                  <a:schemeClr val="tx1"/>
                </a:solidFill>
                <a:effectLst/>
                <a:latin typeface="+mj-lt"/>
              </a:rPr>
              <a:t>Benefits of Water Quality Modeling</a:t>
            </a:r>
            <a:endParaRPr lang="en-US" sz="1600" dirty="0">
              <a:solidFill>
                <a:schemeClr val="tx1"/>
              </a:solidFill>
              <a:effectLst/>
              <a:latin typeface="+mj-lt"/>
            </a:endParaRPr>
          </a:p>
        </p:txBody>
      </p:sp>
      <p:sp>
        <p:nvSpPr>
          <p:cNvPr id="7" name="Content Placeholder 4"/>
          <p:cNvSpPr>
            <a:spLocks noGrp="1"/>
          </p:cNvSpPr>
          <p:nvPr>
            <p:ph idx="1"/>
          </p:nvPr>
        </p:nvSpPr>
        <p:spPr>
          <a:xfrm>
            <a:off x="406401" y="1081093"/>
            <a:ext cx="7532744" cy="5126523"/>
          </a:xfrm>
          <a:noFill/>
          <a:ln w="9525">
            <a:noFill/>
            <a:miter lim="800000"/>
            <a:headEnd/>
            <a:tailEnd/>
          </a:ln>
        </p:spPr>
        <p:txBody>
          <a:bodyPr vert="horz" wrap="square" lIns="91440" tIns="45720" rIns="91440" bIns="45720" numCol="1" anchor="t" anchorCtr="0" compatLnSpc="1">
            <a:prstTxWarp prst="textNoShape">
              <a:avLst/>
            </a:prstTxWarp>
          </a:bodyPr>
          <a:lstStyle/>
          <a:p>
            <a:pPr marL="228600" indent="-228600">
              <a:buClr>
                <a:schemeClr val="tx1"/>
              </a:buClr>
              <a:buFont typeface="Arial" panose="020B0604020202020204" pitchFamily="34" charset="0"/>
              <a:buChar char="•"/>
            </a:pPr>
            <a:r>
              <a:rPr lang="en-US" b="0" dirty="0">
                <a:solidFill>
                  <a:schemeClr val="tx1"/>
                </a:solidFill>
                <a:latin typeface="+mn-lt"/>
              </a:rPr>
              <a:t>Interpolation</a:t>
            </a:r>
          </a:p>
          <a:p>
            <a:pPr marL="685800" lvl="1" indent="-228600">
              <a:buClr>
                <a:schemeClr val="tx1"/>
              </a:buClr>
            </a:pPr>
            <a:r>
              <a:rPr lang="en-US" b="0" dirty="0">
                <a:solidFill>
                  <a:schemeClr val="tx1"/>
                </a:solidFill>
                <a:latin typeface="+mn-lt"/>
              </a:rPr>
              <a:t>Observed data is sparse in space and time.</a:t>
            </a:r>
          </a:p>
          <a:p>
            <a:pPr marL="685800" lvl="1" indent="-228600">
              <a:buClr>
                <a:schemeClr val="tx1"/>
              </a:buClr>
            </a:pPr>
            <a:r>
              <a:rPr lang="en-US" b="0" dirty="0">
                <a:solidFill>
                  <a:schemeClr val="tx1"/>
                </a:solidFill>
                <a:latin typeface="+mn-lt"/>
              </a:rPr>
              <a:t>Interpolation addresses questions like:</a:t>
            </a:r>
          </a:p>
          <a:p>
            <a:pPr marL="1143000" lvl="2" indent="-228600">
              <a:buClr>
                <a:schemeClr val="tx1"/>
              </a:buClr>
              <a:buSzPct val="50000"/>
            </a:pPr>
            <a:r>
              <a:rPr lang="en-US" sz="1800" b="0" dirty="0">
                <a:solidFill>
                  <a:schemeClr val="tx1"/>
                </a:solidFill>
                <a:latin typeface="+mn-lt"/>
              </a:rPr>
              <a:t>Where are the best locations for sampling?</a:t>
            </a:r>
          </a:p>
          <a:p>
            <a:pPr marL="1143000" lvl="2" indent="-228600">
              <a:buClr>
                <a:schemeClr val="tx1"/>
              </a:buClr>
              <a:buSzPct val="50000"/>
            </a:pPr>
            <a:r>
              <a:rPr lang="en-US" sz="1800" b="0" dirty="0">
                <a:solidFill>
                  <a:schemeClr val="tx1"/>
                </a:solidFill>
                <a:latin typeface="+mn-lt"/>
              </a:rPr>
              <a:t>Where are the most severe water quality problems occurring?</a:t>
            </a:r>
          </a:p>
          <a:p>
            <a:pPr marL="228600" indent="-228600">
              <a:buClr>
                <a:schemeClr val="tx1"/>
              </a:buClr>
              <a:buFont typeface="Arial" panose="020B0604020202020204" pitchFamily="34" charset="0"/>
              <a:buChar char="•"/>
            </a:pPr>
            <a:r>
              <a:rPr lang="en-US" b="0" dirty="0">
                <a:solidFill>
                  <a:schemeClr val="tx1"/>
                </a:solidFill>
                <a:latin typeface="+mn-lt"/>
              </a:rPr>
              <a:t>Extrapolation</a:t>
            </a:r>
          </a:p>
          <a:p>
            <a:pPr marL="685800" lvl="1" indent="-228600">
              <a:buClr>
                <a:schemeClr val="tx1"/>
              </a:buClr>
            </a:pPr>
            <a:r>
              <a:rPr lang="en-US" b="0" dirty="0">
                <a:solidFill>
                  <a:schemeClr val="tx1"/>
                </a:solidFill>
                <a:latin typeface="+mn-lt"/>
                <a:ea typeface="ＭＳ Ｐゴシック" charset="0"/>
              </a:rPr>
              <a:t>Forecast water quality in the future.</a:t>
            </a:r>
          </a:p>
          <a:p>
            <a:pPr marL="685800" lvl="1" indent="-228600">
              <a:buClr>
                <a:schemeClr val="tx1"/>
              </a:buClr>
            </a:pPr>
            <a:r>
              <a:rPr lang="en-US" b="0" dirty="0">
                <a:solidFill>
                  <a:schemeClr val="tx1"/>
                </a:solidFill>
                <a:latin typeface="+mn-lt"/>
                <a:ea typeface="ＭＳ Ｐゴシック" charset="0"/>
              </a:rPr>
              <a:t>Predict water quality for different water management scenarios</a:t>
            </a:r>
          </a:p>
          <a:p>
            <a:pPr marL="685800" lvl="1" indent="-228600">
              <a:buClr>
                <a:schemeClr val="tx1"/>
              </a:buClr>
            </a:pPr>
            <a:r>
              <a:rPr lang="en-US" b="0" dirty="0">
                <a:solidFill>
                  <a:schemeClr val="tx1"/>
                </a:solidFill>
                <a:latin typeface="+mn-lt"/>
                <a:ea typeface="ＭＳ Ｐゴシック" charset="0"/>
              </a:rPr>
              <a:t>Extrapolation answers questions like:</a:t>
            </a:r>
          </a:p>
          <a:p>
            <a:pPr marL="1143000" lvl="2" indent="-228600">
              <a:buClr>
                <a:schemeClr val="tx1"/>
              </a:buClr>
              <a:buSzPct val="50000"/>
            </a:pPr>
            <a:r>
              <a:rPr lang="en-US" sz="1800" b="0" dirty="0">
                <a:solidFill>
                  <a:schemeClr val="tx1"/>
                </a:solidFill>
                <a:latin typeface="+mn-lt"/>
                <a:ea typeface="ＭＳ Ｐゴシック" charset="0"/>
              </a:rPr>
              <a:t>How will the watershed function under different climate forcing conditions?</a:t>
            </a:r>
          </a:p>
          <a:p>
            <a:pPr marL="1143000" lvl="2" indent="-228600">
              <a:buClr>
                <a:schemeClr val="tx1"/>
              </a:buClr>
              <a:buSzPct val="50000"/>
            </a:pPr>
            <a:r>
              <a:rPr lang="en-US" sz="1800" b="0" dirty="0">
                <a:solidFill>
                  <a:schemeClr val="tx1"/>
                </a:solidFill>
                <a:latin typeface="+mn-lt"/>
                <a:ea typeface="ＭＳ Ｐゴシック" charset="0"/>
              </a:rPr>
              <a:t>How will the ecosystem respond if flow allocations are changed, hydropower withdrawals increased, and releases altered to meet ecosystem restoration targets (e-flows)?</a:t>
            </a:r>
          </a:p>
          <a:p>
            <a:pPr marL="228600" indent="-228600">
              <a:buClr>
                <a:schemeClr val="tx1"/>
              </a:buClr>
              <a:buFont typeface="Arial" panose="020B0604020202020204" pitchFamily="34" charset="0"/>
              <a:buChar char="•"/>
            </a:pPr>
            <a:r>
              <a:rPr lang="en-US" b="0" dirty="0">
                <a:solidFill>
                  <a:schemeClr val="tx1"/>
                </a:solidFill>
                <a:latin typeface="+mn-lt"/>
              </a:rPr>
              <a:t>Improved understanding of the system.</a:t>
            </a:r>
          </a:p>
          <a:p>
            <a:pPr marL="914400" lvl="1" indent="-342900">
              <a:buClr>
                <a:schemeClr val="tx1"/>
              </a:buClr>
            </a:pPr>
            <a:endParaRPr lang="en-US" b="0" dirty="0">
              <a:solidFill>
                <a:schemeClr val="tx1"/>
              </a:solidFill>
              <a:latin typeface="+mn-lt"/>
            </a:endParaRPr>
          </a:p>
        </p:txBody>
      </p:sp>
      <p:pic>
        <p:nvPicPr>
          <p:cNvPr id="11" name="Picture 10" descr="A picture containing mountain, nature, outdoor, track&#10;&#10;Description automatically generated">
            <a:extLst>
              <a:ext uri="{FF2B5EF4-FFF2-40B4-BE49-F238E27FC236}">
                <a16:creationId xmlns:a16="http://schemas.microsoft.com/office/drawing/2014/main" id="{2A726859-C246-847E-0E07-D030B7E55184}"/>
              </a:ext>
            </a:extLst>
          </p:cNvPr>
          <p:cNvPicPr>
            <a:picLocks noChangeAspect="1"/>
          </p:cNvPicPr>
          <p:nvPr/>
        </p:nvPicPr>
        <p:blipFill>
          <a:blip r:embed="rId3"/>
          <a:stretch>
            <a:fillRect/>
          </a:stretch>
        </p:blipFill>
        <p:spPr>
          <a:xfrm>
            <a:off x="7985074" y="575308"/>
            <a:ext cx="3720967" cy="2418629"/>
          </a:xfrm>
          <a:prstGeom prst="rect">
            <a:avLst/>
          </a:prstGeom>
        </p:spPr>
      </p:pic>
      <p:sp>
        <p:nvSpPr>
          <p:cNvPr id="12" name="TextBox 11">
            <a:extLst>
              <a:ext uri="{FF2B5EF4-FFF2-40B4-BE49-F238E27FC236}">
                <a16:creationId xmlns:a16="http://schemas.microsoft.com/office/drawing/2014/main" id="{5C095B03-A60A-F54E-03DF-BE6B348B0B25}"/>
              </a:ext>
            </a:extLst>
          </p:cNvPr>
          <p:cNvSpPr txBox="1"/>
          <p:nvPr/>
        </p:nvSpPr>
        <p:spPr>
          <a:xfrm>
            <a:off x="7985074" y="5944771"/>
            <a:ext cx="3720966" cy="338554"/>
          </a:xfrm>
          <a:prstGeom prst="rect">
            <a:avLst/>
          </a:prstGeom>
          <a:noFill/>
        </p:spPr>
        <p:txBody>
          <a:bodyPr wrap="square" rtlCol="0">
            <a:spAutoFit/>
          </a:bodyPr>
          <a:lstStyle/>
          <a:p>
            <a:pPr algn="ctr"/>
            <a:r>
              <a:rPr lang="en-US" sz="1600" dirty="0"/>
              <a:t>Dworshak Dam, Idaho</a:t>
            </a:r>
          </a:p>
        </p:txBody>
      </p:sp>
      <p:pic>
        <p:nvPicPr>
          <p:cNvPr id="13" name="Picture 12" descr="A picture containing mountain, outdoor, nature&#10;&#10;Description automatically generated">
            <a:extLst>
              <a:ext uri="{FF2B5EF4-FFF2-40B4-BE49-F238E27FC236}">
                <a16:creationId xmlns:a16="http://schemas.microsoft.com/office/drawing/2014/main" id="{4730B0A3-EBD8-6CBF-E654-EE16712E62E1}"/>
              </a:ext>
            </a:extLst>
          </p:cNvPr>
          <p:cNvPicPr>
            <a:picLocks noChangeAspect="1"/>
          </p:cNvPicPr>
          <p:nvPr/>
        </p:nvPicPr>
        <p:blipFill>
          <a:blip r:embed="rId4"/>
          <a:stretch>
            <a:fillRect/>
          </a:stretch>
        </p:blipFill>
        <p:spPr>
          <a:xfrm>
            <a:off x="7985074" y="3348748"/>
            <a:ext cx="3720966" cy="2596023"/>
          </a:xfrm>
          <a:prstGeom prst="rect">
            <a:avLst/>
          </a:prstGeom>
        </p:spPr>
      </p:pic>
      <p:sp>
        <p:nvSpPr>
          <p:cNvPr id="14" name="TextBox 13">
            <a:extLst>
              <a:ext uri="{FF2B5EF4-FFF2-40B4-BE49-F238E27FC236}">
                <a16:creationId xmlns:a16="http://schemas.microsoft.com/office/drawing/2014/main" id="{4BCC7ED6-87BD-548D-8446-92AD185C2E29}"/>
              </a:ext>
            </a:extLst>
          </p:cNvPr>
          <p:cNvSpPr txBox="1"/>
          <p:nvPr/>
        </p:nvSpPr>
        <p:spPr>
          <a:xfrm>
            <a:off x="7991527" y="2962322"/>
            <a:ext cx="3720966" cy="338554"/>
          </a:xfrm>
          <a:prstGeom prst="rect">
            <a:avLst/>
          </a:prstGeom>
          <a:noFill/>
        </p:spPr>
        <p:txBody>
          <a:bodyPr wrap="square" rtlCol="0">
            <a:spAutoFit/>
          </a:bodyPr>
          <a:lstStyle/>
          <a:p>
            <a:pPr algn="ctr"/>
            <a:r>
              <a:rPr lang="en-US" sz="1600" dirty="0"/>
              <a:t>Detroit Dam, Oregon</a:t>
            </a:r>
          </a:p>
        </p:txBody>
      </p:sp>
    </p:spTree>
    <p:extLst>
      <p:ext uri="{BB962C8B-B14F-4D97-AF65-F5344CB8AC3E}">
        <p14:creationId xmlns:p14="http://schemas.microsoft.com/office/powerpoint/2010/main" val="16336525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5484" y="244498"/>
            <a:ext cx="11176000" cy="806451"/>
          </a:xfrm>
          <a:noFill/>
          <a:ln w="9525">
            <a:noFill/>
            <a:miter lim="800000"/>
            <a:headEnd/>
            <a:tailEnd/>
          </a:ln>
        </p:spPr>
        <p:txBody>
          <a:bodyPr vert="horz" wrap="square" lIns="91440" tIns="45720" rIns="91440" bIns="45720" numCol="1" anchor="ctr" anchorCtr="0" compatLnSpc="1">
            <a:prstTxWarp prst="textNoShape">
              <a:avLst/>
            </a:prstTxWarp>
          </a:bodyPr>
          <a:lstStyle/>
          <a:p>
            <a:r>
              <a:rPr lang="en-US" dirty="0">
                <a:solidFill>
                  <a:schemeClr val="tx1"/>
                </a:solidFill>
                <a:latin typeface="+mj-lt"/>
              </a:rPr>
              <a:t>Reservoir Processes and Zones</a:t>
            </a:r>
          </a:p>
        </p:txBody>
      </p:sp>
      <p:sp>
        <p:nvSpPr>
          <p:cNvPr id="7" name="Content Placeholder 4"/>
          <p:cNvSpPr>
            <a:spLocks noGrp="1"/>
          </p:cNvSpPr>
          <p:nvPr>
            <p:ph idx="1"/>
          </p:nvPr>
        </p:nvSpPr>
        <p:spPr>
          <a:xfrm>
            <a:off x="406401" y="1081094"/>
            <a:ext cx="4559300" cy="4862506"/>
          </a:xfrm>
          <a:noFill/>
          <a:ln w="9525">
            <a:noFill/>
            <a:miter lim="800000"/>
            <a:headEnd/>
            <a:tailEnd/>
          </a:ln>
        </p:spPr>
        <p:txBody>
          <a:bodyPr vert="horz" wrap="square" lIns="91440" tIns="45720" rIns="91440" bIns="45720" numCol="1" anchor="t" anchorCtr="0" compatLnSpc="1">
            <a:prstTxWarp prst="textNoShape">
              <a:avLst/>
            </a:prstTxWarp>
          </a:bodyPr>
          <a:lstStyle/>
          <a:p>
            <a:pPr marL="228600" indent="-228600">
              <a:buClr>
                <a:schemeClr val="tx1"/>
              </a:buClr>
              <a:buFont typeface="Arial" panose="020B0604020202020204" pitchFamily="34" charset="0"/>
              <a:buChar char="•"/>
            </a:pPr>
            <a:r>
              <a:rPr lang="en-US" b="0" dirty="0">
                <a:solidFill>
                  <a:schemeClr val="tx1"/>
                </a:solidFill>
                <a:latin typeface="+mn-lt"/>
              </a:rPr>
              <a:t>Riverine zone</a:t>
            </a:r>
          </a:p>
          <a:p>
            <a:pPr marL="685800" lvl="1" indent="-228600">
              <a:buClr>
                <a:schemeClr val="tx1"/>
              </a:buClr>
            </a:pPr>
            <a:r>
              <a:rPr lang="en-US" b="0" dirty="0">
                <a:solidFill>
                  <a:schemeClr val="tx1"/>
                </a:solidFill>
                <a:latin typeface="+mn-lt"/>
              </a:rPr>
              <a:t>River-like flows within channel</a:t>
            </a:r>
          </a:p>
          <a:p>
            <a:pPr marL="685800" lvl="1" indent="-228600">
              <a:buClr>
                <a:schemeClr val="tx1"/>
              </a:buClr>
            </a:pPr>
            <a:r>
              <a:rPr lang="en-US" b="0" dirty="0">
                <a:solidFill>
                  <a:schemeClr val="tx1"/>
                </a:solidFill>
                <a:latin typeface="+mn-lt"/>
              </a:rPr>
              <a:t>Minimum requirement: 1D river model (segments)</a:t>
            </a:r>
          </a:p>
          <a:p>
            <a:pPr marL="228600" indent="-228600">
              <a:buClr>
                <a:schemeClr val="tx1"/>
              </a:buClr>
              <a:buFont typeface="Arial" panose="020B0604020202020204" pitchFamily="34" charset="0"/>
              <a:buChar char="•"/>
            </a:pPr>
            <a:r>
              <a:rPr lang="en-US" b="0" dirty="0">
                <a:solidFill>
                  <a:schemeClr val="tx1"/>
                </a:solidFill>
                <a:latin typeface="+mn-lt"/>
              </a:rPr>
              <a:t>Lacustrine zone</a:t>
            </a:r>
          </a:p>
          <a:p>
            <a:pPr marL="685800" lvl="1" indent="-228600">
              <a:buClr>
                <a:schemeClr val="tx1"/>
              </a:buClr>
            </a:pPr>
            <a:r>
              <a:rPr lang="en-US" b="0" dirty="0">
                <a:solidFill>
                  <a:schemeClr val="tx1"/>
                </a:solidFill>
                <a:latin typeface="+mn-lt"/>
              </a:rPr>
              <a:t>Lake-like system, vertically stratified, slow flows</a:t>
            </a:r>
          </a:p>
          <a:p>
            <a:pPr marL="685800" lvl="1" indent="-228600">
              <a:buClr>
                <a:schemeClr val="tx1"/>
              </a:buClr>
            </a:pPr>
            <a:r>
              <a:rPr lang="en-US" b="0" dirty="0">
                <a:solidFill>
                  <a:schemeClr val="tx1"/>
                </a:solidFill>
                <a:latin typeface="+mn-lt"/>
              </a:rPr>
              <a:t>Minimum requirement: 1D reservoir model (layers)</a:t>
            </a:r>
          </a:p>
          <a:p>
            <a:pPr marL="228600" indent="-228600">
              <a:buClr>
                <a:schemeClr val="tx1"/>
              </a:buClr>
              <a:buFont typeface="Arial" panose="020B0604020202020204" pitchFamily="34" charset="0"/>
              <a:buChar char="•"/>
            </a:pPr>
            <a:r>
              <a:rPr lang="en-US" b="0" dirty="0">
                <a:solidFill>
                  <a:schemeClr val="tx1"/>
                </a:solidFill>
                <a:latin typeface="+mn-lt"/>
              </a:rPr>
              <a:t>Transition zone</a:t>
            </a:r>
          </a:p>
          <a:p>
            <a:pPr marL="685800" lvl="1" indent="-228600">
              <a:buClr>
                <a:schemeClr val="tx1"/>
              </a:buClr>
            </a:pPr>
            <a:r>
              <a:rPr lang="en-US" b="0" dirty="0">
                <a:solidFill>
                  <a:schemeClr val="tx1"/>
                </a:solidFill>
                <a:latin typeface="+mn-lt"/>
              </a:rPr>
              <a:t>Stratification and downstream flows important</a:t>
            </a:r>
          </a:p>
          <a:p>
            <a:pPr marL="685800" lvl="1" indent="-228600">
              <a:buClr>
                <a:schemeClr val="tx1"/>
              </a:buClr>
            </a:pPr>
            <a:r>
              <a:rPr lang="en-US" b="0" dirty="0">
                <a:solidFill>
                  <a:schemeClr val="tx1"/>
                </a:solidFill>
                <a:latin typeface="+mn-lt"/>
              </a:rPr>
              <a:t>Minimum requirement: 2D model (layers and segments)</a:t>
            </a:r>
          </a:p>
        </p:txBody>
      </p:sp>
      <p:sp>
        <p:nvSpPr>
          <p:cNvPr id="3" name="TextBox 2">
            <a:extLst>
              <a:ext uri="{FF2B5EF4-FFF2-40B4-BE49-F238E27FC236}">
                <a16:creationId xmlns:a16="http://schemas.microsoft.com/office/drawing/2014/main" id="{43010E05-A8C4-C046-B426-2BB5C7C7103A}"/>
              </a:ext>
            </a:extLst>
          </p:cNvPr>
          <p:cNvSpPr txBox="1"/>
          <p:nvPr/>
        </p:nvSpPr>
        <p:spPr>
          <a:xfrm>
            <a:off x="4969272" y="3935790"/>
            <a:ext cx="6816725" cy="1815882"/>
          </a:xfrm>
          <a:prstGeom prst="rect">
            <a:avLst/>
          </a:prstGeom>
          <a:noFill/>
        </p:spPr>
        <p:txBody>
          <a:bodyPr wrap="square" lIns="91440" tIns="45720" rIns="91440" bIns="45720" rtlCol="0" anchor="t">
            <a:spAutoFit/>
          </a:bodyPr>
          <a:lstStyle/>
          <a:p>
            <a:r>
              <a:rPr lang="en-US" sz="1600" dirty="0"/>
              <a:t>Reservoir system with important flow, WQ, and ecosystem processes for each of three zones.</a:t>
            </a:r>
          </a:p>
          <a:p>
            <a:endParaRPr lang="en-US" sz="1600" dirty="0"/>
          </a:p>
          <a:p>
            <a:r>
              <a:rPr lang="en-US" sz="1600" dirty="0"/>
              <a:t>Notes:</a:t>
            </a:r>
          </a:p>
          <a:p>
            <a:pPr marL="228600" indent="-228600">
              <a:buFont typeface="Arial" panose="020B0604020202020204" pitchFamily="34" charset="0"/>
              <a:buChar char="•"/>
            </a:pPr>
            <a:r>
              <a:rPr lang="en-US" sz="1600" dirty="0"/>
              <a:t>1D river model used for channels in a reservoir system</a:t>
            </a:r>
          </a:p>
          <a:p>
            <a:pPr marL="228600" indent="-228600">
              <a:buFont typeface="Arial" panose="020B0604020202020204" pitchFamily="34" charset="0"/>
              <a:buChar char="•"/>
            </a:pPr>
            <a:r>
              <a:rPr lang="en-US" sz="1600" dirty="0"/>
              <a:t>2D river model used for floodplain simulation</a:t>
            </a:r>
          </a:p>
          <a:p>
            <a:pPr marL="228600" indent="-228600">
              <a:buFont typeface="Arial" panose="020B0604020202020204" pitchFamily="34" charset="0"/>
              <a:buChar char="•"/>
            </a:pPr>
            <a:r>
              <a:rPr lang="en-US" sz="1600" dirty="0">
                <a:latin typeface="Arial"/>
                <a:ea typeface="ＭＳ Ｐゴシック"/>
                <a:cs typeface="Arial"/>
              </a:rPr>
              <a:t>2D reservoir model used for large stratified reservoirs</a:t>
            </a:r>
          </a:p>
        </p:txBody>
      </p:sp>
      <p:grpSp>
        <p:nvGrpSpPr>
          <p:cNvPr id="18" name="Group 17">
            <a:extLst>
              <a:ext uri="{FF2B5EF4-FFF2-40B4-BE49-F238E27FC236}">
                <a16:creationId xmlns:a16="http://schemas.microsoft.com/office/drawing/2014/main" id="{F65A339C-4313-9643-BABA-D396378A9607}"/>
              </a:ext>
            </a:extLst>
          </p:cNvPr>
          <p:cNvGrpSpPr/>
          <p:nvPr/>
        </p:nvGrpSpPr>
        <p:grpSpPr>
          <a:xfrm>
            <a:off x="4855369" y="310154"/>
            <a:ext cx="7225902" cy="5106600"/>
            <a:chOff x="4855369" y="453029"/>
            <a:chExt cx="7225902" cy="5106600"/>
          </a:xfrm>
        </p:grpSpPr>
        <p:pic>
          <p:nvPicPr>
            <p:cNvPr id="5" name="Picture 5">
              <a:extLst>
                <a:ext uri="{FF2B5EF4-FFF2-40B4-BE49-F238E27FC236}">
                  <a16:creationId xmlns:a16="http://schemas.microsoft.com/office/drawing/2014/main" id="{FEEAB6C8-622F-9F86-7BCA-D3614A9B3FD4}"/>
                </a:ext>
              </a:extLst>
            </p:cNvPr>
            <p:cNvPicPr>
              <a:picLocks noChangeAspect="1"/>
            </p:cNvPicPr>
            <p:nvPr/>
          </p:nvPicPr>
          <p:blipFill>
            <a:blip r:embed="rId3"/>
            <a:stretch>
              <a:fillRect/>
            </a:stretch>
          </p:blipFill>
          <p:spPr>
            <a:xfrm>
              <a:off x="4879181" y="453029"/>
              <a:ext cx="7202090" cy="5106600"/>
            </a:xfrm>
            <a:prstGeom prst="rect">
              <a:avLst/>
            </a:prstGeom>
          </p:spPr>
        </p:pic>
        <p:cxnSp>
          <p:nvCxnSpPr>
            <p:cNvPr id="8" name="Straight Arrow Connector 7">
              <a:extLst>
                <a:ext uri="{FF2B5EF4-FFF2-40B4-BE49-F238E27FC236}">
                  <a16:creationId xmlns:a16="http://schemas.microsoft.com/office/drawing/2014/main" id="{94424D69-8232-9049-0423-BE8271FABE75}"/>
                </a:ext>
              </a:extLst>
            </p:cNvPr>
            <p:cNvCxnSpPr/>
            <p:nvPr/>
          </p:nvCxnSpPr>
          <p:spPr>
            <a:xfrm>
              <a:off x="5097066" y="2078830"/>
              <a:ext cx="1057273" cy="9524"/>
            </a:xfrm>
            <a:prstGeom prst="straightConnector1">
              <a:avLst/>
            </a:prstGeom>
            <a:ln w="28575">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8CB2AC6-84AF-71B5-FED8-2CFDDE98CB2E}"/>
                </a:ext>
              </a:extLst>
            </p:cNvPr>
            <p:cNvCxnSpPr/>
            <p:nvPr/>
          </p:nvCxnSpPr>
          <p:spPr>
            <a:xfrm>
              <a:off x="8270081" y="1977627"/>
              <a:ext cx="9525" cy="634603"/>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1C583DDB-C228-09BF-C3ED-B1C2445744D4}"/>
                </a:ext>
              </a:extLst>
            </p:cNvPr>
            <p:cNvCxnSpPr>
              <a:cxnSpLocks/>
            </p:cNvCxnSpPr>
            <p:nvPr/>
          </p:nvCxnSpPr>
          <p:spPr>
            <a:xfrm flipV="1">
              <a:off x="10085783" y="2118120"/>
              <a:ext cx="3571" cy="865584"/>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2AC0FC6-FBFB-2448-673B-6FEE1610A96A}"/>
                </a:ext>
              </a:extLst>
            </p:cNvPr>
            <p:cNvSpPr txBox="1"/>
            <p:nvPr/>
          </p:nvSpPr>
          <p:spPr>
            <a:xfrm>
              <a:off x="4855369" y="1700211"/>
              <a:ext cx="1403746" cy="3504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dirty="0">
                  <a:latin typeface="Arial"/>
                  <a:ea typeface="ＭＳ Ｐゴシック"/>
                  <a:cs typeface="Arial"/>
                </a:rPr>
                <a:t>Riverine</a:t>
              </a:r>
              <a:endParaRPr lang="en-US" sz="1600" dirty="0"/>
            </a:p>
          </p:txBody>
        </p:sp>
        <p:sp>
          <p:nvSpPr>
            <p:cNvPr id="12" name="TextBox 11">
              <a:extLst>
                <a:ext uri="{FF2B5EF4-FFF2-40B4-BE49-F238E27FC236}">
                  <a16:creationId xmlns:a16="http://schemas.microsoft.com/office/drawing/2014/main" id="{CB9B1339-0280-0FBD-0DEE-68EBCFCDE90A}"/>
                </a:ext>
              </a:extLst>
            </p:cNvPr>
            <p:cNvSpPr txBox="1"/>
            <p:nvPr/>
          </p:nvSpPr>
          <p:spPr>
            <a:xfrm>
              <a:off x="7564040" y="1664492"/>
              <a:ext cx="1403746" cy="3504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dirty="0">
                  <a:latin typeface="Arial"/>
                  <a:ea typeface="ＭＳ Ｐゴシック"/>
                  <a:cs typeface="Arial"/>
                </a:rPr>
                <a:t>Transition</a:t>
              </a:r>
              <a:endParaRPr lang="en-US" sz="1600" dirty="0"/>
            </a:p>
          </p:txBody>
        </p:sp>
        <p:sp>
          <p:nvSpPr>
            <p:cNvPr id="13" name="TextBox 12">
              <a:extLst>
                <a:ext uri="{FF2B5EF4-FFF2-40B4-BE49-F238E27FC236}">
                  <a16:creationId xmlns:a16="http://schemas.microsoft.com/office/drawing/2014/main" id="{0B96092F-A546-5D5C-19BF-943294E44383}"/>
                </a:ext>
              </a:extLst>
            </p:cNvPr>
            <p:cNvSpPr txBox="1"/>
            <p:nvPr/>
          </p:nvSpPr>
          <p:spPr>
            <a:xfrm>
              <a:off x="9367837" y="1670444"/>
              <a:ext cx="1403746"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dirty="0">
                  <a:latin typeface="Arial"/>
                  <a:ea typeface="ＭＳ Ｐゴシック"/>
                  <a:cs typeface="Arial"/>
                </a:rPr>
                <a:t>Lacustrine</a:t>
              </a:r>
            </a:p>
          </p:txBody>
        </p:sp>
        <p:cxnSp>
          <p:nvCxnSpPr>
            <p:cNvPr id="14" name="Straight Arrow Connector 13">
              <a:extLst>
                <a:ext uri="{FF2B5EF4-FFF2-40B4-BE49-F238E27FC236}">
                  <a16:creationId xmlns:a16="http://schemas.microsoft.com/office/drawing/2014/main" id="{D4CD7828-B130-2378-619C-3CA0DE8146C5}"/>
                </a:ext>
              </a:extLst>
            </p:cNvPr>
            <p:cNvCxnSpPr>
              <a:cxnSpLocks/>
            </p:cNvCxnSpPr>
            <p:nvPr/>
          </p:nvCxnSpPr>
          <p:spPr>
            <a:xfrm flipH="1">
              <a:off x="7857982" y="2296715"/>
              <a:ext cx="841771" cy="3571"/>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ABACB7A1-16E4-EED0-91CE-70519BC219BD}"/>
                </a:ext>
              </a:extLst>
            </p:cNvPr>
            <p:cNvSpPr txBox="1"/>
            <p:nvPr/>
          </p:nvSpPr>
          <p:spPr>
            <a:xfrm>
              <a:off x="5022055" y="3599258"/>
              <a:ext cx="2541985"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dirty="0">
                  <a:latin typeface="Arial"/>
                  <a:ea typeface="ＭＳ Ｐゴシック"/>
                  <a:cs typeface="Arial"/>
                </a:rPr>
                <a:t>Graphic by Lauren Melendez</a:t>
              </a:r>
              <a:endParaRPr lang="en-US" sz="1400" dirty="0">
                <a:cs typeface="Arial" pitchFamily="34" charset="0"/>
              </a:endParaRPr>
            </a:p>
          </p:txBody>
        </p:sp>
      </p:grpSp>
    </p:spTree>
    <p:extLst>
      <p:ext uri="{BB962C8B-B14F-4D97-AF65-F5344CB8AC3E}">
        <p14:creationId xmlns:p14="http://schemas.microsoft.com/office/powerpoint/2010/main" val="2598461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5483" y="244498"/>
            <a:ext cx="11176000" cy="806451"/>
          </a:xfrm>
          <a:noFill/>
          <a:ln w="9525">
            <a:noFill/>
            <a:miter lim="800000"/>
            <a:headEnd/>
            <a:tailEnd/>
          </a:ln>
        </p:spPr>
        <p:txBody>
          <a:bodyPr vert="horz" wrap="square" lIns="91440" tIns="45720" rIns="91440" bIns="45720" numCol="1" anchor="ctr" anchorCtr="0" compatLnSpc="1">
            <a:prstTxWarp prst="textNoShape">
              <a:avLst/>
            </a:prstTxWarp>
          </a:bodyPr>
          <a:lstStyle/>
          <a:p>
            <a:r>
              <a:rPr lang="en-US" dirty="0">
                <a:solidFill>
                  <a:schemeClr val="tx1"/>
                </a:solidFill>
                <a:latin typeface="+mj-lt"/>
              </a:rPr>
              <a:t>Model Dimensions, River-Reservoir System</a:t>
            </a:r>
          </a:p>
        </p:txBody>
      </p:sp>
      <p:sp>
        <p:nvSpPr>
          <p:cNvPr id="7" name="Content Placeholder 4"/>
          <p:cNvSpPr>
            <a:spLocks noGrp="1"/>
          </p:cNvSpPr>
          <p:nvPr>
            <p:ph idx="1"/>
          </p:nvPr>
        </p:nvSpPr>
        <p:spPr>
          <a:xfrm>
            <a:off x="406401" y="1081094"/>
            <a:ext cx="4725883" cy="5256414"/>
          </a:xfrm>
          <a:noFill/>
          <a:ln w="9525">
            <a:noFill/>
            <a:miter lim="800000"/>
            <a:headEnd/>
            <a:tailEnd/>
          </a:ln>
        </p:spPr>
        <p:txBody>
          <a:bodyPr vert="horz" wrap="square" lIns="91440" tIns="45720" rIns="91440" bIns="45720" numCol="1" anchor="t" anchorCtr="0" compatLnSpc="1">
            <a:prstTxWarp prst="textNoShape">
              <a:avLst/>
            </a:prstTxWarp>
          </a:bodyPr>
          <a:lstStyle/>
          <a:p>
            <a:pPr marL="228600" indent="-228600">
              <a:buClr>
                <a:schemeClr val="tx1"/>
              </a:buClr>
              <a:buFont typeface="Arial" panose="020B0604020202020204" pitchFamily="34" charset="0"/>
              <a:buChar char="•"/>
            </a:pPr>
            <a:r>
              <a:rPr lang="en-US" b="0" dirty="0">
                <a:solidFill>
                  <a:schemeClr val="tx1"/>
                </a:solidFill>
                <a:latin typeface="+mn-lt"/>
              </a:rPr>
              <a:t>Unstratified river/reservoir reaches:</a:t>
            </a:r>
          </a:p>
          <a:p>
            <a:pPr marL="457200" lvl="1" indent="-228600">
              <a:buClr>
                <a:schemeClr val="tx1"/>
              </a:buClr>
            </a:pPr>
            <a:r>
              <a:rPr lang="en-US" b="0" dirty="0">
                <a:solidFill>
                  <a:schemeClr val="tx1"/>
                </a:solidFill>
                <a:latin typeface="+mn-lt"/>
              </a:rPr>
              <a:t>May be modeled as 1D water bodies (segments)</a:t>
            </a:r>
          </a:p>
          <a:p>
            <a:pPr marL="228600" indent="-228600">
              <a:buClr>
                <a:schemeClr val="tx1"/>
              </a:buClr>
              <a:buFont typeface="Arial" panose="020B0604020202020204" pitchFamily="34" charset="0"/>
              <a:buChar char="•"/>
            </a:pPr>
            <a:r>
              <a:rPr lang="en-US" b="0" dirty="0">
                <a:solidFill>
                  <a:schemeClr val="tx1"/>
                </a:solidFill>
                <a:latin typeface="+mn-lt"/>
              </a:rPr>
              <a:t>Stratified reaches:</a:t>
            </a:r>
          </a:p>
          <a:p>
            <a:pPr marL="457200" lvl="1" indent="-228600">
              <a:buClr>
                <a:schemeClr val="tx1"/>
              </a:buClr>
            </a:pPr>
            <a:r>
              <a:rPr lang="en-US" b="0" dirty="0">
                <a:solidFill>
                  <a:schemeClr val="tx1"/>
                </a:solidFill>
                <a:latin typeface="+mn-lt"/>
              </a:rPr>
              <a:t>May be modeled as 1D reservoirs (layers) for real-time release decision-making to meet downstream objectives</a:t>
            </a:r>
          </a:p>
          <a:p>
            <a:pPr marL="457200" lvl="1" indent="-228600">
              <a:buClr>
                <a:schemeClr val="tx1"/>
              </a:buClr>
            </a:pPr>
            <a:r>
              <a:rPr lang="en-US" b="0" dirty="0">
                <a:solidFill>
                  <a:schemeClr val="tx1"/>
                </a:solidFill>
                <a:latin typeface="+mn-lt"/>
              </a:rPr>
              <a:t>To characterize and understand in-reservoir processes, reservoirs need to be modeled as 2D water bodies (layers and segments)</a:t>
            </a:r>
          </a:p>
          <a:p>
            <a:pPr marL="685800" lvl="2" indent="-228600">
              <a:buClr>
                <a:schemeClr val="tx1"/>
              </a:buClr>
              <a:buSzPct val="50000"/>
            </a:pPr>
            <a:r>
              <a:rPr lang="en-US" sz="1800" b="0" dirty="0">
                <a:solidFill>
                  <a:schemeClr val="tx1"/>
                </a:solidFill>
                <a:latin typeface="+mn-lt"/>
              </a:rPr>
              <a:t>Ensures accuracy, capturing important in-reservoir processes (mixing, pollutants, inflows, etc.)</a:t>
            </a:r>
          </a:p>
          <a:p>
            <a:pPr marL="685800" lvl="2" indent="-228600">
              <a:buClr>
                <a:schemeClr val="tx1"/>
              </a:buClr>
              <a:buSzPct val="50000"/>
            </a:pPr>
            <a:r>
              <a:rPr lang="en-US" sz="1800" b="0" dirty="0">
                <a:solidFill>
                  <a:schemeClr val="tx1"/>
                </a:solidFill>
                <a:latin typeface="+mn-lt"/>
              </a:rPr>
              <a:t>Identifies vulnerabilities and restoration/management options (e.g., velocities and temperature for HAB management)</a:t>
            </a:r>
          </a:p>
          <a:p>
            <a:pPr marL="342900" indent="-342900">
              <a:buClr>
                <a:schemeClr val="tx1"/>
              </a:buClr>
              <a:buFont typeface="Arial" panose="020B0604020202020204" pitchFamily="34" charset="0"/>
              <a:buChar char="•"/>
            </a:pPr>
            <a:endParaRPr lang="en-US" sz="1600" b="0" dirty="0">
              <a:solidFill>
                <a:schemeClr val="tx1"/>
              </a:solidFill>
              <a:latin typeface="+mn-lt"/>
            </a:endParaRPr>
          </a:p>
        </p:txBody>
      </p:sp>
      <p:grpSp>
        <p:nvGrpSpPr>
          <p:cNvPr id="15" name="Group 14">
            <a:extLst>
              <a:ext uri="{FF2B5EF4-FFF2-40B4-BE49-F238E27FC236}">
                <a16:creationId xmlns:a16="http://schemas.microsoft.com/office/drawing/2014/main" id="{368D3612-5B3C-AF01-506B-7052DAE5E758}"/>
              </a:ext>
            </a:extLst>
          </p:cNvPr>
          <p:cNvGrpSpPr/>
          <p:nvPr/>
        </p:nvGrpSpPr>
        <p:grpSpPr>
          <a:xfrm>
            <a:off x="4728353" y="3853110"/>
            <a:ext cx="7106563" cy="2484398"/>
            <a:chOff x="2570838" y="3853110"/>
            <a:chExt cx="7106563" cy="2484398"/>
          </a:xfrm>
        </p:grpSpPr>
        <p:pic>
          <p:nvPicPr>
            <p:cNvPr id="4" name="Picture 3" descr="A screenshot of a video game&#10;&#10;Description automatically generated with medium confidence">
              <a:extLst>
                <a:ext uri="{FF2B5EF4-FFF2-40B4-BE49-F238E27FC236}">
                  <a16:creationId xmlns:a16="http://schemas.microsoft.com/office/drawing/2014/main" id="{824B7B68-CB82-FC00-3443-049B3CB5BBF2}"/>
                </a:ext>
              </a:extLst>
            </p:cNvPr>
            <p:cNvPicPr>
              <a:picLocks noChangeAspect="1"/>
            </p:cNvPicPr>
            <p:nvPr/>
          </p:nvPicPr>
          <p:blipFill>
            <a:blip r:embed="rId3"/>
            <a:stretch>
              <a:fillRect/>
            </a:stretch>
          </p:blipFill>
          <p:spPr>
            <a:xfrm>
              <a:off x="2679700" y="4546808"/>
              <a:ext cx="6832600" cy="1790700"/>
            </a:xfrm>
            <a:prstGeom prst="rect">
              <a:avLst/>
            </a:prstGeom>
          </p:spPr>
        </p:pic>
        <p:sp>
          <p:nvSpPr>
            <p:cNvPr id="5" name="TextBox 4">
              <a:extLst>
                <a:ext uri="{FF2B5EF4-FFF2-40B4-BE49-F238E27FC236}">
                  <a16:creationId xmlns:a16="http://schemas.microsoft.com/office/drawing/2014/main" id="{68783A6C-814C-5B24-BD62-E4BCECBD2391}"/>
                </a:ext>
              </a:extLst>
            </p:cNvPr>
            <p:cNvSpPr txBox="1"/>
            <p:nvPr/>
          </p:nvSpPr>
          <p:spPr>
            <a:xfrm>
              <a:off x="2570838" y="4267408"/>
              <a:ext cx="1393372"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1D River</a:t>
              </a:r>
            </a:p>
          </p:txBody>
        </p:sp>
        <p:sp>
          <p:nvSpPr>
            <p:cNvPr id="6" name="TextBox 5">
              <a:extLst>
                <a:ext uri="{FF2B5EF4-FFF2-40B4-BE49-F238E27FC236}">
                  <a16:creationId xmlns:a16="http://schemas.microsoft.com/office/drawing/2014/main" id="{787BA148-DCA4-6E4F-09E6-14E11A2D64A1}"/>
                </a:ext>
              </a:extLst>
            </p:cNvPr>
            <p:cNvSpPr txBox="1"/>
            <p:nvPr/>
          </p:nvSpPr>
          <p:spPr>
            <a:xfrm>
              <a:off x="3949696" y="4267408"/>
              <a:ext cx="1690914"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2D Reservoir</a:t>
              </a:r>
            </a:p>
          </p:txBody>
        </p:sp>
        <p:sp>
          <p:nvSpPr>
            <p:cNvPr id="8" name="TextBox 7">
              <a:extLst>
                <a:ext uri="{FF2B5EF4-FFF2-40B4-BE49-F238E27FC236}">
                  <a16:creationId xmlns:a16="http://schemas.microsoft.com/office/drawing/2014/main" id="{7F033E0D-9F26-B37A-2CB3-CD40CADE9909}"/>
                </a:ext>
              </a:extLst>
            </p:cNvPr>
            <p:cNvSpPr txBox="1"/>
            <p:nvPr/>
          </p:nvSpPr>
          <p:spPr>
            <a:xfrm>
              <a:off x="4800602" y="3853110"/>
              <a:ext cx="1690914"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1D Reservoir</a:t>
              </a:r>
            </a:p>
          </p:txBody>
        </p:sp>
        <p:cxnSp>
          <p:nvCxnSpPr>
            <p:cNvPr id="9" name="Straight Arrow Connector 8">
              <a:extLst>
                <a:ext uri="{FF2B5EF4-FFF2-40B4-BE49-F238E27FC236}">
                  <a16:creationId xmlns:a16="http://schemas.microsoft.com/office/drawing/2014/main" id="{A89DEBAC-39BC-42E4-C0D4-31E41D227188}"/>
                </a:ext>
              </a:extLst>
            </p:cNvPr>
            <p:cNvCxnSpPr>
              <a:cxnSpLocks/>
            </p:cNvCxnSpPr>
            <p:nvPr/>
          </p:nvCxnSpPr>
          <p:spPr>
            <a:xfrm>
              <a:off x="5660572" y="4179410"/>
              <a:ext cx="0" cy="40160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597CF8CB-C5FB-24AE-65AF-F3E2227C58E8}"/>
                </a:ext>
              </a:extLst>
            </p:cNvPr>
            <p:cNvSpPr txBox="1"/>
            <p:nvPr/>
          </p:nvSpPr>
          <p:spPr>
            <a:xfrm>
              <a:off x="5974433" y="4898778"/>
              <a:ext cx="1393372"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1D River</a:t>
              </a:r>
            </a:p>
          </p:txBody>
        </p:sp>
        <p:sp>
          <p:nvSpPr>
            <p:cNvPr id="11" name="TextBox 10">
              <a:extLst>
                <a:ext uri="{FF2B5EF4-FFF2-40B4-BE49-F238E27FC236}">
                  <a16:creationId xmlns:a16="http://schemas.microsoft.com/office/drawing/2014/main" id="{B53C6624-6704-9CBE-4100-B9B690B733D0}"/>
                </a:ext>
              </a:extLst>
            </p:cNvPr>
            <p:cNvSpPr txBox="1"/>
            <p:nvPr/>
          </p:nvSpPr>
          <p:spPr>
            <a:xfrm>
              <a:off x="7150095" y="4898778"/>
              <a:ext cx="1690914"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2D Reservoir</a:t>
              </a:r>
            </a:p>
          </p:txBody>
        </p:sp>
        <p:sp>
          <p:nvSpPr>
            <p:cNvPr id="12" name="TextBox 11">
              <a:extLst>
                <a:ext uri="{FF2B5EF4-FFF2-40B4-BE49-F238E27FC236}">
                  <a16:creationId xmlns:a16="http://schemas.microsoft.com/office/drawing/2014/main" id="{6FB3124B-EAEB-A976-AA56-332F743F2F15}"/>
                </a:ext>
              </a:extLst>
            </p:cNvPr>
            <p:cNvSpPr txBox="1"/>
            <p:nvPr/>
          </p:nvSpPr>
          <p:spPr>
            <a:xfrm>
              <a:off x="7986487" y="4484480"/>
              <a:ext cx="1690914" cy="307777"/>
            </a:xfrm>
            <a:prstGeom prst="rect">
              <a:avLst/>
            </a:prstGeom>
            <a:noFill/>
          </p:spPr>
          <p:txBody>
            <a:bodyPr wrap="square" rtlCol="0">
              <a:spAutoFit/>
            </a:bodyPr>
            <a:lstStyle/>
            <a:p>
              <a:pPr algn="ctr"/>
              <a:r>
                <a:rPr lang="en-US" sz="1400" dirty="0">
                  <a:latin typeface="Arial" panose="020B0604020202020204" pitchFamily="34" charset="0"/>
                  <a:cs typeface="Arial" panose="020B0604020202020204" pitchFamily="34" charset="0"/>
                </a:rPr>
                <a:t>1D Reservoir</a:t>
              </a:r>
            </a:p>
          </p:txBody>
        </p:sp>
        <p:cxnSp>
          <p:nvCxnSpPr>
            <p:cNvPr id="14" name="Straight Arrow Connector 13">
              <a:extLst>
                <a:ext uri="{FF2B5EF4-FFF2-40B4-BE49-F238E27FC236}">
                  <a16:creationId xmlns:a16="http://schemas.microsoft.com/office/drawing/2014/main" id="{AE23DB65-5FAC-630D-E7E0-3E9F34960D5D}"/>
                </a:ext>
              </a:extLst>
            </p:cNvPr>
            <p:cNvCxnSpPr>
              <a:cxnSpLocks/>
            </p:cNvCxnSpPr>
            <p:nvPr/>
          </p:nvCxnSpPr>
          <p:spPr>
            <a:xfrm>
              <a:off x="8846457" y="4853812"/>
              <a:ext cx="0" cy="40160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 name="TextBox 2">
            <a:extLst>
              <a:ext uri="{FF2B5EF4-FFF2-40B4-BE49-F238E27FC236}">
                <a16:creationId xmlns:a16="http://schemas.microsoft.com/office/drawing/2014/main" id="{98F30BFD-571A-B30D-DDCB-1575ABD84596}"/>
              </a:ext>
            </a:extLst>
          </p:cNvPr>
          <p:cNvSpPr txBox="1"/>
          <p:nvPr/>
        </p:nvSpPr>
        <p:spPr>
          <a:xfrm>
            <a:off x="6942662" y="5724928"/>
            <a:ext cx="2713575"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dirty="0">
                <a:latin typeface="Arial"/>
                <a:ea typeface="ＭＳ Ｐゴシック"/>
                <a:cs typeface="Arial"/>
              </a:rPr>
              <a:t>Graphics by Lauren Melendez</a:t>
            </a:r>
            <a:endParaRPr lang="en-US" sz="1400" dirty="0">
              <a:cs typeface="Arial" pitchFamily="34" charset="0"/>
            </a:endParaRPr>
          </a:p>
        </p:txBody>
      </p:sp>
      <p:pic>
        <p:nvPicPr>
          <p:cNvPr id="16" name="Picture 15" descr="A picture containing cake, birthday, indoor, decorated&#10;&#10;Description automatically generated">
            <a:extLst>
              <a:ext uri="{FF2B5EF4-FFF2-40B4-BE49-F238E27FC236}">
                <a16:creationId xmlns:a16="http://schemas.microsoft.com/office/drawing/2014/main" id="{9111D229-5E62-F533-47EE-6E21E5428FC8}"/>
              </a:ext>
            </a:extLst>
          </p:cNvPr>
          <p:cNvPicPr>
            <a:picLocks noChangeAspect="1"/>
          </p:cNvPicPr>
          <p:nvPr/>
        </p:nvPicPr>
        <p:blipFill>
          <a:blip r:embed="rId4"/>
          <a:stretch>
            <a:fillRect/>
          </a:stretch>
        </p:blipFill>
        <p:spPr>
          <a:xfrm>
            <a:off x="7322787" y="953552"/>
            <a:ext cx="2939140" cy="4159255"/>
          </a:xfrm>
          <a:prstGeom prst="rect">
            <a:avLst/>
          </a:prstGeom>
        </p:spPr>
      </p:pic>
    </p:spTree>
    <p:extLst>
      <p:ext uri="{BB962C8B-B14F-4D97-AF65-F5344CB8AC3E}">
        <p14:creationId xmlns:p14="http://schemas.microsoft.com/office/powerpoint/2010/main" val="4340068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5484" y="254546"/>
            <a:ext cx="11176000" cy="806451"/>
          </a:xfrm>
          <a:noFill/>
          <a:ln w="9525">
            <a:noFill/>
            <a:miter lim="800000"/>
            <a:headEnd/>
            <a:tailEnd/>
          </a:ln>
        </p:spPr>
        <p:txBody>
          <a:bodyPr vert="horz" wrap="square" lIns="91440" tIns="45720" rIns="91440" bIns="45720" numCol="1" anchor="ctr" anchorCtr="0" compatLnSpc="1">
            <a:prstTxWarp prst="textNoShape">
              <a:avLst/>
            </a:prstTxWarp>
          </a:bodyPr>
          <a:lstStyle/>
          <a:p>
            <a:r>
              <a:rPr lang="en-US" dirty="0">
                <a:solidFill>
                  <a:schemeClr val="tx1"/>
                </a:solidFill>
                <a:latin typeface="+mj-lt"/>
              </a:rPr>
              <a:t>Model Dimensions: River-Floodplain System</a:t>
            </a:r>
          </a:p>
        </p:txBody>
      </p:sp>
      <p:sp>
        <p:nvSpPr>
          <p:cNvPr id="7" name="Content Placeholder 4"/>
          <p:cNvSpPr>
            <a:spLocks noGrp="1"/>
          </p:cNvSpPr>
          <p:nvPr>
            <p:ph idx="1"/>
          </p:nvPr>
        </p:nvSpPr>
        <p:spPr>
          <a:xfrm>
            <a:off x="406400" y="1225550"/>
            <a:ext cx="11176000" cy="4718049"/>
          </a:xfrm>
          <a:noFill/>
          <a:ln w="9525">
            <a:noFill/>
            <a:miter lim="800000"/>
            <a:headEnd/>
            <a:tailEnd/>
          </a:ln>
        </p:spPr>
        <p:txBody>
          <a:bodyPr vert="horz" wrap="square" lIns="91440" tIns="45720" rIns="91440" bIns="45720" numCol="1" anchor="t" anchorCtr="0" compatLnSpc="1">
            <a:prstTxWarp prst="textNoShape">
              <a:avLst/>
            </a:prstTxWarp>
          </a:bodyPr>
          <a:lstStyle/>
          <a:p>
            <a:pPr marL="228600" indent="-228600">
              <a:buClr>
                <a:schemeClr val="tx1"/>
              </a:buClr>
              <a:buFont typeface="Arial" panose="020B0604020202020204" pitchFamily="34" charset="0"/>
              <a:buChar char="•"/>
            </a:pPr>
            <a:r>
              <a:rPr lang="en-US" sz="2000" b="0" dirty="0">
                <a:solidFill>
                  <a:schemeClr val="tx1"/>
                </a:solidFill>
                <a:latin typeface="+mn-lt"/>
              </a:rPr>
              <a:t>Unstratified river channels are often modeled as 1D water bodies, varying from upstream to downstream</a:t>
            </a:r>
          </a:p>
          <a:p>
            <a:pPr marL="228600" indent="-228600">
              <a:buClr>
                <a:schemeClr val="tx1"/>
              </a:buClr>
              <a:buFont typeface="Arial" panose="020B0604020202020204" pitchFamily="34" charset="0"/>
              <a:buChar char="•"/>
            </a:pPr>
            <a:r>
              <a:rPr lang="en-US" sz="2000" b="0" dirty="0">
                <a:solidFill>
                  <a:schemeClr val="tx1"/>
                </a:solidFill>
                <a:latin typeface="+mn-lt"/>
              </a:rPr>
              <a:t>Hydrologic connectivity across the floodplain is important</a:t>
            </a:r>
          </a:p>
          <a:p>
            <a:pPr marL="228600" indent="-228600">
              <a:buClr>
                <a:schemeClr val="tx1"/>
              </a:buClr>
              <a:buFont typeface="Arial" panose="020B0604020202020204" pitchFamily="34" charset="0"/>
              <a:buChar char="•"/>
            </a:pPr>
            <a:r>
              <a:rPr lang="en-US" sz="2000" b="0" dirty="0">
                <a:solidFill>
                  <a:schemeClr val="tx1"/>
                </a:solidFill>
                <a:latin typeface="+mn-lt"/>
              </a:rPr>
              <a:t>Floodplains need to be modeled as 2D water bodies, varying in all directions across the landscape</a:t>
            </a:r>
          </a:p>
        </p:txBody>
      </p:sp>
      <p:grpSp>
        <p:nvGrpSpPr>
          <p:cNvPr id="14" name="Group 13">
            <a:extLst>
              <a:ext uri="{FF2B5EF4-FFF2-40B4-BE49-F238E27FC236}">
                <a16:creationId xmlns:a16="http://schemas.microsoft.com/office/drawing/2014/main" id="{3F23E15E-9672-C69D-F6C0-3A05F97E2089}"/>
              </a:ext>
            </a:extLst>
          </p:cNvPr>
          <p:cNvGrpSpPr/>
          <p:nvPr/>
        </p:nvGrpSpPr>
        <p:grpSpPr>
          <a:xfrm>
            <a:off x="793750" y="3469899"/>
            <a:ext cx="6769100" cy="2051043"/>
            <a:chOff x="2711450" y="3857179"/>
            <a:chExt cx="6769100" cy="2051043"/>
          </a:xfrm>
        </p:grpSpPr>
        <p:pic>
          <p:nvPicPr>
            <p:cNvPr id="11" name="Picture 10">
              <a:extLst>
                <a:ext uri="{FF2B5EF4-FFF2-40B4-BE49-F238E27FC236}">
                  <a16:creationId xmlns:a16="http://schemas.microsoft.com/office/drawing/2014/main" id="{2DA3E87B-9218-ED0B-36A2-91E4D319551A}"/>
                </a:ext>
              </a:extLst>
            </p:cNvPr>
            <p:cNvPicPr>
              <a:picLocks noChangeAspect="1"/>
            </p:cNvPicPr>
            <p:nvPr/>
          </p:nvPicPr>
          <p:blipFill>
            <a:blip r:embed="rId3"/>
            <a:stretch>
              <a:fillRect/>
            </a:stretch>
          </p:blipFill>
          <p:spPr>
            <a:xfrm>
              <a:off x="2711450" y="4142922"/>
              <a:ext cx="6769100" cy="1765300"/>
            </a:xfrm>
            <a:prstGeom prst="rect">
              <a:avLst/>
            </a:prstGeom>
          </p:spPr>
        </p:pic>
        <p:sp>
          <p:nvSpPr>
            <p:cNvPr id="12" name="TextBox 11">
              <a:extLst>
                <a:ext uri="{FF2B5EF4-FFF2-40B4-BE49-F238E27FC236}">
                  <a16:creationId xmlns:a16="http://schemas.microsoft.com/office/drawing/2014/main" id="{F314E620-6F33-ABD9-114F-A6C20A4E1AFA}"/>
                </a:ext>
              </a:extLst>
            </p:cNvPr>
            <p:cNvSpPr txBox="1"/>
            <p:nvPr/>
          </p:nvSpPr>
          <p:spPr>
            <a:xfrm>
              <a:off x="4087581" y="5548087"/>
              <a:ext cx="2284190" cy="338554"/>
            </a:xfrm>
            <a:prstGeom prst="rect">
              <a:avLst/>
            </a:prstGeom>
            <a:noFill/>
          </p:spPr>
          <p:txBody>
            <a:bodyPr wrap="square" rtlCol="0">
              <a:spAutoFit/>
            </a:bodyPr>
            <a:lstStyle/>
            <a:p>
              <a:pPr algn="ctr"/>
              <a:r>
                <a:rPr lang="en-US" sz="1600" dirty="0">
                  <a:latin typeface="Arial" panose="020B0604020202020204" pitchFamily="34" charset="0"/>
                  <a:cs typeface="Arial" panose="020B0604020202020204" pitchFamily="34" charset="0"/>
                </a:rPr>
                <a:t>1D River (Channel)</a:t>
              </a:r>
            </a:p>
          </p:txBody>
        </p:sp>
        <p:sp>
          <p:nvSpPr>
            <p:cNvPr id="13" name="TextBox 12">
              <a:extLst>
                <a:ext uri="{FF2B5EF4-FFF2-40B4-BE49-F238E27FC236}">
                  <a16:creationId xmlns:a16="http://schemas.microsoft.com/office/drawing/2014/main" id="{3207F01A-6EDC-BA75-799B-FC6F0FEDB1B1}"/>
                </a:ext>
              </a:extLst>
            </p:cNvPr>
            <p:cNvSpPr txBox="1"/>
            <p:nvPr/>
          </p:nvSpPr>
          <p:spPr>
            <a:xfrm>
              <a:off x="3978725" y="3857179"/>
              <a:ext cx="3626762" cy="338554"/>
            </a:xfrm>
            <a:prstGeom prst="rect">
              <a:avLst/>
            </a:prstGeom>
            <a:noFill/>
          </p:spPr>
          <p:txBody>
            <a:bodyPr wrap="square" rtlCol="0">
              <a:spAutoFit/>
            </a:bodyPr>
            <a:lstStyle/>
            <a:p>
              <a:pPr algn="ctr"/>
              <a:r>
                <a:rPr lang="en-US" sz="1600" dirty="0">
                  <a:latin typeface="Arial" panose="020B0604020202020204" pitchFamily="34" charset="0"/>
                  <a:cs typeface="Arial" panose="020B0604020202020204" pitchFamily="34" charset="0"/>
                </a:rPr>
                <a:t>2D River (Floodplain, Wetlands)</a:t>
              </a:r>
            </a:p>
          </p:txBody>
        </p:sp>
      </p:grpSp>
      <p:sp>
        <p:nvSpPr>
          <p:cNvPr id="3" name="TextBox 2">
            <a:extLst>
              <a:ext uri="{FF2B5EF4-FFF2-40B4-BE49-F238E27FC236}">
                <a16:creationId xmlns:a16="http://schemas.microsoft.com/office/drawing/2014/main" id="{301DE596-1994-25D1-0111-41521F902667}"/>
              </a:ext>
            </a:extLst>
          </p:cNvPr>
          <p:cNvSpPr txBox="1"/>
          <p:nvPr/>
        </p:nvSpPr>
        <p:spPr>
          <a:xfrm>
            <a:off x="4753466" y="5867953"/>
            <a:ext cx="2720484"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dirty="0">
                <a:latin typeface="Arial"/>
                <a:ea typeface="ＭＳ Ｐゴシック"/>
                <a:cs typeface="Arial"/>
              </a:rPr>
              <a:t>Graphics by Lauren Melendez</a:t>
            </a:r>
            <a:endParaRPr lang="en-US" sz="1400" dirty="0">
              <a:cs typeface="Arial" pitchFamily="34" charset="0"/>
            </a:endParaRPr>
          </a:p>
        </p:txBody>
      </p:sp>
      <p:pic>
        <p:nvPicPr>
          <p:cNvPr id="5" name="Picture 4" descr="A picture containing map&#10;&#10;Description automatically generated">
            <a:extLst>
              <a:ext uri="{FF2B5EF4-FFF2-40B4-BE49-F238E27FC236}">
                <a16:creationId xmlns:a16="http://schemas.microsoft.com/office/drawing/2014/main" id="{2C88BB71-E8D0-C841-644E-7A6074736277}"/>
              </a:ext>
            </a:extLst>
          </p:cNvPr>
          <p:cNvPicPr>
            <a:picLocks noChangeAspect="1"/>
          </p:cNvPicPr>
          <p:nvPr/>
        </p:nvPicPr>
        <p:blipFill>
          <a:blip r:embed="rId4"/>
          <a:stretch>
            <a:fillRect/>
          </a:stretch>
        </p:blipFill>
        <p:spPr>
          <a:xfrm>
            <a:off x="7010573" y="2398054"/>
            <a:ext cx="4910344" cy="3469899"/>
          </a:xfrm>
          <a:prstGeom prst="rect">
            <a:avLst/>
          </a:prstGeom>
        </p:spPr>
      </p:pic>
    </p:spTree>
    <p:extLst>
      <p:ext uri="{BB962C8B-B14F-4D97-AF65-F5344CB8AC3E}">
        <p14:creationId xmlns:p14="http://schemas.microsoft.com/office/powerpoint/2010/main" val="30801874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Introduction to CE-QUAL-W2</a:t>
            </a:r>
          </a:p>
        </p:txBody>
      </p:sp>
      <p:sp>
        <p:nvSpPr>
          <p:cNvPr id="3" name="Content Placeholder 2"/>
          <p:cNvSpPr>
            <a:spLocks noGrp="1"/>
          </p:cNvSpPr>
          <p:nvPr>
            <p:ph idx="1"/>
          </p:nvPr>
        </p:nvSpPr>
        <p:spPr>
          <a:xfrm>
            <a:off x="406400" y="1032424"/>
            <a:ext cx="6433615" cy="5220664"/>
          </a:xfrm>
        </p:spPr>
        <p:txBody>
          <a:bodyPr/>
          <a:lstStyle/>
          <a:p>
            <a:pPr marL="228600" indent="-228600">
              <a:buClr>
                <a:schemeClr val="tx1"/>
              </a:buClr>
              <a:buFont typeface="Arial" panose="020B0604020202020204" pitchFamily="34" charset="0"/>
              <a:buChar char="•"/>
            </a:pPr>
            <a:r>
              <a:rPr lang="en-US" b="0" dirty="0">
                <a:solidFill>
                  <a:schemeClr val="tx1"/>
                </a:solidFill>
              </a:rPr>
              <a:t>CE‐QUAL‐W2 is a two‐dimensional (2D), longitudinal/vertical, hydrodynamics and water quality model.</a:t>
            </a:r>
          </a:p>
          <a:p>
            <a:pPr marL="228600" indent="-228600">
              <a:buClr>
                <a:schemeClr val="tx1"/>
              </a:buClr>
              <a:buFont typeface="Arial" panose="020B0604020202020204" pitchFamily="34" charset="0"/>
              <a:buChar char="•"/>
            </a:pPr>
            <a:r>
              <a:rPr lang="en-US" b="0" dirty="0">
                <a:solidFill>
                  <a:schemeClr val="tx1"/>
                </a:solidFill>
              </a:rPr>
              <a:t>It enables characterization of the vertical and longitudinal changes in a reservoir.</a:t>
            </a:r>
          </a:p>
          <a:p>
            <a:pPr marL="228600" indent="-228600">
              <a:buClr>
                <a:schemeClr val="tx1"/>
              </a:buClr>
              <a:buFont typeface="Arial" panose="020B0604020202020204" pitchFamily="34" charset="0"/>
              <a:buChar char="•"/>
            </a:pPr>
            <a:r>
              <a:rPr lang="en-US" b="0" dirty="0">
                <a:solidFill>
                  <a:schemeClr val="tx1"/>
                </a:solidFill>
              </a:rPr>
              <a:t>The model assumes the reservoir is ”well mixed” laterally, with no variation from one side of the channel to the other in a given layer (vertical) and segment (longitudinal).</a:t>
            </a:r>
          </a:p>
          <a:p>
            <a:pPr marL="228600" indent="-228600">
              <a:buClr>
                <a:schemeClr val="tx1"/>
              </a:buClr>
              <a:buFont typeface="Arial" panose="020B0604020202020204" pitchFamily="34" charset="0"/>
              <a:buChar char="•"/>
            </a:pPr>
            <a:r>
              <a:rPr lang="en-US" b="0" dirty="0">
                <a:solidFill>
                  <a:schemeClr val="tx1"/>
                </a:solidFill>
              </a:rPr>
              <a:t>Since CE-QUAL-W2 assumes lateral homogeneity, it is especially suited for relatively long and narrow waterbodies that exhibit longitudinal and vertical water quality gradients.</a:t>
            </a:r>
          </a:p>
          <a:p>
            <a:pPr marL="228600" indent="-228600">
              <a:buClr>
                <a:schemeClr val="tx1"/>
              </a:buClr>
              <a:buFont typeface="Arial" panose="020B0604020202020204" pitchFamily="34" charset="0"/>
              <a:buChar char="•"/>
            </a:pPr>
            <a:r>
              <a:rPr lang="en-US" b="0" dirty="0">
                <a:solidFill>
                  <a:schemeClr val="tx1"/>
                </a:solidFill>
              </a:rPr>
              <a:t>CE-QUAL-W2 has been applied to rivers, lakes, reservoirs, estuaries, and combinations thereof.</a:t>
            </a:r>
            <a:endParaRPr lang="en-US" sz="1800"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15</a:t>
            </a:fld>
            <a:endParaRPr lang="en-US"/>
          </a:p>
        </p:txBody>
      </p:sp>
      <p:pic>
        <p:nvPicPr>
          <p:cNvPr id="3074" name="Picture 2" descr="CE-QUAL-W2 Model Schematic">
            <a:extLst>
              <a:ext uri="{FF2B5EF4-FFF2-40B4-BE49-F238E27FC236}">
                <a16:creationId xmlns:a16="http://schemas.microsoft.com/office/drawing/2014/main" id="{8E54D97A-E4A4-FB32-6371-AFB86B63F1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83102" y="905021"/>
            <a:ext cx="4503633" cy="4341820"/>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3">
            <a:hlinkClick r:id="rId3"/>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graphicFrame>
        <p:nvGraphicFramePr>
          <p:cNvPr id="11" name="Table 10">
            <a:extLst>
              <a:ext uri="{FF2B5EF4-FFF2-40B4-BE49-F238E27FC236}">
                <a16:creationId xmlns:a16="http://schemas.microsoft.com/office/drawing/2014/main" id="{C0E73D29-3DD7-F539-DD8A-89FED9D53104}"/>
              </a:ext>
            </a:extLst>
          </p:cNvPr>
          <p:cNvGraphicFramePr>
            <a:graphicFrameLocks noGrp="1"/>
          </p:cNvGraphicFramePr>
          <p:nvPr>
            <p:extLst>
              <p:ext uri="{D42A27DB-BD31-4B8C-83A1-F6EECF244321}">
                <p14:modId xmlns:p14="http://schemas.microsoft.com/office/powerpoint/2010/main" val="2446712750"/>
              </p:ext>
            </p:extLst>
          </p:nvPr>
        </p:nvGraphicFramePr>
        <p:xfrm>
          <a:off x="7086600" y="5182292"/>
          <a:ext cx="4500135" cy="1036333"/>
        </p:xfrm>
        <a:graphic>
          <a:graphicData uri="http://schemas.openxmlformats.org/drawingml/2006/table">
            <a:tbl>
              <a:tblPr/>
              <a:tblGrid>
                <a:gridCol w="4500135">
                  <a:extLst>
                    <a:ext uri="{9D8B030D-6E8A-4147-A177-3AD203B41FA5}">
                      <a16:colId xmlns:a16="http://schemas.microsoft.com/office/drawing/2014/main" val="1485503891"/>
                    </a:ext>
                  </a:extLst>
                </a:gridCol>
              </a:tblGrid>
              <a:tr h="1036333">
                <a:tc>
                  <a:txBody>
                    <a:bodyPr/>
                    <a:lstStyle/>
                    <a:p>
                      <a:r>
                        <a:rPr lang="en-US" sz="1600" dirty="0">
                          <a:effectLst/>
                        </a:rPr>
                        <a:t>Longitudinal view of temperature output for a riverine section, reservoir, and estuary, from a CE‐QUAL‐W2 model application.</a:t>
                      </a:r>
                    </a:p>
                  </a:txBody>
                  <a:tcPr marL="123825" marR="123825" marT="57150" marB="57150" anchor="ctr">
                    <a:lnL>
                      <a:noFill/>
                    </a:lnL>
                    <a:lnR>
                      <a:noFill/>
                    </a:lnR>
                    <a:lnT>
                      <a:noFill/>
                    </a:lnT>
                    <a:lnB>
                      <a:noFill/>
                    </a:lnB>
                  </a:tcPr>
                </a:tc>
                <a:extLst>
                  <a:ext uri="{0D108BD9-81ED-4DB2-BD59-A6C34878D82A}">
                    <a16:rowId xmlns:a16="http://schemas.microsoft.com/office/drawing/2014/main" val="2847476195"/>
                  </a:ext>
                </a:extLst>
              </a:tr>
            </a:tbl>
          </a:graphicData>
        </a:graphic>
      </p:graphicFrame>
    </p:spTree>
    <p:extLst>
      <p:ext uri="{BB962C8B-B14F-4D97-AF65-F5344CB8AC3E}">
        <p14:creationId xmlns:p14="http://schemas.microsoft.com/office/powerpoint/2010/main" val="40833662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CE-QUAL-W2 Applications</a:t>
            </a:r>
          </a:p>
        </p:txBody>
      </p:sp>
      <p:sp>
        <p:nvSpPr>
          <p:cNvPr id="3" name="Content Placeholder 2"/>
          <p:cNvSpPr>
            <a:spLocks noGrp="1"/>
          </p:cNvSpPr>
          <p:nvPr>
            <p:ph idx="1"/>
          </p:nvPr>
        </p:nvSpPr>
        <p:spPr>
          <a:xfrm>
            <a:off x="406399" y="1021666"/>
            <a:ext cx="6680201" cy="5338999"/>
          </a:xfrm>
        </p:spPr>
        <p:txBody>
          <a:bodyPr/>
          <a:lstStyle/>
          <a:p>
            <a:pPr marL="228600" indent="-228600">
              <a:spcBef>
                <a:spcPts val="0"/>
              </a:spcBef>
              <a:buClr>
                <a:schemeClr val="tx1"/>
              </a:buClr>
              <a:buFont typeface="Arial" panose="020B0604020202020204" pitchFamily="34" charset="0"/>
              <a:buChar char="•"/>
            </a:pPr>
            <a:r>
              <a:rPr lang="en-US" b="0" dirty="0">
                <a:solidFill>
                  <a:schemeClr val="tx1"/>
                </a:solidFill>
                <a:latin typeface="+mn-lt"/>
              </a:rPr>
              <a:t>CE-QUAL-W2 is the reservoir water quality (WQ) model of choice throughout the U.S. and many other countries</a:t>
            </a:r>
          </a:p>
          <a:p>
            <a:pPr marL="228600" indent="-228600">
              <a:spcBef>
                <a:spcPts val="0"/>
              </a:spcBef>
              <a:buClr>
                <a:schemeClr val="tx1"/>
              </a:buClr>
              <a:buFont typeface="Arial" panose="020B0604020202020204" pitchFamily="34" charset="0"/>
              <a:buChar char="•"/>
            </a:pPr>
            <a:r>
              <a:rPr lang="en-US" b="0" dirty="0">
                <a:solidFill>
                  <a:schemeClr val="tx1"/>
                </a:solidFill>
              </a:rPr>
              <a:t>CE-QUAL-W2 is the</a:t>
            </a:r>
            <a:r>
              <a:rPr lang="en-US" b="0" dirty="0">
                <a:solidFill>
                  <a:schemeClr val="tx1"/>
                </a:solidFill>
                <a:latin typeface="+mn-lt"/>
              </a:rPr>
              <a:t> two-dimensional (2D), longitudinal/vertical hydrodynamic and water quality model of choice for the following agencies:</a:t>
            </a:r>
          </a:p>
          <a:p>
            <a:pPr marL="685800" lvl="1" indent="-228600">
              <a:spcBef>
                <a:spcPts val="0"/>
              </a:spcBef>
              <a:buClr>
                <a:schemeClr val="tx1"/>
              </a:buClr>
            </a:pPr>
            <a:r>
              <a:rPr lang="en-US" b="0" dirty="0">
                <a:solidFill>
                  <a:schemeClr val="tx1"/>
                </a:solidFill>
                <a:latin typeface="+mn-lt"/>
              </a:rPr>
              <a:t>U.S. Army Corps of Engineers (USACE)</a:t>
            </a:r>
          </a:p>
          <a:p>
            <a:pPr marL="685800" lvl="1" indent="-228600">
              <a:spcBef>
                <a:spcPts val="0"/>
              </a:spcBef>
              <a:buClr>
                <a:schemeClr val="tx1"/>
              </a:buClr>
            </a:pPr>
            <a:r>
              <a:rPr lang="en-US" b="0" dirty="0">
                <a:solidFill>
                  <a:schemeClr val="tx1"/>
                </a:solidFill>
                <a:latin typeface="+mn-lt"/>
              </a:rPr>
              <a:t>U.S. Geological Survey (USGS)</a:t>
            </a:r>
          </a:p>
          <a:p>
            <a:pPr marL="685800" lvl="1" indent="-228600">
              <a:spcBef>
                <a:spcPts val="0"/>
              </a:spcBef>
              <a:buClr>
                <a:schemeClr val="tx1"/>
              </a:buClr>
            </a:pPr>
            <a:r>
              <a:rPr lang="en-US" b="0" dirty="0">
                <a:solidFill>
                  <a:schemeClr val="tx1"/>
                </a:solidFill>
                <a:latin typeface="+mn-lt"/>
              </a:rPr>
              <a:t>U.S. Bureau of Reclamation (USBR)</a:t>
            </a:r>
          </a:p>
          <a:p>
            <a:pPr marL="685800" lvl="1" indent="-228600">
              <a:spcBef>
                <a:spcPts val="0"/>
              </a:spcBef>
              <a:buClr>
                <a:schemeClr val="tx1"/>
              </a:buClr>
            </a:pPr>
            <a:r>
              <a:rPr lang="en-US" b="0" dirty="0">
                <a:solidFill>
                  <a:schemeClr val="tx1"/>
                </a:solidFill>
                <a:latin typeface="+mn-lt"/>
              </a:rPr>
              <a:t>U.S. Environmental Protection Agency (EPA)</a:t>
            </a:r>
          </a:p>
          <a:p>
            <a:pPr marL="685800" lvl="1" indent="-228600">
              <a:spcBef>
                <a:spcPts val="0"/>
              </a:spcBef>
              <a:buClr>
                <a:schemeClr val="tx1"/>
              </a:buClr>
            </a:pPr>
            <a:r>
              <a:rPr lang="en-US" b="0" dirty="0">
                <a:solidFill>
                  <a:schemeClr val="tx1"/>
                </a:solidFill>
                <a:latin typeface="+mn-lt"/>
              </a:rPr>
              <a:t>Tennessee Valley Authority (TVA)</a:t>
            </a:r>
          </a:p>
          <a:p>
            <a:pPr marL="228600" indent="-228600">
              <a:spcBef>
                <a:spcPts val="0"/>
              </a:spcBef>
              <a:buClr>
                <a:schemeClr val="tx1"/>
              </a:buClr>
              <a:buFont typeface="Arial" panose="020B0604020202020204" pitchFamily="34" charset="0"/>
              <a:buChar char="•"/>
            </a:pPr>
            <a:r>
              <a:rPr lang="en-US" b="0" dirty="0">
                <a:solidFill>
                  <a:schemeClr val="tx1"/>
                </a:solidFill>
                <a:latin typeface="+mn-lt"/>
              </a:rPr>
              <a:t>There have been more than 300 applications worldwide of CE-QUAL-W2</a:t>
            </a:r>
          </a:p>
          <a:p>
            <a:pPr marL="228600" indent="-228600">
              <a:spcBef>
                <a:spcPts val="0"/>
              </a:spcBef>
              <a:buClr>
                <a:schemeClr val="tx1"/>
              </a:buClr>
              <a:buFont typeface="Arial" panose="020B0604020202020204" pitchFamily="34" charset="0"/>
              <a:buChar char="•"/>
            </a:pPr>
            <a:r>
              <a:rPr lang="en-US" b="0" dirty="0">
                <a:solidFill>
                  <a:schemeClr val="tx1"/>
                </a:solidFill>
              </a:rPr>
              <a:t>Cited in more than:</a:t>
            </a:r>
          </a:p>
          <a:p>
            <a:pPr marL="685800" lvl="1">
              <a:spcBef>
                <a:spcPts val="0"/>
              </a:spcBef>
              <a:buClr>
                <a:schemeClr val="tx1"/>
              </a:buClr>
            </a:pPr>
            <a:r>
              <a:rPr lang="en-US" b="0" dirty="0">
                <a:solidFill>
                  <a:schemeClr val="tx1"/>
                </a:solidFill>
              </a:rPr>
              <a:t>15 PhD dissertations</a:t>
            </a:r>
          </a:p>
          <a:p>
            <a:pPr marL="685800" lvl="1">
              <a:spcBef>
                <a:spcPts val="0"/>
              </a:spcBef>
              <a:buClr>
                <a:schemeClr val="tx1"/>
              </a:buClr>
            </a:pPr>
            <a:r>
              <a:rPr lang="en-US" b="0" dirty="0">
                <a:solidFill>
                  <a:schemeClr val="tx1"/>
                </a:solidFill>
              </a:rPr>
              <a:t>50 Master’s theses</a:t>
            </a:r>
          </a:p>
          <a:p>
            <a:pPr marL="685800" lvl="1">
              <a:spcBef>
                <a:spcPts val="0"/>
              </a:spcBef>
              <a:buClr>
                <a:schemeClr val="tx1"/>
              </a:buClr>
            </a:pPr>
            <a:r>
              <a:rPr lang="en-US" b="0" dirty="0">
                <a:solidFill>
                  <a:schemeClr val="tx1"/>
                </a:solidFill>
              </a:rPr>
              <a:t>100 presentations at scientific meetings</a:t>
            </a:r>
          </a:p>
          <a:p>
            <a:pPr marL="685800" lvl="1">
              <a:spcBef>
                <a:spcPts val="0"/>
              </a:spcBef>
              <a:buClr>
                <a:schemeClr val="tx1"/>
              </a:buClr>
            </a:pPr>
            <a:r>
              <a:rPr lang="en-US" b="0" dirty="0">
                <a:solidFill>
                  <a:schemeClr val="tx1"/>
                </a:solidFill>
              </a:rPr>
              <a:t>20 journal articles worldwide</a:t>
            </a:r>
          </a:p>
        </p:txBody>
      </p:sp>
      <p:sp>
        <p:nvSpPr>
          <p:cNvPr id="5" name="Slide Number Placeholder 4"/>
          <p:cNvSpPr>
            <a:spLocks noGrp="1"/>
          </p:cNvSpPr>
          <p:nvPr>
            <p:ph type="sldNum" sz="quarter" idx="11"/>
          </p:nvPr>
        </p:nvSpPr>
        <p:spPr/>
        <p:txBody>
          <a:bodyPr/>
          <a:lstStyle/>
          <a:p>
            <a:fld id="{9A257827-C34C-4251-B995-96C9C233CCC8}" type="slidenum">
              <a:rPr lang="en-US" smtClean="0"/>
              <a:pPr/>
              <a:t>16</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6" name="Picture 2" descr="CE-QUAL-W2 Model Schematic">
            <a:extLst>
              <a:ext uri="{FF2B5EF4-FFF2-40B4-BE49-F238E27FC236}">
                <a16:creationId xmlns:a16="http://schemas.microsoft.com/office/drawing/2014/main" id="{317D597B-0A87-CEE4-9BF0-56745C71CD6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59091" y="1005685"/>
            <a:ext cx="4527644" cy="43649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61991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CE-QUAL-W2 Capabilities</a:t>
            </a:r>
          </a:p>
        </p:txBody>
      </p:sp>
      <p:sp>
        <p:nvSpPr>
          <p:cNvPr id="3" name="Content Placeholder 2"/>
          <p:cNvSpPr>
            <a:spLocks noGrp="1"/>
          </p:cNvSpPr>
          <p:nvPr>
            <p:ph idx="1"/>
          </p:nvPr>
        </p:nvSpPr>
        <p:spPr>
          <a:xfrm>
            <a:off x="406400" y="1021666"/>
            <a:ext cx="6688881" cy="5338999"/>
          </a:xfrm>
        </p:spPr>
        <p:txBody>
          <a:bodyPr/>
          <a:lstStyle/>
          <a:p>
            <a:pPr marL="228600" indent="-228600">
              <a:buClr>
                <a:schemeClr val="tx1"/>
              </a:buClr>
              <a:buFont typeface="Arial" panose="020B0604020202020204" pitchFamily="34" charset="0"/>
              <a:buChar char="•"/>
            </a:pPr>
            <a:r>
              <a:rPr lang="en-US" b="0" dirty="0">
                <a:solidFill>
                  <a:schemeClr val="tx1"/>
                </a:solidFill>
              </a:rPr>
              <a:t>Longitudinal-vertical hydrodynamics and water quality in stratified and non-stratified systems</a:t>
            </a:r>
          </a:p>
          <a:p>
            <a:pPr marL="228600" indent="-228600">
              <a:buClr>
                <a:schemeClr val="tx1"/>
              </a:buClr>
              <a:buFont typeface="Arial" panose="020B0604020202020204" pitchFamily="34" charset="0"/>
              <a:buChar char="•"/>
            </a:pPr>
            <a:r>
              <a:rPr lang="en-US" b="0" dirty="0">
                <a:solidFill>
                  <a:schemeClr val="tx1"/>
                </a:solidFill>
              </a:rPr>
              <a:t>Interactions between nutrients, dissolved oxygen, and organic matter</a:t>
            </a:r>
          </a:p>
          <a:p>
            <a:pPr marL="228600" indent="-228600">
              <a:buClr>
                <a:schemeClr val="tx1"/>
              </a:buClr>
              <a:buFont typeface="Arial" panose="020B0604020202020204" pitchFamily="34" charset="0"/>
              <a:buChar char="•"/>
            </a:pPr>
            <a:r>
              <a:rPr lang="en-US" b="0" dirty="0">
                <a:solidFill>
                  <a:schemeClr val="tx1"/>
                </a:solidFill>
              </a:rPr>
              <a:t>Fish habitat volume</a:t>
            </a:r>
          </a:p>
          <a:p>
            <a:pPr marL="228600" indent="-228600">
              <a:buClr>
                <a:schemeClr val="tx1"/>
              </a:buClr>
              <a:buFont typeface="Arial" panose="020B0604020202020204" pitchFamily="34" charset="0"/>
              <a:buChar char="•"/>
            </a:pPr>
            <a:r>
              <a:rPr lang="en-US" b="0" dirty="0">
                <a:solidFill>
                  <a:schemeClr val="tx1"/>
                </a:solidFill>
              </a:rPr>
              <a:t>Selective withdrawal from specially design outlets to provide cold-water releases from stratified reservoirs</a:t>
            </a:r>
          </a:p>
          <a:p>
            <a:pPr marL="228600" indent="-228600">
              <a:buClr>
                <a:schemeClr val="tx1"/>
              </a:buClr>
              <a:buFont typeface="Arial" panose="020B0604020202020204" pitchFamily="34" charset="0"/>
              <a:buChar char="•"/>
            </a:pPr>
            <a:r>
              <a:rPr lang="en-US" b="0" dirty="0">
                <a:solidFill>
                  <a:schemeClr val="tx1"/>
                </a:solidFill>
              </a:rPr>
              <a:t>Hypolimnetic aeration</a:t>
            </a:r>
          </a:p>
          <a:p>
            <a:pPr marL="228600" indent="-228600">
              <a:buClr>
                <a:schemeClr val="tx1"/>
              </a:buClr>
              <a:buFont typeface="Arial" panose="020B0604020202020204" pitchFamily="34" charset="0"/>
              <a:buChar char="•"/>
            </a:pPr>
            <a:r>
              <a:rPr lang="en-US" b="0" dirty="0">
                <a:solidFill>
                  <a:schemeClr val="tx1"/>
                </a:solidFill>
              </a:rPr>
              <a:t>Multiple algae, epiphyton/periphyton, zooplankton, and macrophyte groups</a:t>
            </a:r>
          </a:p>
          <a:p>
            <a:pPr marL="228600" indent="-228600">
              <a:buClr>
                <a:schemeClr val="tx1"/>
              </a:buClr>
              <a:buFont typeface="Arial" panose="020B0604020202020204" pitchFamily="34" charset="0"/>
              <a:buChar char="•"/>
            </a:pPr>
            <a:r>
              <a:rPr lang="en-US" b="0" dirty="0">
                <a:solidFill>
                  <a:schemeClr val="tx1"/>
                </a:solidFill>
              </a:rPr>
              <a:t>CBOD</a:t>
            </a:r>
          </a:p>
          <a:p>
            <a:pPr marL="228600" indent="-228600">
              <a:buClr>
                <a:schemeClr val="tx1"/>
              </a:buClr>
              <a:buFont typeface="Arial" panose="020B0604020202020204" pitchFamily="34" charset="0"/>
              <a:buChar char="•"/>
            </a:pPr>
            <a:r>
              <a:rPr lang="en-US" b="0" dirty="0">
                <a:solidFill>
                  <a:schemeClr val="tx1"/>
                </a:solidFill>
              </a:rPr>
              <a:t>Sediment diagenesis model</a:t>
            </a:r>
          </a:p>
          <a:p>
            <a:pPr marL="228600" indent="-228600">
              <a:buClr>
                <a:schemeClr val="tx1"/>
              </a:buClr>
              <a:buFont typeface="Arial" panose="020B0604020202020204" pitchFamily="34" charset="0"/>
              <a:buChar char="•"/>
            </a:pPr>
            <a:r>
              <a:rPr lang="en-US" b="0" dirty="0">
                <a:solidFill>
                  <a:schemeClr val="tx1"/>
                </a:solidFill>
              </a:rPr>
              <a:t>Generic water quality groups</a:t>
            </a:r>
          </a:p>
          <a:p>
            <a:pPr marL="228600" indent="-228600">
              <a:buClr>
                <a:schemeClr val="tx1"/>
              </a:buClr>
              <a:buFont typeface="Arial" panose="020B0604020202020204" pitchFamily="34" charset="0"/>
              <a:buChar char="•"/>
            </a:pPr>
            <a:r>
              <a:rPr lang="en-US" b="0" dirty="0">
                <a:solidFill>
                  <a:schemeClr val="tx1"/>
                </a:solidFill>
              </a:rPr>
              <a:t>Internal dynamic pipe/culvert model</a:t>
            </a:r>
          </a:p>
          <a:p>
            <a:pPr marL="228600" indent="-228600">
              <a:buClr>
                <a:schemeClr val="tx1"/>
              </a:buClr>
              <a:buFont typeface="Arial" panose="020B0604020202020204" pitchFamily="34" charset="0"/>
              <a:buChar char="•"/>
            </a:pPr>
            <a:r>
              <a:rPr lang="en-US" b="0" dirty="0">
                <a:solidFill>
                  <a:schemeClr val="tx1"/>
                </a:solidFill>
              </a:rPr>
              <a:t>Hydraulic structures (weirs, spillways) algorithms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17</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6" name="Picture 2" descr="CE-QUAL-W2 Model Schematic">
            <a:extLst>
              <a:ext uri="{FF2B5EF4-FFF2-40B4-BE49-F238E27FC236}">
                <a16:creationId xmlns:a16="http://schemas.microsoft.com/office/drawing/2014/main" id="{2833648C-6F90-3C36-4976-975ED63DEC0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86600" y="1005684"/>
            <a:ext cx="4699000" cy="45301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579880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CE-QUAL-W2 Capabilities, Continued</a:t>
            </a:r>
          </a:p>
        </p:txBody>
      </p:sp>
      <p:sp>
        <p:nvSpPr>
          <p:cNvPr id="3" name="Content Placeholder 2"/>
          <p:cNvSpPr>
            <a:spLocks noGrp="1"/>
          </p:cNvSpPr>
          <p:nvPr>
            <p:ph idx="1"/>
          </p:nvPr>
        </p:nvSpPr>
        <p:spPr>
          <a:xfrm>
            <a:off x="406400" y="1043183"/>
            <a:ext cx="6530269" cy="5218722"/>
          </a:xfrm>
        </p:spPr>
        <p:txBody>
          <a:bodyPr/>
          <a:lstStyle/>
          <a:p>
            <a:pPr marL="228600" indent="-228600">
              <a:buClr>
                <a:schemeClr val="tx1"/>
              </a:buClr>
              <a:buFont typeface="Arial" panose="020B0604020202020204" pitchFamily="34" charset="0"/>
              <a:buChar char="•"/>
            </a:pPr>
            <a:r>
              <a:rPr lang="en-US" b="0" dirty="0">
                <a:solidFill>
                  <a:schemeClr val="tx1"/>
                </a:solidFill>
              </a:rPr>
              <a:t>The hydraulic structures algorithms include submerged and two-way flow over submerged hydraulic structures as well as a dynamic shading algorithm based on topographic and vegetative cover.</a:t>
            </a:r>
          </a:p>
          <a:p>
            <a:pPr marL="228600" indent="-228600">
              <a:buClr>
                <a:schemeClr val="tx1"/>
              </a:buClr>
              <a:buFont typeface="Arial" panose="020B0604020202020204" pitchFamily="34" charset="0"/>
              <a:buChar char="•"/>
            </a:pPr>
            <a:r>
              <a:rPr lang="en-US" b="0" dirty="0">
                <a:solidFill>
                  <a:schemeClr val="tx1"/>
                </a:solidFill>
              </a:rPr>
              <a:t>Variable density as affected by temperature, salinity, Total Dissolved Solids (TDS), and Total Suspended Solids (TSS) to simulate stratified flow.</a:t>
            </a:r>
          </a:p>
          <a:p>
            <a:pPr marL="228600" indent="-228600">
              <a:buClr>
                <a:schemeClr val="tx1"/>
              </a:buClr>
              <a:buFont typeface="Arial" panose="020B0604020202020204" pitchFamily="34" charset="0"/>
              <a:buChar char="•"/>
            </a:pPr>
            <a:r>
              <a:rPr lang="en-US" b="0" dirty="0">
                <a:solidFill>
                  <a:schemeClr val="tx1"/>
                </a:solidFill>
              </a:rPr>
              <a:t>28 water quality constituent state variables</a:t>
            </a:r>
          </a:p>
          <a:p>
            <a:pPr marL="685800" lvl="1" indent="-228600">
              <a:buClr>
                <a:schemeClr val="tx1"/>
              </a:buClr>
            </a:pPr>
            <a:r>
              <a:rPr lang="en-US" b="0" dirty="0">
                <a:solidFill>
                  <a:schemeClr val="tx1"/>
                </a:solidFill>
              </a:rPr>
              <a:t>Any combination of constituents can be included or excluded from a simulation.</a:t>
            </a:r>
          </a:p>
          <a:p>
            <a:pPr marL="685800" lvl="1" indent="-228600">
              <a:buClr>
                <a:schemeClr val="tx1"/>
              </a:buClr>
            </a:pPr>
            <a:r>
              <a:rPr lang="en-US" b="0" dirty="0">
                <a:solidFill>
                  <a:schemeClr val="tx1"/>
                </a:solidFill>
              </a:rPr>
              <a:t>The effects of salinity or total dissolved solids/salinity on density, and thus hydrodynamics, are included only when simulated in the water quality module.</a:t>
            </a:r>
          </a:p>
          <a:p>
            <a:pPr marL="685800" lvl="1" indent="-228600">
              <a:buClr>
                <a:schemeClr val="tx1"/>
              </a:buClr>
            </a:pPr>
            <a:r>
              <a:rPr lang="en-US" b="0" dirty="0">
                <a:solidFill>
                  <a:schemeClr val="tx1"/>
                </a:solidFill>
              </a:rPr>
              <a:t>The water quality algorithm is modular, allowing constituents to be easily added as additional subroutines.</a:t>
            </a:r>
          </a:p>
          <a:p>
            <a:pPr>
              <a:buClr>
                <a:schemeClr val="tx1"/>
              </a:buClr>
            </a:pPr>
            <a:endParaRPr lang="en-US" b="0" dirty="0">
              <a:solidFill>
                <a:schemeClr val="tx1"/>
              </a:solidFill>
            </a:endParaRPr>
          </a:p>
          <a:p>
            <a:pPr marL="914400" lvl="1" indent="-342900">
              <a:buClr>
                <a:schemeClr val="tx1"/>
              </a:buClr>
            </a:pPr>
            <a:endParaRPr lang="en-US" b="0" dirty="0">
              <a:solidFill>
                <a:schemeClr val="tx1"/>
              </a:solidFill>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18</a:t>
            </a:fld>
            <a:endParaRPr lang="en-US"/>
          </a:p>
        </p:txBody>
      </p:sp>
      <p:sp>
        <p:nvSpPr>
          <p:cNvPr id="8" name="Rectangle 3">
            <a:hlinkClick r:id="rId2"/>
            <a:extLst>
              <a:ext uri="{FF2B5EF4-FFF2-40B4-BE49-F238E27FC236}">
                <a16:creationId xmlns:a16="http://schemas.microsoft.com/office/drawing/2014/main" id="{A1D4DA15-6269-AFC8-7C05-0F1E55808474}"/>
              </a:ext>
            </a:extLst>
          </p:cNvPr>
          <p:cNvSpPr>
            <a:spLocks noChangeArrowheads="1"/>
          </p:cNvSpPr>
          <p:nvPr/>
        </p:nvSpPr>
        <p:spPr bwMode="auto">
          <a:xfrm flipH="1">
            <a:off x="1143506" y="4200498"/>
            <a:ext cx="45719" cy="10463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69809" tIns="182505" rIns="91440" bIns="122199"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a:ln>
                <a:noFill/>
              </a:ln>
              <a:solidFill>
                <a:srgbClr val="24292F"/>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600" b="0" i="0" u="none" strike="noStrike" cap="none" normalizeH="0" baseline="0">
                <a:ln>
                  <a:noFill/>
                </a:ln>
                <a:solidFill>
                  <a:schemeClr val="tx1"/>
                </a:solidFill>
                <a:effectLst/>
              </a:rPr>
            </a:br>
            <a:endParaRPr kumimoji="0" lang="en-US" altLang="en-US" sz="1600" b="0" i="0" u="none" strike="noStrike" cap="none" normalizeH="0" baseline="0">
              <a:ln>
                <a:noFill/>
              </a:ln>
              <a:solidFill>
                <a:schemeClr val="tx1"/>
              </a:solidFill>
              <a:effectLst/>
            </a:endParaRPr>
          </a:p>
        </p:txBody>
      </p:sp>
      <p:pic>
        <p:nvPicPr>
          <p:cNvPr id="6" name="Picture 2" descr="CE-QUAL-W2 Model Schematic">
            <a:extLst>
              <a:ext uri="{FF2B5EF4-FFF2-40B4-BE49-F238E27FC236}">
                <a16:creationId xmlns:a16="http://schemas.microsoft.com/office/drawing/2014/main" id="{0FA6EA6D-87A8-5D97-C4FD-8E0AECBE3B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65804" y="1043183"/>
            <a:ext cx="4516596" cy="43543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84535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5359" y="239426"/>
            <a:ext cx="11176000" cy="806451"/>
          </a:xfrm>
        </p:spPr>
        <p:txBody>
          <a:bodyPr/>
          <a:lstStyle/>
          <a:p>
            <a:r>
              <a:rPr lang="en-US" dirty="0">
                <a:solidFill>
                  <a:schemeClr val="tx1"/>
                </a:solidFill>
                <a:latin typeface="+mj-lt"/>
                <a:cs typeface="Times New Roman" panose="02020603050405020304" pitchFamily="18" charset="0"/>
              </a:rPr>
              <a:t>Acknowledgements</a:t>
            </a:r>
          </a:p>
        </p:txBody>
      </p:sp>
      <p:sp>
        <p:nvSpPr>
          <p:cNvPr id="3" name="Content Placeholder 2"/>
          <p:cNvSpPr>
            <a:spLocks noGrp="1"/>
          </p:cNvSpPr>
          <p:nvPr>
            <p:ph idx="1"/>
          </p:nvPr>
        </p:nvSpPr>
        <p:spPr>
          <a:xfrm>
            <a:off x="406399" y="1008014"/>
            <a:ext cx="8538245" cy="4607478"/>
          </a:xfrm>
        </p:spPr>
        <p:txBody>
          <a:bodyPr/>
          <a:lstStyle/>
          <a:p>
            <a:r>
              <a:rPr lang="en-US" sz="2000" dirty="0">
                <a:solidFill>
                  <a:schemeClr val="tx1"/>
                </a:solidFill>
                <a:latin typeface="+mn-lt"/>
              </a:rPr>
              <a:t>Development and Maintenance:</a:t>
            </a:r>
            <a:endParaRPr lang="en-US" sz="2000" b="0" dirty="0">
              <a:solidFill>
                <a:schemeClr val="tx1"/>
              </a:solidFill>
              <a:latin typeface="+mn-lt"/>
            </a:endParaRPr>
          </a:p>
          <a:p>
            <a:pPr marL="228600" indent="-228600">
              <a:buClr>
                <a:schemeClr val="tx1"/>
              </a:buClr>
              <a:buFont typeface="Arial" panose="020B0604020202020204" pitchFamily="34" charset="0"/>
              <a:buChar char="•"/>
            </a:pPr>
            <a:r>
              <a:rPr lang="en-US" sz="2000" b="0" dirty="0">
                <a:solidFill>
                  <a:schemeClr val="tx1"/>
                </a:solidFill>
                <a:latin typeface="+mn-lt"/>
              </a:rPr>
              <a:t>Scott Wells, Portland State University</a:t>
            </a:r>
          </a:p>
          <a:p>
            <a:pPr marL="228600" indent="-228600">
              <a:buClr>
                <a:schemeClr val="tx1"/>
              </a:buClr>
              <a:buFont typeface="Arial" panose="020B0604020202020204" pitchFamily="34" charset="0"/>
              <a:buChar char="•"/>
            </a:pPr>
            <a:r>
              <a:rPr lang="en-US" sz="2000" b="0" dirty="0">
                <a:solidFill>
                  <a:schemeClr val="tx1"/>
                </a:solidFill>
                <a:latin typeface="+mn-lt"/>
              </a:rPr>
              <a:t>Zhonglong, Zhang, Portland State University</a:t>
            </a:r>
          </a:p>
          <a:p>
            <a:pPr marL="228600" indent="-228600">
              <a:buClr>
                <a:schemeClr val="tx1"/>
              </a:buClr>
              <a:buFont typeface="Arial" panose="020B0604020202020204" pitchFamily="34" charset="0"/>
              <a:buChar char="•"/>
            </a:pPr>
            <a:r>
              <a:rPr lang="en-US" sz="2000" b="0" dirty="0">
                <a:solidFill>
                  <a:schemeClr val="tx1"/>
                </a:solidFill>
                <a:latin typeface="+mn-lt"/>
              </a:rPr>
              <a:t>Isaac Mudge, USACE New Orleans District</a:t>
            </a:r>
          </a:p>
          <a:p>
            <a:pPr marL="228600" indent="-228600">
              <a:buClr>
                <a:schemeClr val="tx1"/>
              </a:buClr>
              <a:buFont typeface="Arial" panose="020B0604020202020204" pitchFamily="34" charset="0"/>
              <a:buChar char="•"/>
            </a:pPr>
            <a:r>
              <a:rPr lang="en-US" sz="2000" b="0" dirty="0">
                <a:solidFill>
                  <a:schemeClr val="tx1"/>
                </a:solidFill>
                <a:latin typeface="+mn-lt"/>
              </a:rPr>
              <a:t>Yonghu Wenren (“Tiger”), ERDC-CRREL</a:t>
            </a:r>
          </a:p>
          <a:p>
            <a:pPr marL="228600" indent="-228600">
              <a:buClr>
                <a:schemeClr val="tx1"/>
              </a:buClr>
              <a:buFont typeface="Arial" panose="020B0604020202020204" pitchFamily="34" charset="0"/>
              <a:buChar char="•"/>
            </a:pPr>
            <a:r>
              <a:rPr lang="en-US" sz="2000" b="0" dirty="0">
                <a:solidFill>
                  <a:schemeClr val="tx1"/>
                </a:solidFill>
                <a:latin typeface="+mn-lt"/>
              </a:rPr>
              <a:t>Terry Gerald, ERDC-EL</a:t>
            </a:r>
          </a:p>
          <a:p>
            <a:pPr marL="228600" indent="-228600">
              <a:buClr>
                <a:schemeClr val="tx1"/>
              </a:buClr>
              <a:buFont typeface="Arial" panose="020B0604020202020204" pitchFamily="34" charset="0"/>
              <a:buChar char="•"/>
            </a:pPr>
            <a:r>
              <a:rPr lang="en-US" sz="2000" b="0" dirty="0">
                <a:solidFill>
                  <a:schemeClr val="tx1"/>
                </a:solidFill>
                <a:latin typeface="+mn-lt"/>
              </a:rPr>
              <a:t>Cody Armond, ERDC-CRREL</a:t>
            </a:r>
          </a:p>
          <a:p>
            <a:endParaRPr lang="en-US" sz="2000" b="0" dirty="0">
              <a:solidFill>
                <a:schemeClr val="tx1"/>
              </a:solidFill>
              <a:latin typeface="+mn-lt"/>
            </a:endParaRPr>
          </a:p>
          <a:p>
            <a:r>
              <a:rPr lang="en-US" sz="2000" dirty="0">
                <a:solidFill>
                  <a:schemeClr val="tx1"/>
                </a:solidFill>
                <a:latin typeface="+mn-lt"/>
              </a:rPr>
              <a:t>Funding and Support:</a:t>
            </a:r>
          </a:p>
          <a:p>
            <a:pPr marL="228600" indent="-228600">
              <a:buClr>
                <a:schemeClr val="tx1"/>
              </a:buClr>
              <a:buFont typeface="Arial" panose="020B0604020202020204" pitchFamily="34" charset="0"/>
              <a:buChar char="•"/>
            </a:pPr>
            <a:r>
              <a:rPr lang="en-US" sz="2000" b="0" dirty="0">
                <a:solidFill>
                  <a:schemeClr val="tx1"/>
                </a:solidFill>
              </a:rPr>
              <a:t>HH&amp;C SET (USACE Hydraulics, Hydrology, and Coastal Software Engineering Tools)</a:t>
            </a:r>
          </a:p>
          <a:p>
            <a:pPr marL="228600" indent="-228600">
              <a:buClr>
                <a:schemeClr val="tx1"/>
              </a:buClr>
              <a:buFont typeface="Arial" panose="020B0604020202020204" pitchFamily="34" charset="0"/>
              <a:buChar char="•"/>
            </a:pPr>
            <a:r>
              <a:rPr lang="en-US" sz="2000" b="0" dirty="0">
                <a:solidFill>
                  <a:schemeClr val="tx1"/>
                </a:solidFill>
                <a:latin typeface="+mn-lt"/>
              </a:rPr>
              <a:t>Ecosystem Management and Restoration Research Program (EMRRP)</a:t>
            </a:r>
          </a:p>
          <a:p>
            <a:pPr marL="228600" indent="-228600">
              <a:buClr>
                <a:schemeClr val="tx1"/>
              </a:buClr>
              <a:buFont typeface="Arial" panose="020B0604020202020204" pitchFamily="34" charset="0"/>
              <a:buChar char="•"/>
            </a:pPr>
            <a:r>
              <a:rPr lang="en-US" sz="2000" b="0" dirty="0">
                <a:solidFill>
                  <a:schemeClr val="tx1"/>
                </a:solidFill>
                <a:latin typeface="+mn-lt"/>
              </a:rPr>
              <a:t>Aquatic Nuisance Species Research Program (ANSRP)</a:t>
            </a:r>
          </a:p>
          <a:p>
            <a:endParaRPr lang="en-US" sz="2000" b="0" dirty="0">
              <a:solidFill>
                <a:schemeClr val="tx1"/>
              </a:solidFill>
              <a:latin typeface="+mn-lt"/>
            </a:endParaRPr>
          </a:p>
          <a:p>
            <a:endParaRPr lang="en-US" sz="2000" b="0" dirty="0">
              <a:solidFill>
                <a:schemeClr val="tx1"/>
              </a:solidFill>
              <a:latin typeface="+mn-lt"/>
            </a:endParaRPr>
          </a:p>
          <a:p>
            <a:endParaRPr lang="en-US" sz="2000" b="0" dirty="0">
              <a:solidFill>
                <a:schemeClr val="tx1"/>
              </a:solidFill>
              <a:latin typeface="+mn-lt"/>
            </a:endParaRPr>
          </a:p>
          <a:p>
            <a:endParaRPr lang="en-US" sz="2000" b="0" dirty="0">
              <a:solidFill>
                <a:schemeClr val="tx1"/>
              </a:solidFill>
              <a:latin typeface="+mn-lt"/>
            </a:endParaRPr>
          </a:p>
          <a:p>
            <a:endParaRPr lang="en-US" b="0" dirty="0">
              <a:solidFill>
                <a:schemeClr val="tx1"/>
              </a:solidFill>
              <a:latin typeface="+mn-lt"/>
            </a:endParaRPr>
          </a:p>
        </p:txBody>
      </p:sp>
      <p:sp>
        <p:nvSpPr>
          <p:cNvPr id="5" name="Slide Number Placeholder 4"/>
          <p:cNvSpPr>
            <a:spLocks noGrp="1"/>
          </p:cNvSpPr>
          <p:nvPr>
            <p:ph type="sldNum" sz="quarter" idx="11"/>
          </p:nvPr>
        </p:nvSpPr>
        <p:spPr/>
        <p:txBody>
          <a:bodyPr/>
          <a:lstStyle/>
          <a:p>
            <a:fld id="{9A257827-C34C-4251-B995-96C9C233CCC8}" type="slidenum">
              <a:rPr lang="en-US" smtClean="0"/>
              <a:pPr/>
              <a:t>19</a:t>
            </a:fld>
            <a:endParaRPr lang="en-US"/>
          </a:p>
        </p:txBody>
      </p:sp>
      <p:pic>
        <p:nvPicPr>
          <p:cNvPr id="6" name="Picture 5" descr="A picture containing cake, birthday, indoor, decorated&#10;&#10;Description automatically generated">
            <a:extLst>
              <a:ext uri="{FF2B5EF4-FFF2-40B4-BE49-F238E27FC236}">
                <a16:creationId xmlns:a16="http://schemas.microsoft.com/office/drawing/2014/main" id="{C96A2128-96B1-3C4F-C0BB-DFEE4921A96A}"/>
              </a:ext>
            </a:extLst>
          </p:cNvPr>
          <p:cNvPicPr>
            <a:picLocks noChangeAspect="1"/>
          </p:cNvPicPr>
          <p:nvPr/>
        </p:nvPicPr>
        <p:blipFill>
          <a:blip r:embed="rId2"/>
          <a:stretch>
            <a:fillRect/>
          </a:stretch>
        </p:blipFill>
        <p:spPr>
          <a:xfrm>
            <a:off x="7086599" y="457200"/>
            <a:ext cx="4284663" cy="6063339"/>
          </a:xfrm>
          <a:prstGeom prst="rect">
            <a:avLst/>
          </a:prstGeom>
        </p:spPr>
      </p:pic>
      <p:sp>
        <p:nvSpPr>
          <p:cNvPr id="8" name="TextBox 7">
            <a:extLst>
              <a:ext uri="{FF2B5EF4-FFF2-40B4-BE49-F238E27FC236}">
                <a16:creationId xmlns:a16="http://schemas.microsoft.com/office/drawing/2014/main" id="{9C9FB11D-D3AA-2CC4-BEFC-974C895B85BD}"/>
              </a:ext>
            </a:extLst>
          </p:cNvPr>
          <p:cNvSpPr txBox="1"/>
          <p:nvPr/>
        </p:nvSpPr>
        <p:spPr>
          <a:xfrm>
            <a:off x="8944644" y="852917"/>
            <a:ext cx="1858717"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dirty="0">
                <a:latin typeface="Arial"/>
                <a:ea typeface="ＭＳ Ｐゴシック"/>
                <a:cs typeface="Arial"/>
              </a:rPr>
              <a:t>Graphics by Lauren Melendez</a:t>
            </a:r>
            <a:endParaRPr lang="en-US" sz="1600" dirty="0">
              <a:cs typeface="Arial" pitchFamily="34" charset="0"/>
            </a:endParaRPr>
          </a:p>
        </p:txBody>
      </p:sp>
    </p:spTree>
    <p:extLst>
      <p:ext uri="{BB962C8B-B14F-4D97-AF65-F5344CB8AC3E}">
        <p14:creationId xmlns:p14="http://schemas.microsoft.com/office/powerpoint/2010/main" val="7735941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2">
            <a:lumMod val="40000"/>
            <a:lumOff val="6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95263" y="199234"/>
            <a:ext cx="11176000" cy="806451"/>
          </a:xfrm>
        </p:spPr>
        <p:txBody>
          <a:bodyPr/>
          <a:lstStyle/>
          <a:p>
            <a:pPr algn="ctr"/>
            <a:r>
              <a:rPr lang="en-US" dirty="0">
                <a:solidFill>
                  <a:schemeClr val="tx1"/>
                </a:solidFill>
                <a:latin typeface="+mj-lt"/>
              </a:rPr>
              <a:t>Questions?</a:t>
            </a:r>
          </a:p>
        </p:txBody>
      </p:sp>
      <p:sp>
        <p:nvSpPr>
          <p:cNvPr id="5" name="Slide Number Placeholder 4"/>
          <p:cNvSpPr>
            <a:spLocks noGrp="1"/>
          </p:cNvSpPr>
          <p:nvPr>
            <p:ph type="sldNum" sz="quarter" idx="11"/>
          </p:nvPr>
        </p:nvSpPr>
        <p:spPr/>
        <p:txBody>
          <a:bodyPr/>
          <a:lstStyle/>
          <a:p>
            <a:fld id="{9A257827-C34C-4251-B995-96C9C233CCC8}" type="slidenum">
              <a:rPr lang="en-US" smtClean="0"/>
              <a:pPr/>
              <a:t>20</a:t>
            </a:fld>
            <a:endParaRPr lang="en-US"/>
          </a:p>
        </p:txBody>
      </p:sp>
      <p:pic>
        <p:nvPicPr>
          <p:cNvPr id="4" name="Picture 3" descr="A picture containing tree, nature, water, waterfall&#10;&#10;Description automatically generated">
            <a:extLst>
              <a:ext uri="{FF2B5EF4-FFF2-40B4-BE49-F238E27FC236}">
                <a16:creationId xmlns:a16="http://schemas.microsoft.com/office/drawing/2014/main" id="{B8442BBE-80CD-0757-3B8B-6C5943C67D22}"/>
              </a:ext>
            </a:extLst>
          </p:cNvPr>
          <p:cNvPicPr>
            <a:picLocks noChangeAspect="1"/>
          </p:cNvPicPr>
          <p:nvPr/>
        </p:nvPicPr>
        <p:blipFill>
          <a:blip r:embed="rId2"/>
          <a:stretch>
            <a:fillRect/>
          </a:stretch>
        </p:blipFill>
        <p:spPr>
          <a:xfrm>
            <a:off x="2111835" y="913088"/>
            <a:ext cx="7884328" cy="5256218"/>
          </a:xfrm>
          <a:prstGeom prst="rect">
            <a:avLst/>
          </a:prstGeom>
        </p:spPr>
      </p:pic>
    </p:spTree>
    <p:extLst>
      <p:ext uri="{BB962C8B-B14F-4D97-AF65-F5344CB8AC3E}">
        <p14:creationId xmlns:p14="http://schemas.microsoft.com/office/powerpoint/2010/main" val="3616877"/>
      </p:ext>
    </p:extLst>
  </p:cSld>
  <p:clrMapOvr>
    <a:masterClrMapping/>
  </p:clrMapOvr>
</p:sld>
</file>

<file path=ppt/theme/theme1.xml><?xml version="1.0" encoding="utf-8"?>
<a:theme xmlns:a="http://schemas.openxmlformats.org/drawingml/2006/main" name="Title Slide Templates">
  <a:themeElements>
    <a:clrScheme name="Custom 2">
      <a:dk1>
        <a:srgbClr val="000000"/>
      </a:dk1>
      <a:lt1>
        <a:srgbClr val="FFFFFF"/>
      </a:lt1>
      <a:dk2>
        <a:srgbClr val="83847A"/>
      </a:dk2>
      <a:lt2>
        <a:srgbClr val="A3A3A3"/>
      </a:lt2>
      <a:accent1>
        <a:srgbClr val="82786F"/>
      </a:accent1>
      <a:accent2>
        <a:srgbClr val="6E8778"/>
      </a:accent2>
      <a:accent3>
        <a:srgbClr val="705C38"/>
      </a:accent3>
      <a:accent4>
        <a:srgbClr val="3E6682"/>
      </a:accent4>
      <a:accent5>
        <a:srgbClr val="663830"/>
      </a:accent5>
      <a:accent6>
        <a:srgbClr val="EF4135"/>
      </a:accent6>
      <a:hlink>
        <a:srgbClr val="3E6682"/>
      </a:hlink>
      <a:folHlink>
        <a:srgbClr val="EF4135"/>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122F0FA2-19C7-43A3-AA26-1FC3028BC721}" vid="{2BB31517-1312-4F35-8F70-B9A7CDB59602}"/>
    </a:ext>
  </a:extLst>
</a:theme>
</file>

<file path=ppt/theme/theme2.xml><?xml version="1.0" encoding="utf-8"?>
<a:theme xmlns:a="http://schemas.openxmlformats.org/drawingml/2006/main" name="UNCL // FOUO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A99B459A-8B1A-4C1C-862F-E0F9CCA22596}"/>
    </a:ext>
  </a:extLst>
</a:theme>
</file>

<file path=ppt/theme/theme3.xml><?xml version="1.0" encoding="utf-8"?>
<a:theme xmlns:a="http://schemas.openxmlformats.org/drawingml/2006/main" name="UNCLASSIFIED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63E75002-AE9D-4785-8124-3AFCCDC59DC3}"/>
    </a:ext>
  </a:extLst>
</a:theme>
</file>

<file path=ppt/theme/theme4.xml><?xml version="1.0" encoding="utf-8"?>
<a:theme xmlns:a="http://schemas.openxmlformats.org/drawingml/2006/main" name="Custom Classification Content">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C6CC15A3-3625-4B74-BD53-DE8C42AE3990}"/>
    </a:ext>
  </a:extLst>
</a:theme>
</file>

<file path=ppt/theme/theme5.xml><?xml version="1.0" encoding="utf-8"?>
<a:theme xmlns:a="http://schemas.openxmlformats.org/drawingml/2006/main" name="Standard White Theme">
  <a:themeElements>
    <a:clrScheme name="Custom 1">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00B0F0"/>
      </a:hlink>
      <a:folHlink>
        <a:srgbClr val="0070C0"/>
      </a:folHlink>
    </a:clrScheme>
    <a:fontScheme name="USACE TEMPLAT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F4339">
            <a:alpha val="89000"/>
          </a:srgbClr>
        </a:solidFill>
        <a:ln>
          <a:noFill/>
        </a:ln>
        <a:effectLst/>
      </a:spPr>
      <a:bodyPr anchor="ctr"/>
      <a:lstStyle>
        <a:defPPr algn="ctr">
          <a:defRPr dirty="0"/>
        </a:defPPr>
      </a:lstStyle>
      <a:style>
        <a:lnRef idx="1">
          <a:schemeClr val="accent1"/>
        </a:lnRef>
        <a:fillRef idx="3">
          <a:schemeClr val="accent1"/>
        </a:fillRef>
        <a:effectRef idx="2">
          <a:schemeClr val="accent1"/>
        </a:effectRef>
        <a:fontRef idx="minor">
          <a:schemeClr val="lt1"/>
        </a:fontRef>
      </a:style>
    </a:spDef>
  </a:objectDefaults>
  <a:extraClrSchemeLst/>
  <a:extLst>
    <a:ext uri="{05A4C25C-085E-4340-85A3-A5531E510DB2}">
      <thm15:themeFamily xmlns:thm15="http://schemas.microsoft.com/office/thememl/2012/main" name="Presentation1" id="{122F0FA2-19C7-43A3-AA26-1FC3028BC721}" vid="{0957B2FE-61BF-4E25-9901-9769BBB77ACE}"/>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1AF2FAC55F63A40BD9EED0C36836299" ma:contentTypeVersion="11" ma:contentTypeDescription="Create a new document." ma:contentTypeScope="" ma:versionID="3728a24128c8d92f839bb13793558aed">
  <xsd:schema xmlns:xsd="http://www.w3.org/2001/XMLSchema" xmlns:xs="http://www.w3.org/2001/XMLSchema" xmlns:p="http://schemas.microsoft.com/office/2006/metadata/properties" xmlns:ns2="83868113-c0a5-43de-a876-5fe4e9e92519" xmlns:ns3="33812d21-cc6d-40d3-8190-1784895c4f86" targetNamespace="http://schemas.microsoft.com/office/2006/metadata/properties" ma:root="true" ma:fieldsID="b12b5e841fafb2392613c5d5cd91cc7a" ns2:_="" ns3:_="">
    <xsd:import namespace="83868113-c0a5-43de-a876-5fe4e9e92519"/>
    <xsd:import namespace="33812d21-cc6d-40d3-8190-1784895c4f86"/>
    <xsd:element name="properties">
      <xsd:complexType>
        <xsd:sequence>
          <xsd:element name="documentManagement">
            <xsd:complexType>
              <xsd:all>
                <xsd:element ref="ns2:MediaServiceMetadata" minOccurs="0"/>
                <xsd:element ref="ns2:MediaServiceFastMetadata" minOccurs="0"/>
                <xsd:element ref="ns2:lcf76f155ced4ddcb4097134ff3c332f" minOccurs="0"/>
                <xsd:element ref="ns3:TaxCatchAll" minOccurs="0"/>
                <xsd:element ref="ns2:MediaServiceGenerationTime" minOccurs="0"/>
                <xsd:element ref="ns2:MediaServiceEventHashCode"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3868113-c0a5-43de-a876-5fe4e9e9251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2e6c1609-49e0-4fdc-8f5b-8b798a969131" ma:termSetId="09814cd3-568e-fe90-9814-8d621ff8fb84" ma:anchorId="fba54fb3-c3e1-fe81-a776-ca4b69148c4d" ma:open="true" ma:isKeyword="false">
      <xsd:complexType>
        <xsd:sequence>
          <xsd:element ref="pc:Terms" minOccurs="0" maxOccurs="1"/>
        </xsd:sequence>
      </xsd:complex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SearchProperties" ma:index="18"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3812d21-cc6d-40d3-8190-1784895c4f86"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c54ceb61-3fcb-461d-8e52-255959401034}" ma:internalName="TaxCatchAll" ma:showField="CatchAllData" ma:web="33812d21-cc6d-40d3-8190-1784895c4f86">
      <xsd:complexType>
        <xsd:complexContent>
          <xsd:extension base="dms:MultiChoiceLookup">
            <xsd:sequence>
              <xsd:element name="Value" type="dms:Lookup" maxOccurs="unbounded" minOccurs="0" nillable="true"/>
            </xsd:sequence>
          </xsd:extension>
        </xsd:complexContent>
      </xsd:complexType>
    </xsd:element>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3868113-c0a5-43de-a876-5fe4e9e92519">
      <Terms xmlns="http://schemas.microsoft.com/office/infopath/2007/PartnerControls"/>
    </lcf76f155ced4ddcb4097134ff3c332f>
    <TaxCatchAll xmlns="33812d21-cc6d-40d3-8190-1784895c4f8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CA297BB-23EA-4511-961B-1869FC4E7EA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3868113-c0a5-43de-a876-5fe4e9e92519"/>
    <ds:schemaRef ds:uri="33812d21-cc6d-40d3-8190-1784895c4f8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991F692-3C53-4CCC-ABAB-DE325E273E84}">
  <ds:schemaRefs>
    <ds:schemaRef ds:uri="http://schemas.microsoft.com/office/2006/metadata/properties"/>
    <ds:schemaRef ds:uri="http://schemas.microsoft.com/sharepoint/v3"/>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www.w3.org/XML/1998/namespace"/>
    <ds:schemaRef ds:uri="http://purl.org/dc/dcmitype/"/>
    <ds:schemaRef ds:uri="d0df2f8a-2bd1-4a75-833f-ab046cdad13d"/>
    <ds:schemaRef ds:uri="3d7cd9bf-014c-4164-aa31-ccc0b16984c2"/>
    <ds:schemaRef ds:uri="83868113-c0a5-43de-a876-5fe4e9e92519"/>
    <ds:schemaRef ds:uri="33812d21-cc6d-40d3-8190-1784895c4f86"/>
  </ds:schemaRefs>
</ds:datastoreItem>
</file>

<file path=customXml/itemProps3.xml><?xml version="1.0" encoding="utf-8"?>
<ds:datastoreItem xmlns:ds="http://schemas.openxmlformats.org/officeDocument/2006/customXml" ds:itemID="{558FABFF-2334-4719-9D84-3E10528D1EE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ERDC PowerPoint Template - CUI</Template>
  <TotalTime>378</TotalTime>
  <Words>1974</Words>
  <Application>Microsoft Macintosh PowerPoint</Application>
  <PresentationFormat>Widescreen</PresentationFormat>
  <Paragraphs>234</Paragraphs>
  <Slides>20</Slides>
  <Notes>4</Notes>
  <HiddenSlides>0</HiddenSlides>
  <MMClips>4</MMClips>
  <ScaleCrop>false</ScaleCrop>
  <HeadingPairs>
    <vt:vector size="6" baseType="variant">
      <vt:variant>
        <vt:lpstr>Fonts Used</vt:lpstr>
      </vt:variant>
      <vt:variant>
        <vt:i4>5</vt:i4>
      </vt:variant>
      <vt:variant>
        <vt:lpstr>Theme</vt:lpstr>
      </vt:variant>
      <vt:variant>
        <vt:i4>5</vt:i4>
      </vt:variant>
      <vt:variant>
        <vt:lpstr>Slide Titles</vt:lpstr>
      </vt:variant>
      <vt:variant>
        <vt:i4>20</vt:i4>
      </vt:variant>
    </vt:vector>
  </HeadingPairs>
  <TitlesOfParts>
    <vt:vector size="30" baseType="lpstr">
      <vt:lpstr>-apple-system</vt:lpstr>
      <vt:lpstr>Arial</vt:lpstr>
      <vt:lpstr>Calibri</vt:lpstr>
      <vt:lpstr>Courier New</vt:lpstr>
      <vt:lpstr>Wingdings</vt:lpstr>
      <vt:lpstr>Title Slide Templates</vt:lpstr>
      <vt:lpstr>UNCL // FOUO Content</vt:lpstr>
      <vt:lpstr>UNCLASSIFIED Content</vt:lpstr>
      <vt:lpstr>Custom Classification Content</vt:lpstr>
      <vt:lpstr>Standard White Theme</vt:lpstr>
      <vt:lpstr>Introduction to Modeling</vt:lpstr>
      <vt:lpstr>Systems Modeling: Guiding Principles</vt:lpstr>
      <vt:lpstr>The Tea Leaf Paradox</vt:lpstr>
      <vt:lpstr>The Tea Leaf Paradox</vt:lpstr>
      <vt:lpstr>The Tea Leaf Paradox</vt:lpstr>
      <vt:lpstr>The Tea Leaf Paradox</vt:lpstr>
      <vt:lpstr>Modeling Definitions</vt:lpstr>
      <vt:lpstr>Modeling Definitions</vt:lpstr>
      <vt:lpstr>Computer Models &amp; Programming</vt:lpstr>
      <vt:lpstr>Water Quality Modeling</vt:lpstr>
      <vt:lpstr>Benefits of Water Quality Modeling</vt:lpstr>
      <vt:lpstr>Reservoir Processes and Zones</vt:lpstr>
      <vt:lpstr>Model Dimensions, River-Reservoir System</vt:lpstr>
      <vt:lpstr>Model Dimensions: River-Floodplain System</vt:lpstr>
      <vt:lpstr>Introduction to CE-QUAL-W2</vt:lpstr>
      <vt:lpstr>CE-QUAL-W2 Applications</vt:lpstr>
      <vt:lpstr>CE-QUAL-W2 Capabilities</vt:lpstr>
      <vt:lpstr>CE-QUAL-W2 Capabilities, Continued</vt:lpstr>
      <vt:lpstr>Acknowledgements</vt:lpstr>
      <vt:lpstr>Questions?</vt:lpstr>
    </vt:vector>
  </TitlesOfParts>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CE-QUAL-W2 workshop Bathymetry</dc:title>
  <dc:creator>Melendez, Lauren L CIV USARMY CEERD-EL (USA)</dc:creator>
  <cp:lastModifiedBy>Todd Steissberg</cp:lastModifiedBy>
  <cp:revision>424</cp:revision>
  <cp:lastPrinted>2018-03-14T15:02:38Z</cp:lastPrinted>
  <dcterms:created xsi:type="dcterms:W3CDTF">2022-08-04T21:02:01Z</dcterms:created>
  <dcterms:modified xsi:type="dcterms:W3CDTF">2025-09-15T07:05:39Z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0x01010031AF2FAC55F63A40BD9EED0C36836299</vt:lpwstr>
  </property>
  <property fmtid="{D5CDD505-2E9C-101B-9397-08002B2CF9AE}" pid="3" name="MediaServiceImageTags">
    <vt:lpwstr/>
  </property>
</Properties>
</file>