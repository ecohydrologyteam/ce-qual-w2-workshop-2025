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3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4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media/image7.jpg" ContentType="image/jpg"/>
  <Override PartName="/ppt/media/image8.jpg" ContentType="image/jpg"/>
  <Override PartName="/ppt/media/image9.jpg" ContentType="image/jpg"/>
  <Override PartName="/ppt/media/image29.jpg" ContentType="image/jpg"/>
  <Override PartName="/ppt/media/image33.jpg" ContentType="image/jp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4"/>
    <p:sldMasterId id="2147483671" r:id="rId5"/>
    <p:sldMasterId id="2147483677" r:id="rId6"/>
    <p:sldMasterId id="2147483683" r:id="rId7"/>
    <p:sldMasterId id="2147483691" r:id="rId8"/>
  </p:sldMasterIdLst>
  <p:sldIdLst>
    <p:sldId id="256" r:id="rId9"/>
    <p:sldId id="257" r:id="rId10"/>
    <p:sldId id="258" r:id="rId11"/>
    <p:sldId id="275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</p:sldIdLst>
  <p:sldSz cx="12192000" cy="6858000"/>
  <p:notesSz cx="12192000" cy="6858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51"/>
    <p:restoredTop sz="94658"/>
  </p:normalViewPr>
  <p:slideViewPr>
    <p:cSldViewPr>
      <p:cViewPr varScale="1">
        <p:scale>
          <a:sx n="120" d="100"/>
          <a:sy n="120" d="100"/>
        </p:scale>
        <p:origin x="488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presProps" Target="pres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Backgro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lang="en-US" spc="-5" smtClean="0"/>
              <a:t>‹#›</a:t>
            </a:fld>
            <a:endParaRPr lang="en-US" spc="-5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2755"/>
              </a:lnSpc>
            </a:pPr>
            <a:r>
              <a:rPr lang="en-US"/>
              <a:t>Water</a:t>
            </a:r>
            <a:r>
              <a:rPr lang="en-US" spc="-100"/>
              <a:t> </a:t>
            </a:r>
            <a:r>
              <a:rPr lang="en-US" spc="-10"/>
              <a:t>Quality</a:t>
            </a:r>
            <a:endParaRPr lang="en-US" spc="-10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106998"/>
            <a:ext cx="12191999" cy="403225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buFontTx/>
              <a:buNone/>
              <a:defRPr sz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ENTER CLASSIFICATION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455410"/>
            <a:ext cx="12192000" cy="29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lang="en-US" sz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 algn="ctr">
              <a:buFontTx/>
            </a:pPr>
            <a:r>
              <a:rPr lang="en-US" dirty="0"/>
              <a:t>CLICK TO ENTER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3386571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F3C-CFEC-2FD7-F9F7-38425E5D9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19CB-EE4F-A351-321D-9548229B6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B8013-6DB5-4FC7-934F-82C2E8D31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670"/>
              </a:lnSpc>
            </a:pPr>
            <a:r>
              <a:rPr lang="en-US"/>
              <a:t>Engineer</a:t>
            </a:r>
            <a:r>
              <a:rPr lang="en-US" spc="-165"/>
              <a:t> </a:t>
            </a:r>
            <a:r>
              <a:rPr lang="en-US"/>
              <a:t>Research</a:t>
            </a:r>
            <a:r>
              <a:rPr lang="en-US" spc="-185"/>
              <a:t> </a:t>
            </a:r>
            <a:r>
              <a:rPr lang="en-US"/>
              <a:t>and</a:t>
            </a:r>
            <a:r>
              <a:rPr lang="en-US" spc="75"/>
              <a:t> </a:t>
            </a:r>
            <a:r>
              <a:rPr lang="en-US"/>
              <a:t>Development</a:t>
            </a:r>
            <a:r>
              <a:rPr lang="en-US" spc="-155"/>
              <a:t> </a:t>
            </a:r>
            <a:r>
              <a:rPr lang="en-US" spc="-10"/>
              <a:t>Center</a:t>
            </a:r>
          </a:p>
          <a:p>
            <a:pPr marL="297180">
              <a:lnSpc>
                <a:spcPct val="100000"/>
              </a:lnSpc>
              <a:spcBef>
                <a:spcPts val="735"/>
              </a:spcBef>
            </a:pPr>
            <a:r>
              <a:rPr lang="en-US" sz="950" b="1" spc="-10">
                <a:solidFill>
                  <a:srgbClr val="757575"/>
                </a:solidFill>
                <a:latin typeface="Arial"/>
                <a:cs typeface="Arial"/>
              </a:rPr>
              <a:t>//CUI//</a:t>
            </a:r>
            <a:endParaRPr lang="en-US" sz="95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CD9E4-0999-A20E-109B-CEE73D47B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2755"/>
              </a:lnSpc>
            </a:pPr>
            <a:r>
              <a:rPr lang="en-US"/>
              <a:t>Water</a:t>
            </a:r>
            <a:r>
              <a:rPr lang="en-US" spc="-100"/>
              <a:t> </a:t>
            </a:r>
            <a:r>
              <a:rPr lang="en-US" spc="-10"/>
              <a:t>Quality</a:t>
            </a:r>
            <a:endParaRPr lang="en-US" spc="-1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DA9713-BDA6-635C-1862-6C7B17A42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lang="en-US" spc="-5" smtClean="0"/>
              <a:t>‹#›</a:t>
            </a:fld>
            <a:endParaRPr lang="en-US" spc="-5" dirty="0"/>
          </a:p>
        </p:txBody>
      </p:sp>
    </p:spTree>
    <p:extLst>
      <p:ext uri="{BB962C8B-B14F-4D97-AF65-F5344CB8AC3E}">
        <p14:creationId xmlns:p14="http://schemas.microsoft.com/office/powerpoint/2010/main" val="26678506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2755"/>
              </a:lnSpc>
            </a:pPr>
            <a:r>
              <a:rPr dirty="0"/>
              <a:t>Water</a:t>
            </a:r>
            <a:r>
              <a:rPr spc="-100" dirty="0"/>
              <a:t> </a:t>
            </a:r>
            <a:r>
              <a:rPr spc="-10" dirty="0"/>
              <a:t>Quality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670"/>
              </a:lnSpc>
            </a:pPr>
            <a:r>
              <a:rPr dirty="0"/>
              <a:t>Engineer</a:t>
            </a:r>
            <a:r>
              <a:rPr spc="-165" dirty="0"/>
              <a:t> </a:t>
            </a:r>
            <a:r>
              <a:rPr dirty="0"/>
              <a:t>Research</a:t>
            </a:r>
            <a:r>
              <a:rPr spc="-185" dirty="0"/>
              <a:t> </a:t>
            </a:r>
            <a:r>
              <a:rPr dirty="0"/>
              <a:t>and</a:t>
            </a:r>
            <a:r>
              <a:rPr spc="75" dirty="0"/>
              <a:t> </a:t>
            </a:r>
            <a:r>
              <a:rPr dirty="0"/>
              <a:t>Development</a:t>
            </a:r>
            <a:r>
              <a:rPr spc="-155" dirty="0"/>
              <a:t> </a:t>
            </a:r>
            <a:r>
              <a:rPr spc="-10" dirty="0"/>
              <a:t>Center</a:t>
            </a:r>
          </a:p>
          <a:p>
            <a:pPr marL="297180">
              <a:lnSpc>
                <a:spcPct val="100000"/>
              </a:lnSpc>
              <a:spcBef>
                <a:spcPts val="735"/>
              </a:spcBef>
            </a:pPr>
            <a:r>
              <a:rPr sz="950" b="1" spc="-10" dirty="0">
                <a:solidFill>
                  <a:srgbClr val="757575"/>
                </a:solidFill>
                <a:latin typeface="Arial"/>
                <a:cs typeface="Arial"/>
              </a:rPr>
              <a:t>//CUI//</a:t>
            </a:r>
            <a:endParaRPr sz="950">
              <a:latin typeface="Arial"/>
              <a:cs typeface="Arial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" dirty="0"/>
              <a:t>‹#›</a:t>
            </a:fld>
            <a:endParaRPr spc="-5" dirty="0"/>
          </a:p>
        </p:txBody>
      </p:sp>
    </p:spTree>
    <p:extLst>
      <p:ext uri="{BB962C8B-B14F-4D97-AF65-F5344CB8AC3E}">
        <p14:creationId xmlns:p14="http://schemas.microsoft.com/office/powerpoint/2010/main" val="308283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40404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2755"/>
              </a:lnSpc>
            </a:pPr>
            <a:r>
              <a:rPr dirty="0"/>
              <a:t>Water</a:t>
            </a:r>
            <a:r>
              <a:rPr spc="-100" dirty="0"/>
              <a:t> </a:t>
            </a:r>
            <a:r>
              <a:rPr spc="-10" dirty="0"/>
              <a:t>Quality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670"/>
              </a:lnSpc>
            </a:pPr>
            <a:r>
              <a:rPr dirty="0"/>
              <a:t>Engineer</a:t>
            </a:r>
            <a:r>
              <a:rPr spc="-165" dirty="0"/>
              <a:t> </a:t>
            </a:r>
            <a:r>
              <a:rPr dirty="0"/>
              <a:t>Research</a:t>
            </a:r>
            <a:r>
              <a:rPr spc="-185" dirty="0"/>
              <a:t> </a:t>
            </a:r>
            <a:r>
              <a:rPr dirty="0"/>
              <a:t>and</a:t>
            </a:r>
            <a:r>
              <a:rPr spc="75" dirty="0"/>
              <a:t> </a:t>
            </a:r>
            <a:r>
              <a:rPr dirty="0"/>
              <a:t>Development</a:t>
            </a:r>
            <a:r>
              <a:rPr spc="-155" dirty="0"/>
              <a:t> </a:t>
            </a:r>
            <a:r>
              <a:rPr spc="-10" dirty="0"/>
              <a:t>Center</a:t>
            </a:r>
          </a:p>
          <a:p>
            <a:pPr marL="297180">
              <a:lnSpc>
                <a:spcPct val="100000"/>
              </a:lnSpc>
              <a:spcBef>
                <a:spcPts val="735"/>
              </a:spcBef>
            </a:pPr>
            <a:r>
              <a:rPr sz="950" b="1" spc="-10" dirty="0">
                <a:solidFill>
                  <a:srgbClr val="757575"/>
                </a:solidFill>
                <a:latin typeface="Arial"/>
                <a:cs typeface="Arial"/>
              </a:rPr>
              <a:t>//CUI//</a:t>
            </a:r>
            <a:endParaRPr sz="950">
              <a:latin typeface="Arial"/>
              <a:cs typeface="Arial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" dirty="0"/>
              <a:t>‹#›</a:t>
            </a:fld>
            <a:endParaRPr spc="-5" dirty="0"/>
          </a:p>
        </p:txBody>
      </p:sp>
    </p:spTree>
    <p:extLst>
      <p:ext uri="{BB962C8B-B14F-4D97-AF65-F5344CB8AC3E}">
        <p14:creationId xmlns:p14="http://schemas.microsoft.com/office/powerpoint/2010/main" val="188945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795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95367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808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459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114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72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31143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4867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7157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6806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F3C-CFEC-2FD7-F9F7-38425E5D9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19CB-EE4F-A351-321D-9548229B6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B8013-6DB5-4FC7-934F-82C2E8D31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670"/>
              </a:lnSpc>
            </a:pPr>
            <a:r>
              <a:rPr lang="en-US"/>
              <a:t>Engineer</a:t>
            </a:r>
            <a:r>
              <a:rPr lang="en-US" spc="-165"/>
              <a:t> </a:t>
            </a:r>
            <a:r>
              <a:rPr lang="en-US"/>
              <a:t>Research</a:t>
            </a:r>
            <a:r>
              <a:rPr lang="en-US" spc="-185"/>
              <a:t> </a:t>
            </a:r>
            <a:r>
              <a:rPr lang="en-US"/>
              <a:t>and</a:t>
            </a:r>
            <a:r>
              <a:rPr lang="en-US" spc="75"/>
              <a:t> </a:t>
            </a:r>
            <a:r>
              <a:rPr lang="en-US"/>
              <a:t>Development</a:t>
            </a:r>
            <a:r>
              <a:rPr lang="en-US" spc="-155"/>
              <a:t> </a:t>
            </a:r>
            <a:r>
              <a:rPr lang="en-US" spc="-10"/>
              <a:t>Center</a:t>
            </a:r>
          </a:p>
          <a:p>
            <a:pPr marL="297180">
              <a:lnSpc>
                <a:spcPct val="100000"/>
              </a:lnSpc>
              <a:spcBef>
                <a:spcPts val="735"/>
              </a:spcBef>
            </a:pPr>
            <a:r>
              <a:rPr lang="en-US" sz="950" b="1" spc="-10">
                <a:solidFill>
                  <a:srgbClr val="757575"/>
                </a:solidFill>
                <a:latin typeface="Arial"/>
                <a:cs typeface="Arial"/>
              </a:rPr>
              <a:t>//CUI//</a:t>
            </a:r>
            <a:endParaRPr lang="en-US" sz="95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CD9E4-0999-A20E-109B-CEE73D47B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2755"/>
              </a:lnSpc>
            </a:pPr>
            <a:r>
              <a:rPr lang="en-US"/>
              <a:t>Water</a:t>
            </a:r>
            <a:r>
              <a:rPr lang="en-US" spc="-100"/>
              <a:t> </a:t>
            </a:r>
            <a:r>
              <a:rPr lang="en-US" spc="-10"/>
              <a:t>Quality</a:t>
            </a:r>
            <a:endParaRPr lang="en-US" spc="-1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DA9713-BDA6-635C-1862-6C7B17A42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lang="en-US" spc="-5" smtClean="0"/>
              <a:t>‹#›</a:t>
            </a:fld>
            <a:endParaRPr lang="en-US" spc="-5" dirty="0"/>
          </a:p>
        </p:txBody>
      </p:sp>
    </p:spTree>
    <p:extLst>
      <p:ext uri="{BB962C8B-B14F-4D97-AF65-F5344CB8AC3E}">
        <p14:creationId xmlns:p14="http://schemas.microsoft.com/office/powerpoint/2010/main" val="39544490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40404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2755"/>
              </a:lnSpc>
            </a:pPr>
            <a:r>
              <a:rPr dirty="0"/>
              <a:t>Water</a:t>
            </a:r>
            <a:r>
              <a:rPr spc="-100" dirty="0"/>
              <a:t> </a:t>
            </a:r>
            <a:r>
              <a:rPr spc="-10" dirty="0"/>
              <a:t>Quality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670"/>
              </a:lnSpc>
            </a:pPr>
            <a:r>
              <a:rPr dirty="0"/>
              <a:t>Engineer</a:t>
            </a:r>
            <a:r>
              <a:rPr spc="-165" dirty="0"/>
              <a:t> </a:t>
            </a:r>
            <a:r>
              <a:rPr dirty="0"/>
              <a:t>Research</a:t>
            </a:r>
            <a:r>
              <a:rPr spc="-185" dirty="0"/>
              <a:t> </a:t>
            </a:r>
            <a:r>
              <a:rPr dirty="0"/>
              <a:t>and</a:t>
            </a:r>
            <a:r>
              <a:rPr spc="75" dirty="0"/>
              <a:t> </a:t>
            </a:r>
            <a:r>
              <a:rPr dirty="0"/>
              <a:t>Development</a:t>
            </a:r>
            <a:r>
              <a:rPr spc="-155" dirty="0"/>
              <a:t> </a:t>
            </a:r>
            <a:r>
              <a:rPr spc="-10" dirty="0"/>
              <a:t>Center</a:t>
            </a:r>
          </a:p>
          <a:p>
            <a:pPr marL="297180">
              <a:lnSpc>
                <a:spcPct val="100000"/>
              </a:lnSpc>
              <a:spcBef>
                <a:spcPts val="735"/>
              </a:spcBef>
            </a:pPr>
            <a:r>
              <a:rPr sz="950" b="1" spc="-10" dirty="0">
                <a:solidFill>
                  <a:srgbClr val="757575"/>
                </a:solidFill>
                <a:latin typeface="Arial"/>
                <a:cs typeface="Arial"/>
              </a:rPr>
              <a:t>//CUI//</a:t>
            </a:r>
            <a:endParaRPr sz="950">
              <a:latin typeface="Arial"/>
              <a:cs typeface="Arial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" dirty="0"/>
              <a:t>‹#›</a:t>
            </a:fld>
            <a:endParaRPr spc="-5" dirty="0"/>
          </a:p>
        </p:txBody>
      </p:sp>
    </p:spTree>
    <p:extLst>
      <p:ext uri="{BB962C8B-B14F-4D97-AF65-F5344CB8AC3E}">
        <p14:creationId xmlns:p14="http://schemas.microsoft.com/office/powerpoint/2010/main" val="17418371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7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688852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873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7141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770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27332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987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0269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007495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7862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8457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80090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3773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9294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4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image" Target="../media/image6.png"/><Relationship Id="rId4" Type="http://schemas.openxmlformats.org/officeDocument/2006/relationships/slideLayout" Target="../slideLayouts/slideLayout13.xml"/><Relationship Id="rId9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10" Type="http://schemas.openxmlformats.org/officeDocument/2006/relationships/image" Target="../media/image6.png"/><Relationship Id="rId4" Type="http://schemas.openxmlformats.org/officeDocument/2006/relationships/slideLayout" Target="../slideLayouts/slideLayout20.xml"/><Relationship Id="rId9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C930DDFD-C2CD-854E-EAA8-FC5C400F36B6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7" name="Picture 6" descr="A body of water&#10;&#10;Description automatically generated">
            <a:extLst>
              <a:ext uri="{FF2B5EF4-FFF2-40B4-BE49-F238E27FC236}">
                <a16:creationId xmlns:a16="http://schemas.microsoft.com/office/drawing/2014/main" id="{8D345744-4BB6-A552-A696-3E29F74BAC85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6078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" name="Picture 4" descr="A picture containing tree, water, outdoor, nature&#10;&#10;Description automatically generated">
            <a:extLst>
              <a:ext uri="{FF2B5EF4-FFF2-40B4-BE49-F238E27FC236}">
                <a16:creationId xmlns:a16="http://schemas.microsoft.com/office/drawing/2014/main" id="{CC7E3D49-3990-21E2-46AF-4FE1C76439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49290" y="516571"/>
            <a:ext cx="4583494" cy="255808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Footer Placeholder 19"/>
          <p:cNvSpPr>
            <a:spLocks noGrp="1"/>
          </p:cNvSpPr>
          <p:nvPr>
            <p:ph type="ftr" sz="quarter" idx="3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/>
                </a:solidFill>
              </a:defRPr>
            </a:lvl1pPr>
          </a:lstStyle>
          <a:p>
            <a:pPr marL="12700">
              <a:lnSpc>
                <a:spcPts val="2755"/>
              </a:lnSpc>
            </a:pPr>
            <a:r>
              <a:rPr lang="en-US"/>
              <a:t>Water</a:t>
            </a:r>
            <a:r>
              <a:rPr lang="en-US" spc="-100"/>
              <a:t> </a:t>
            </a:r>
            <a:r>
              <a:rPr lang="en-US" spc="-10"/>
              <a:t>Quality</a:t>
            </a:r>
            <a:endParaRPr lang="en-US" spc="-10" dirty="0"/>
          </a:p>
        </p:txBody>
      </p:sp>
      <p:sp>
        <p:nvSpPr>
          <p:cNvPr id="41" name="Title Placeholder 17"/>
          <p:cNvSpPr>
            <a:spLocks noGrp="1"/>
          </p:cNvSpPr>
          <p:nvPr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lang="en-US" spc="-5" smtClean="0"/>
              <a:t>‹#›</a:t>
            </a:fld>
            <a:endParaRPr lang="en-US" spc="-5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665B91-8567-DD4A-BD2E-E719F20E35F0}"/>
              </a:ext>
            </a:extLst>
          </p:cNvPr>
          <p:cNvCxnSpPr/>
          <p:nvPr/>
        </p:nvCxnSpPr>
        <p:spPr>
          <a:xfrm flipH="1">
            <a:off x="1476587" y="6373877"/>
            <a:ext cx="102074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A2EE2D-7BB5-4F44-82C4-5CF4EE388EFF}"/>
              </a:ext>
            </a:extLst>
          </p:cNvPr>
          <p:cNvSpPr txBox="1"/>
          <p:nvPr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prstClr val="black"/>
                </a:solidFill>
              </a:rPr>
              <a:t>DISCOVER  |  DEVELOP  |  DELIVER</a:t>
            </a:r>
          </a:p>
        </p:txBody>
      </p:sp>
    </p:spTree>
    <p:extLst>
      <p:ext uri="{BB962C8B-B14F-4D97-AF65-F5344CB8AC3E}">
        <p14:creationId xmlns:p14="http://schemas.microsoft.com/office/powerpoint/2010/main" val="3888855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b="1" kern="1200" cap="all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>
          <p15:clr>
            <a:srgbClr val="5ACBF0"/>
          </p15:clr>
        </p15:guide>
        <p15:guide id="2" pos="6144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CAF9F99-F54C-A57F-DAA4-B479617EFA28}"/>
              </a:ext>
            </a:extLst>
          </p:cNvPr>
          <p:cNvSpPr/>
          <p:nvPr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1046" y="6580037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155473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3588454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99" r:id="rId6"/>
    <p:sldLayoutId id="2147483701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0E67D63-A09B-E760-5A10-8242BCEA7941}"/>
              </a:ext>
            </a:extLst>
          </p:cNvPr>
          <p:cNvSpPr/>
          <p:nvPr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2808" y="6587122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4092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FCF4A6-EBC9-C2AC-2815-3FFFD71A1CF8}"/>
              </a:ext>
            </a:extLst>
          </p:cNvPr>
          <p:cNvSpPr/>
          <p:nvPr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17522" y="-1985"/>
            <a:ext cx="969433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50" b="1">
                <a:solidFill>
                  <a:srgbClr val="898989"/>
                </a:solidFill>
                <a:cs typeface="Arial" pitchFamily="34" charset="0"/>
              </a:defRPr>
            </a:lvl1pPr>
          </a:lstStyle>
          <a:p>
            <a:fld id="{139BD942-CC14-44A4-87FB-46239297AF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prstClr val="black"/>
                </a:solidFill>
              </a:rPr>
              <a:t>US Army Corps of Engineers  </a:t>
            </a:r>
            <a:r>
              <a:rPr lang="en-US" sz="1400" dirty="0">
                <a:solidFill>
                  <a:prstClr val="black"/>
                </a:solidFill>
                <a:sym typeface="Symbol" panose="05050102010706020507" pitchFamily="18" charset="2"/>
              </a:rPr>
              <a:t></a:t>
            </a:r>
            <a:r>
              <a:rPr lang="en-US" sz="1400" dirty="0">
                <a:solidFill>
                  <a:prstClr val="black"/>
                </a:solidFill>
              </a:rPr>
              <a:t>   Engineer Research and Development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1620891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g"/><Relationship Id="rId7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jpg"/><Relationship Id="rId9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53275" y="3086100"/>
              <a:ext cx="2143125" cy="24384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7143750" y="3076575"/>
              <a:ext cx="2162175" cy="2457450"/>
            </a:xfrm>
            <a:custGeom>
              <a:avLst/>
              <a:gdLst/>
              <a:ahLst/>
              <a:cxnLst/>
              <a:rect l="l" t="t" r="r" b="b"/>
              <a:pathLst>
                <a:path w="2162175" h="2457450">
                  <a:moveTo>
                    <a:pt x="0" y="2457450"/>
                  </a:moveTo>
                  <a:lnTo>
                    <a:pt x="2162175" y="2457450"/>
                  </a:lnTo>
                  <a:lnTo>
                    <a:pt x="2162175" y="0"/>
                  </a:lnTo>
                  <a:lnTo>
                    <a:pt x="0" y="0"/>
                  </a:lnTo>
                  <a:lnTo>
                    <a:pt x="0" y="2457450"/>
                  </a:lnTo>
                  <a:close/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296400" y="3086100"/>
              <a:ext cx="2438400" cy="243840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9286875" y="3076575"/>
              <a:ext cx="2457450" cy="2457450"/>
            </a:xfrm>
            <a:custGeom>
              <a:avLst/>
              <a:gdLst/>
              <a:ahLst/>
              <a:cxnLst/>
              <a:rect l="l" t="t" r="r" b="b"/>
              <a:pathLst>
                <a:path w="2457450" h="2457450">
                  <a:moveTo>
                    <a:pt x="0" y="2457450"/>
                  </a:moveTo>
                  <a:lnTo>
                    <a:pt x="2457450" y="2457450"/>
                  </a:lnTo>
                  <a:lnTo>
                    <a:pt x="2457450" y="0"/>
                  </a:lnTo>
                  <a:lnTo>
                    <a:pt x="0" y="0"/>
                  </a:lnTo>
                  <a:lnTo>
                    <a:pt x="0" y="2457450"/>
                  </a:lnTo>
                  <a:close/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153275" y="514350"/>
              <a:ext cx="4581525" cy="256222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143750" y="504825"/>
              <a:ext cx="4600575" cy="2581275"/>
            </a:xfrm>
            <a:custGeom>
              <a:avLst/>
              <a:gdLst/>
              <a:ahLst/>
              <a:cxnLst/>
              <a:rect l="l" t="t" r="r" b="b"/>
              <a:pathLst>
                <a:path w="4600575" h="2581275">
                  <a:moveTo>
                    <a:pt x="0" y="2581275"/>
                  </a:moveTo>
                  <a:lnTo>
                    <a:pt x="4600575" y="2581275"/>
                  </a:lnTo>
                  <a:lnTo>
                    <a:pt x="4600575" y="0"/>
                  </a:lnTo>
                  <a:lnTo>
                    <a:pt x="0" y="0"/>
                  </a:lnTo>
                  <a:lnTo>
                    <a:pt x="0" y="2581275"/>
                  </a:lnTo>
                  <a:close/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476375" y="6372225"/>
              <a:ext cx="10207625" cy="0"/>
            </a:xfrm>
            <a:custGeom>
              <a:avLst/>
              <a:gdLst/>
              <a:ahLst/>
              <a:cxnLst/>
              <a:rect l="l" t="t" r="r" b="b"/>
              <a:pathLst>
                <a:path w="10207625">
                  <a:moveTo>
                    <a:pt x="10207371" y="0"/>
                  </a:moveTo>
                  <a:lnTo>
                    <a:pt x="0" y="0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9559035" y="6483984"/>
            <a:ext cx="2161540" cy="1746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i="1" dirty="0">
                <a:latin typeface="Arial"/>
                <a:cs typeface="Arial"/>
              </a:rPr>
              <a:t>DISCOVER</a:t>
            </a:r>
            <a:r>
              <a:rPr sz="950" i="1" spc="425" dirty="0">
                <a:latin typeface="Arial"/>
                <a:cs typeface="Arial"/>
              </a:rPr>
              <a:t> </a:t>
            </a:r>
            <a:r>
              <a:rPr sz="950" i="1" dirty="0">
                <a:latin typeface="Arial"/>
                <a:cs typeface="Arial"/>
              </a:rPr>
              <a:t>|</a:t>
            </a:r>
            <a:r>
              <a:rPr sz="950" i="1" spc="345" dirty="0">
                <a:latin typeface="Arial"/>
                <a:cs typeface="Arial"/>
              </a:rPr>
              <a:t> </a:t>
            </a:r>
            <a:r>
              <a:rPr sz="950" i="1" dirty="0">
                <a:latin typeface="Arial"/>
                <a:cs typeface="Arial"/>
              </a:rPr>
              <a:t>DEVELOP</a:t>
            </a:r>
            <a:r>
              <a:rPr sz="950" i="1" spc="400" dirty="0">
                <a:latin typeface="Arial"/>
                <a:cs typeface="Arial"/>
              </a:rPr>
              <a:t> </a:t>
            </a:r>
            <a:r>
              <a:rPr sz="950" i="1" dirty="0">
                <a:latin typeface="Arial"/>
                <a:cs typeface="Arial"/>
              </a:rPr>
              <a:t>|</a:t>
            </a:r>
            <a:r>
              <a:rPr sz="950" i="1" spc="265" dirty="0">
                <a:latin typeface="Arial"/>
                <a:cs typeface="Arial"/>
              </a:rPr>
              <a:t> </a:t>
            </a:r>
            <a:r>
              <a:rPr sz="950" i="1" spc="-10" dirty="0">
                <a:latin typeface="Arial"/>
                <a:cs typeface="Arial"/>
              </a:rPr>
              <a:t>DELIVER</a:t>
            </a:r>
            <a:endParaRPr sz="95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xfrm>
            <a:off x="609603" y="1827574"/>
            <a:ext cx="4240530" cy="400110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/>
          <a:p>
            <a:pPr defTabSz="685800"/>
            <a:r>
              <a:rPr sz="2000" cap="all" dirty="0">
                <a:solidFill>
                  <a:schemeClr val="bg1"/>
                </a:solidFill>
                <a:ea typeface="+mj-ea"/>
              </a:rPr>
              <a:t>WATER QUALITY MODELING</a:t>
            </a:r>
          </a:p>
        </p:txBody>
      </p:sp>
      <p:pic>
        <p:nvPicPr>
          <p:cNvPr id="14" name="object 1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925300" y="6572250"/>
            <a:ext cx="242887" cy="280987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12011914" y="6610032"/>
            <a:ext cx="8382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dirty="0">
                <a:solidFill>
                  <a:srgbClr val="585858"/>
                </a:solidFill>
                <a:latin typeface="Calibri"/>
                <a:cs typeface="Calibri"/>
              </a:rPr>
              <a:t>1</a:t>
            </a:r>
            <a:endParaRPr sz="900">
              <a:latin typeface="Calibri"/>
              <a:cs typeface="Calibri"/>
            </a:endParaRPr>
          </a:p>
        </p:txBody>
      </p:sp>
      <p:pic>
        <p:nvPicPr>
          <p:cNvPr id="16" name="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410200" y="66611"/>
            <a:ext cx="1376299" cy="376237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5512815" y="120967"/>
            <a:ext cx="116713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latin typeface="Arial"/>
                <a:cs typeface="Arial"/>
              </a:rPr>
              <a:t>UNCLASSIFIED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8" name="object 1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5410200" y="6419850"/>
            <a:ext cx="1376299" cy="366712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5512815" y="6478270"/>
            <a:ext cx="116713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latin typeface="Arial"/>
                <a:cs typeface="Arial"/>
              </a:rPr>
              <a:t>UNCLASSIFIED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1447800" y="5604700"/>
            <a:ext cx="7972425" cy="1253490"/>
            <a:chOff x="1447800" y="5604700"/>
            <a:chExt cx="7972425" cy="1253490"/>
          </a:xfrm>
        </p:grpSpPr>
        <p:pic>
          <p:nvPicPr>
            <p:cNvPr id="21" name="object 2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447800" y="5781675"/>
              <a:ext cx="981075" cy="962025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258175" y="5638800"/>
              <a:ext cx="1162050" cy="121920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325866" y="5604700"/>
              <a:ext cx="978407" cy="235965"/>
            </a:xfrm>
            <a:prstGeom prst="rect">
              <a:avLst/>
            </a:prstGeom>
          </p:spPr>
        </p:pic>
      </p:grp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C3B9452-6990-637D-FD8C-1F06025CE915}"/>
              </a:ext>
            </a:extLst>
          </p:cNvPr>
          <p:cNvSpPr txBox="1">
            <a:spLocks/>
          </p:cNvSpPr>
          <p:nvPr/>
        </p:nvSpPr>
        <p:spPr>
          <a:xfrm>
            <a:off x="609603" y="2403866"/>
            <a:ext cx="7652082" cy="2625334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defPPr>
              <a:defRPr lang="en-US"/>
            </a:defPPr>
            <a:lvl1pPr marL="0" indent="0" defTabSz="51435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None/>
              <a:defRPr sz="1800" b="1">
                <a:solidFill>
                  <a:schemeClr val="bg1"/>
                </a:solidFill>
                <a:ea typeface="+mn-ea"/>
                <a:cs typeface="Arial" panose="020B0604020202020204" pitchFamily="34" charset="0"/>
              </a:defRPr>
            </a:lvl1pPr>
            <a:lvl2pPr marL="385763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>
                <a:ea typeface="+mn-ea"/>
                <a:cs typeface="Arial" panose="020B0604020202020204" pitchFamily="34" charset="0"/>
              </a:defRPr>
            </a:lvl2pPr>
            <a:lvl3pPr marL="642938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>
                <a:ea typeface="+mn-ea"/>
                <a:cs typeface="Arial" panose="020B0604020202020204" pitchFamily="34" charset="0"/>
              </a:defRPr>
            </a:lvl3pPr>
            <a:lvl4pPr marL="900113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>
                <a:ea typeface="+mn-ea"/>
                <a:cs typeface="Arial" panose="020B0604020202020204" pitchFamily="34" charset="0"/>
              </a:defRPr>
            </a:lvl4pPr>
            <a:lvl5pPr marL="1157288" indent="-128588" defTabSz="51435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125">
                <a:ea typeface="+mn-ea"/>
                <a:cs typeface="Arial" panose="020B0604020202020204" pitchFamily="34" charset="0"/>
              </a:defRPr>
            </a:lvl5pPr>
            <a:lvl6pPr marL="1414463" indent="-128588" defTabSz="514350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>
                <a:latin typeface="+mn-lt"/>
                <a:ea typeface="+mn-ea"/>
              </a:defRPr>
            </a:lvl6pPr>
            <a:lvl7pPr marL="1671638" indent="-128588" defTabSz="514350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>
                <a:latin typeface="+mn-lt"/>
                <a:ea typeface="+mn-ea"/>
              </a:defRPr>
            </a:lvl7pPr>
            <a:lvl8pPr marL="1928813" indent="-128588" defTabSz="514350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>
                <a:latin typeface="+mn-lt"/>
                <a:ea typeface="+mn-ea"/>
              </a:defRPr>
            </a:lvl8pPr>
            <a:lvl9pPr marL="2185988" indent="-128588" defTabSz="514350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>
                <a:latin typeface="+mn-lt"/>
                <a:ea typeface="+mn-ea"/>
              </a:defRPr>
            </a:lvl9pPr>
          </a:lstStyle>
          <a:p>
            <a:r>
              <a:rPr lang="en-US" b="0" dirty="0"/>
              <a:t>Hailie Suk, PhD</a:t>
            </a:r>
          </a:p>
          <a:p>
            <a:r>
              <a:rPr lang="en-US" b="0"/>
              <a:t>Cold Regions Research and Engineering Laboratory (CRREL)</a:t>
            </a:r>
            <a:endParaRPr lang="en-US" b="0" dirty="0"/>
          </a:p>
          <a:p>
            <a:r>
              <a:rPr lang="en-US" b="0" dirty="0"/>
              <a:t>Engineer Research and Development Center (ERDC)</a:t>
            </a:r>
          </a:p>
          <a:p>
            <a:r>
              <a:rPr lang="en-US" b="0" dirty="0"/>
              <a:t>U.S. Army Corps of Engineers</a:t>
            </a:r>
          </a:p>
          <a:p>
            <a:endParaRPr lang="en-US" b="0" dirty="0"/>
          </a:p>
          <a:p>
            <a:r>
              <a:rPr lang="en-US" b="0" dirty="0"/>
              <a:t>CE-QUAL-W2 Water Quality Modeling Workshop</a:t>
            </a:r>
          </a:p>
          <a:p>
            <a:endParaRPr lang="en-US" b="0" dirty="0"/>
          </a:p>
          <a:p>
            <a:r>
              <a:rPr lang="en-US" b="0" dirty="0"/>
              <a:t>September 17-18,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622221"/>
          </a:xfrm>
          <a:prstGeom prst="rect">
            <a:avLst/>
          </a:prstGeom>
        </p:spPr>
        <p:txBody>
          <a:bodyPr vert="horz" wrap="square" lIns="0" tIns="128523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200" spc="-10" dirty="0">
                <a:solidFill>
                  <a:schemeClr val="tx1"/>
                </a:solidFill>
              </a:rPr>
              <a:t>Outline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" dirty="0"/>
              <a:t>2</a:t>
            </a:fld>
            <a:endParaRPr spc="-5" dirty="0"/>
          </a:p>
        </p:txBody>
      </p:sp>
      <p:sp>
        <p:nvSpPr>
          <p:cNvPr id="4" name="object 4"/>
          <p:cNvSpPr txBox="1"/>
          <p:nvPr/>
        </p:nvSpPr>
        <p:spPr>
          <a:xfrm>
            <a:off x="485457" y="1216596"/>
            <a:ext cx="4305300" cy="365741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27050" indent="-514984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AutoNum type="arabicPeriod"/>
              <a:tabLst>
                <a:tab pos="527050" algn="l"/>
                <a:tab pos="527685" algn="l"/>
              </a:tabLst>
            </a:pPr>
            <a:r>
              <a:rPr sz="2000" spc="-10" dirty="0">
                <a:latin typeface="Arial" panose="020B0604020202020204" pitchFamily="34" charset="0"/>
                <a:cs typeface="Arial" panose="020B0604020202020204" pitchFamily="34" charset="0"/>
              </a:rPr>
              <a:t>Concept/Background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27050" indent="-514984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AutoNum type="arabicPeriod"/>
              <a:tabLst>
                <a:tab pos="527050" algn="l"/>
                <a:tab pos="527685" algn="l"/>
              </a:tabLst>
            </a:pPr>
            <a:r>
              <a:rPr sz="2000" spc="-10" dirty="0">
                <a:latin typeface="Arial" panose="020B0604020202020204" pitchFamily="34" charset="0"/>
                <a:cs typeface="Arial" panose="020B0604020202020204" pitchFamily="34" charset="0"/>
              </a:rPr>
              <a:t>Schematic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27050" indent="-514984">
              <a:lnSpc>
                <a:spcPct val="100000"/>
              </a:lnSpc>
              <a:spcBef>
                <a:spcPts val="150"/>
              </a:spcBef>
              <a:buClr>
                <a:srgbClr val="000000"/>
              </a:buClr>
              <a:buAutoNum type="arabicPeriod"/>
              <a:tabLst>
                <a:tab pos="527050" algn="l"/>
                <a:tab pos="527685" algn="l"/>
              </a:tabLst>
            </a:pPr>
            <a:r>
              <a:rPr sz="2000" spc="-10" dirty="0">
                <a:latin typeface="Arial" panose="020B0604020202020204" pitchFamily="34" charset="0"/>
                <a:cs typeface="Arial" panose="020B0604020202020204" pitchFamily="34" charset="0"/>
              </a:rPr>
              <a:t>Assumptions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3275" lvl="1" indent="-514984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Font typeface="Arial"/>
              <a:buChar char="•"/>
              <a:tabLst>
                <a:tab pos="803275" algn="l"/>
                <a:tab pos="803910" algn="l"/>
              </a:tabLst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Mass</a:t>
            </a:r>
            <a:r>
              <a:rPr sz="20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10" dirty="0">
                <a:latin typeface="Arial" panose="020B0604020202020204" pitchFamily="34" charset="0"/>
                <a:cs typeface="Arial" panose="020B0604020202020204" pitchFamily="34" charset="0"/>
              </a:rPr>
              <a:t>Balance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3275" lvl="1" indent="-514984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Font typeface="Arial"/>
              <a:buChar char="•"/>
              <a:tabLst>
                <a:tab pos="803275" algn="l"/>
                <a:tab pos="803910" algn="l"/>
              </a:tabLst>
            </a:pPr>
            <a:r>
              <a:rPr sz="2000" spc="-10" dirty="0">
                <a:latin typeface="Arial" panose="020B0604020202020204" pitchFamily="34" charset="0"/>
                <a:cs typeface="Arial" panose="020B0604020202020204" pitchFamily="34" charset="0"/>
              </a:rPr>
              <a:t>Conservative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3275" lvl="1" indent="-514984">
              <a:lnSpc>
                <a:spcPct val="100000"/>
              </a:lnSpc>
              <a:spcBef>
                <a:spcPts val="155"/>
              </a:spcBef>
              <a:buClr>
                <a:srgbClr val="000000"/>
              </a:buClr>
              <a:buFont typeface="Arial"/>
              <a:buChar char="•"/>
              <a:tabLst>
                <a:tab pos="803275" algn="l"/>
                <a:tab pos="803910" algn="l"/>
              </a:tabLst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Complete</a:t>
            </a:r>
            <a:r>
              <a:rPr sz="2000" spc="-7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Process</a:t>
            </a:r>
            <a:r>
              <a:rPr sz="2000" spc="-7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10" dirty="0">
                <a:latin typeface="Arial" panose="020B0604020202020204" pitchFamily="34" charset="0"/>
                <a:cs typeface="Arial" panose="020B0604020202020204" pitchFamily="34" charset="0"/>
              </a:rPr>
              <a:t>Representation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27050" indent="-514984">
              <a:lnSpc>
                <a:spcPct val="100000"/>
              </a:lnSpc>
              <a:spcBef>
                <a:spcPts val="225"/>
              </a:spcBef>
              <a:buClr>
                <a:srgbClr val="000000"/>
              </a:buClr>
              <a:buAutoNum type="arabicPeriod"/>
              <a:tabLst>
                <a:tab pos="527050" algn="l"/>
                <a:tab pos="527685" algn="l"/>
              </a:tabLst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Water</a:t>
            </a:r>
            <a:r>
              <a:rPr sz="20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quality</a:t>
            </a:r>
            <a:r>
              <a:rPr sz="20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10" dirty="0">
                <a:latin typeface="Arial" panose="020B0604020202020204" pitchFamily="34" charset="0"/>
                <a:cs typeface="Arial" panose="020B0604020202020204" pitchFamily="34" charset="0"/>
              </a:rPr>
              <a:t>capabilities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31825" lvl="1" indent="-342900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Font typeface="Arial"/>
              <a:buChar char="•"/>
              <a:tabLst>
                <a:tab pos="631825" algn="l"/>
                <a:tab pos="632460" algn="l"/>
              </a:tabLst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r>
              <a:rPr sz="20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10" dirty="0"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31825" lvl="1" indent="-342900">
              <a:lnSpc>
                <a:spcPct val="100000"/>
              </a:lnSpc>
              <a:spcBef>
                <a:spcPts val="155"/>
              </a:spcBef>
              <a:buClr>
                <a:srgbClr val="000000"/>
              </a:buClr>
              <a:buFont typeface="Arial"/>
              <a:buChar char="•"/>
              <a:tabLst>
                <a:tab pos="631825" algn="l"/>
                <a:tab pos="632460" algn="l"/>
              </a:tabLst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Derived</a:t>
            </a:r>
            <a:r>
              <a:rPr sz="2000" spc="-8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10" dirty="0"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31825" lvl="1" indent="-342900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Font typeface="Arial"/>
              <a:buChar char="•"/>
              <a:tabLst>
                <a:tab pos="631825" algn="l"/>
                <a:tab pos="632460" algn="l"/>
              </a:tabLst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WQ</a:t>
            </a:r>
            <a:r>
              <a:rPr sz="20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spc="-10" dirty="0">
                <a:latin typeface="Arial" panose="020B0604020202020204" pitchFamily="34" charset="0"/>
                <a:cs typeface="Arial" panose="020B0604020202020204" pitchFamily="34" charset="0"/>
              </a:rPr>
              <a:t>processes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 descr="A body of water with land in the back&#10;&#10;Description automatically generated with medium confidence">
            <a:extLst>
              <a:ext uri="{FF2B5EF4-FFF2-40B4-BE49-F238E27FC236}">
                <a16:creationId xmlns:a16="http://schemas.microsoft.com/office/drawing/2014/main" id="{FFC92782-E5B6-67DD-4897-03C4A1E2319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662" y="1199011"/>
            <a:ext cx="6094667" cy="3971589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622221"/>
          </a:xfrm>
          <a:prstGeom prst="rect">
            <a:avLst/>
          </a:prstGeom>
        </p:spPr>
        <p:txBody>
          <a:bodyPr vert="horz" wrap="square" lIns="0" tIns="128523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200" dirty="0">
                <a:solidFill>
                  <a:schemeClr val="tx1"/>
                </a:solidFill>
              </a:rPr>
              <a:t>Water</a:t>
            </a:r>
            <a:r>
              <a:rPr sz="3200" spc="-185" dirty="0">
                <a:solidFill>
                  <a:schemeClr val="tx1"/>
                </a:solidFill>
              </a:rPr>
              <a:t> </a:t>
            </a:r>
            <a:r>
              <a:rPr sz="3200" spc="-10" dirty="0">
                <a:solidFill>
                  <a:schemeClr val="tx1"/>
                </a:solidFill>
              </a:rPr>
              <a:t>Quality</a:t>
            </a:r>
            <a:endParaRPr sz="320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12"/>
          </p:nvPr>
        </p:nvSpPr>
        <p:spPr>
          <a:xfrm>
            <a:off x="11262994" y="6568789"/>
            <a:ext cx="222250" cy="205504"/>
          </a:xfrm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" dirty="0">
                <a:solidFill>
                  <a:schemeClr val="tx1"/>
                </a:solidFill>
              </a:rPr>
              <a:t>3</a:t>
            </a:fld>
            <a:endParaRPr spc="-5" dirty="0">
              <a:solidFill>
                <a:schemeClr val="tx1"/>
              </a:solidFill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457" y="1250886"/>
            <a:ext cx="10749280" cy="254762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98450" marR="501015" indent="-286385">
              <a:lnSpc>
                <a:spcPct val="100000"/>
              </a:lnSpc>
              <a:spcBef>
                <a:spcPts val="125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Water</a:t>
            </a:r>
            <a:r>
              <a:rPr sz="2000" spc="-13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quality</a:t>
            </a:r>
            <a:r>
              <a:rPr sz="2000" spc="-9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is</a:t>
            </a:r>
            <a:r>
              <a:rPr sz="2000" spc="7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agglomeration</a:t>
            </a:r>
            <a:r>
              <a:rPr sz="2000" spc="-1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of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physical,</a:t>
            </a:r>
            <a:r>
              <a:rPr sz="2000" spc="-9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chemical,</a:t>
            </a:r>
            <a:r>
              <a:rPr sz="2000" spc="-9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and</a:t>
            </a:r>
            <a:r>
              <a:rPr sz="2000" spc="-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biological</a:t>
            </a:r>
            <a:r>
              <a:rPr sz="2000" spc="-5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components</a:t>
            </a:r>
            <a:r>
              <a:rPr sz="2000" spc="-9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of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 water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column</a:t>
            </a:r>
            <a:r>
              <a:rPr sz="2000" spc="-8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that</a:t>
            </a:r>
            <a:r>
              <a:rPr sz="2000" spc="-5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determine</a:t>
            </a:r>
            <a:r>
              <a:rPr sz="2000" spc="-8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its</a:t>
            </a:r>
            <a:r>
              <a:rPr sz="2000" spc="-4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overall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“condition</a:t>
            </a:r>
            <a:r>
              <a:rPr lang="en-US" sz="2000" spc="-10" dirty="0">
                <a:solidFill>
                  <a:schemeClr val="tx1"/>
                </a:solidFill>
                <a:latin typeface="Arial"/>
                <a:cs typeface="Arial"/>
              </a:rPr>
              <a:t>.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”</a:t>
            </a:r>
            <a:endParaRPr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298450" indent="-286385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Physical</a:t>
            </a:r>
            <a:r>
              <a:rPr sz="2000" spc="-4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components</a:t>
            </a:r>
            <a:r>
              <a:rPr sz="2000" spc="-8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include</a:t>
            </a:r>
            <a:r>
              <a:rPr sz="2000" spc="-1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temperature</a:t>
            </a:r>
            <a:r>
              <a:rPr sz="2000" spc="-13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and</a:t>
            </a:r>
            <a:r>
              <a:rPr sz="2000" spc="4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suspended</a:t>
            </a:r>
            <a:r>
              <a:rPr sz="2000" spc="-13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solids</a:t>
            </a:r>
            <a:r>
              <a:rPr sz="2000" spc="-8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and</a:t>
            </a:r>
            <a:r>
              <a:rPr sz="2000" spc="4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conservative</a:t>
            </a:r>
            <a:r>
              <a:rPr sz="2000" spc="-1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dissolved</a:t>
            </a:r>
            <a:endParaRPr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298450">
              <a:lnSpc>
                <a:spcPct val="100000"/>
              </a:lnSpc>
              <a:spcBef>
                <a:spcPts val="5"/>
              </a:spcBef>
            </a:pP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substances.</a:t>
            </a:r>
            <a:endParaRPr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298450" indent="-286385">
              <a:lnSpc>
                <a:spcPct val="100000"/>
              </a:lnSpc>
              <a:spcBef>
                <a:spcPts val="155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Chemical</a:t>
            </a:r>
            <a:r>
              <a:rPr sz="2000" spc="-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components</a:t>
            </a:r>
            <a:r>
              <a:rPr sz="2000" spc="-10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include</a:t>
            </a:r>
            <a:r>
              <a:rPr sz="2000" spc="-1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dissolved</a:t>
            </a:r>
            <a:r>
              <a:rPr sz="2000" spc="-6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substances</a:t>
            </a:r>
            <a:r>
              <a:rPr sz="2000" spc="-9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whose</a:t>
            </a:r>
            <a:r>
              <a:rPr sz="2000" spc="-1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levels</a:t>
            </a:r>
            <a:r>
              <a:rPr sz="2000" spc="7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are</a:t>
            </a:r>
            <a:r>
              <a:rPr sz="2000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impacted</a:t>
            </a:r>
            <a:r>
              <a:rPr sz="2000" spc="-14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by</a:t>
            </a:r>
            <a:r>
              <a:rPr sz="2000" spc="7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physical,</a:t>
            </a:r>
            <a:endParaRPr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298450">
              <a:lnSpc>
                <a:spcPct val="100000"/>
              </a:lnSpc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chemical</a:t>
            </a:r>
            <a:r>
              <a:rPr sz="2000" spc="-7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,</a:t>
            </a:r>
            <a:r>
              <a:rPr sz="2000" spc="-3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and</a:t>
            </a:r>
            <a:r>
              <a:rPr sz="2000" spc="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biological</a:t>
            </a:r>
            <a:r>
              <a:rPr sz="2000" spc="-7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processes.</a:t>
            </a:r>
            <a:endParaRPr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298450" marR="5080" indent="-286385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Biological</a:t>
            </a:r>
            <a:r>
              <a:rPr sz="2000" spc="-6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components</a:t>
            </a:r>
            <a:r>
              <a:rPr sz="2000" spc="-10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are</a:t>
            </a:r>
            <a:r>
              <a:rPr sz="2000" spc="-7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living</a:t>
            </a:r>
            <a:r>
              <a:rPr sz="2000" spc="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organisms</a:t>
            </a:r>
            <a:r>
              <a:rPr sz="2000" spc="-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whose</a:t>
            </a:r>
            <a:r>
              <a:rPr sz="2000" spc="-6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normal</a:t>
            </a:r>
            <a:r>
              <a:rPr sz="2000" spc="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biological</a:t>
            </a:r>
            <a:r>
              <a:rPr sz="2000" spc="-6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processes</a:t>
            </a:r>
            <a:r>
              <a:rPr sz="2000" spc="-18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are</a:t>
            </a:r>
            <a:r>
              <a:rPr sz="2000" spc="1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impacted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by</a:t>
            </a:r>
            <a:r>
              <a:rPr sz="2000" spc="-3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and have</a:t>
            </a:r>
            <a:r>
              <a:rPr sz="2000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impacts</a:t>
            </a:r>
            <a:r>
              <a:rPr sz="2000" spc="-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on the</a:t>
            </a:r>
            <a:r>
              <a:rPr sz="2000" spc="-7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conditions</a:t>
            </a:r>
            <a:r>
              <a:rPr sz="2000" spc="-1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present</a:t>
            </a:r>
            <a:r>
              <a:rPr sz="2000" spc="-1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in</a:t>
            </a:r>
            <a:r>
              <a:rPr sz="2000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the</a:t>
            </a:r>
            <a:r>
              <a:rPr sz="2000" spc="-7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water</a:t>
            </a:r>
            <a:r>
              <a:rPr sz="2000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column.</a:t>
            </a:r>
            <a:endParaRPr sz="2000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8"/>
          <p:cNvSpPr txBox="1">
            <a:spLocks noGrp="1"/>
          </p:cNvSpPr>
          <p:nvPr>
            <p:ph type="sldNum" sz="quarter" idx="12"/>
          </p:nvPr>
        </p:nvSpPr>
        <p:spPr>
          <a:xfrm>
            <a:off x="11262994" y="6568789"/>
            <a:ext cx="222250" cy="205504"/>
          </a:xfrm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" dirty="0">
                <a:solidFill>
                  <a:schemeClr val="tx1"/>
                </a:solidFill>
              </a:rPr>
              <a:t>4</a:t>
            </a:fld>
            <a:endParaRPr spc="-5" dirty="0">
              <a:solidFill>
                <a:schemeClr val="tx1"/>
              </a:solidFill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DBCF687D-5A8D-42EC-8C73-F26D8C1F8991}"/>
              </a:ext>
            </a:extLst>
          </p:cNvPr>
          <p:cNvSpPr txBox="1"/>
          <p:nvPr/>
        </p:nvSpPr>
        <p:spPr>
          <a:xfrm>
            <a:off x="485457" y="403161"/>
            <a:ext cx="6257925" cy="5175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200" b="1" dirty="0">
                <a:latin typeface="Arial"/>
                <a:cs typeface="Arial"/>
              </a:rPr>
              <a:t>Conceptual</a:t>
            </a:r>
            <a:r>
              <a:rPr sz="3200" b="1" spc="-180" dirty="0">
                <a:latin typeface="Arial"/>
                <a:cs typeface="Arial"/>
              </a:rPr>
              <a:t> </a:t>
            </a:r>
            <a:r>
              <a:rPr sz="3200" b="1" spc="-20" dirty="0">
                <a:latin typeface="Arial"/>
                <a:cs typeface="Arial"/>
              </a:rPr>
              <a:t>Water</a:t>
            </a:r>
            <a:r>
              <a:rPr sz="3200" b="1" spc="-105" dirty="0">
                <a:latin typeface="Arial"/>
                <a:cs typeface="Arial"/>
              </a:rPr>
              <a:t> </a:t>
            </a:r>
            <a:r>
              <a:rPr sz="3200" b="1" dirty="0">
                <a:latin typeface="Arial"/>
                <a:cs typeface="Arial"/>
              </a:rPr>
              <a:t>Quality</a:t>
            </a:r>
            <a:r>
              <a:rPr sz="3200" b="1" spc="-114" dirty="0">
                <a:latin typeface="Arial"/>
                <a:cs typeface="Arial"/>
              </a:rPr>
              <a:t> </a:t>
            </a:r>
            <a:r>
              <a:rPr sz="3200" b="1" spc="-10" dirty="0">
                <a:latin typeface="Arial"/>
                <a:cs typeface="Arial"/>
              </a:rPr>
              <a:t>Model</a:t>
            </a:r>
            <a:endParaRPr sz="3200">
              <a:latin typeface="Arial"/>
              <a:cs typeface="Arial"/>
            </a:endParaRPr>
          </a:p>
        </p:txBody>
      </p:sp>
      <p:grpSp>
        <p:nvGrpSpPr>
          <p:cNvPr id="7" name="object 7">
            <a:extLst>
              <a:ext uri="{FF2B5EF4-FFF2-40B4-BE49-F238E27FC236}">
                <a16:creationId xmlns:a16="http://schemas.microsoft.com/office/drawing/2014/main" id="{E803531B-0515-25E2-8563-5BA62321D439}"/>
              </a:ext>
            </a:extLst>
          </p:cNvPr>
          <p:cNvGrpSpPr/>
          <p:nvPr/>
        </p:nvGrpSpPr>
        <p:grpSpPr>
          <a:xfrm>
            <a:off x="2734310" y="1038860"/>
            <a:ext cx="6733540" cy="4058920"/>
            <a:chOff x="2734310" y="1038860"/>
            <a:chExt cx="6733540" cy="4058920"/>
          </a:xfrm>
        </p:grpSpPr>
        <p:sp>
          <p:nvSpPr>
            <p:cNvPr id="9" name="object 8">
              <a:extLst>
                <a:ext uri="{FF2B5EF4-FFF2-40B4-BE49-F238E27FC236}">
                  <a16:creationId xmlns:a16="http://schemas.microsoft.com/office/drawing/2014/main" id="{B1EE6F9C-75FF-2F52-44D7-A1B56DD9F8C4}"/>
                </a:ext>
              </a:extLst>
            </p:cNvPr>
            <p:cNvSpPr/>
            <p:nvPr/>
          </p:nvSpPr>
          <p:spPr>
            <a:xfrm>
              <a:off x="4848225" y="1771650"/>
              <a:ext cx="2943225" cy="2524125"/>
            </a:xfrm>
            <a:custGeom>
              <a:avLst/>
              <a:gdLst/>
              <a:ahLst/>
              <a:cxnLst/>
              <a:rect l="l" t="t" r="r" b="b"/>
              <a:pathLst>
                <a:path w="2943225" h="2524125">
                  <a:moveTo>
                    <a:pt x="2943225" y="0"/>
                  </a:moveTo>
                  <a:lnTo>
                    <a:pt x="0" y="0"/>
                  </a:lnTo>
                  <a:lnTo>
                    <a:pt x="0" y="2524125"/>
                  </a:lnTo>
                  <a:lnTo>
                    <a:pt x="2943225" y="2524125"/>
                  </a:lnTo>
                  <a:lnTo>
                    <a:pt x="2943225" y="0"/>
                  </a:lnTo>
                  <a:close/>
                </a:path>
              </a:pathLst>
            </a:custGeom>
            <a:solidFill>
              <a:srgbClr val="99FF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4C0630F4-5BFC-EB30-1C15-E6AC55E88EB1}"/>
                </a:ext>
              </a:extLst>
            </p:cNvPr>
            <p:cNvSpPr/>
            <p:nvPr/>
          </p:nvSpPr>
          <p:spPr>
            <a:xfrm>
              <a:off x="4857750" y="1781175"/>
              <a:ext cx="2924175" cy="2505075"/>
            </a:xfrm>
            <a:custGeom>
              <a:avLst/>
              <a:gdLst/>
              <a:ahLst/>
              <a:cxnLst/>
              <a:rect l="l" t="t" r="r" b="b"/>
              <a:pathLst>
                <a:path w="2924175" h="2505075">
                  <a:moveTo>
                    <a:pt x="0" y="2505075"/>
                  </a:moveTo>
                  <a:lnTo>
                    <a:pt x="2924175" y="2505075"/>
                  </a:lnTo>
                  <a:lnTo>
                    <a:pt x="2924175" y="0"/>
                  </a:lnTo>
                  <a:lnTo>
                    <a:pt x="0" y="0"/>
                  </a:lnTo>
                  <a:lnTo>
                    <a:pt x="0" y="2505075"/>
                  </a:lnTo>
                  <a:close/>
                </a:path>
              </a:pathLst>
            </a:custGeom>
            <a:ln w="174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0">
              <a:extLst>
                <a:ext uri="{FF2B5EF4-FFF2-40B4-BE49-F238E27FC236}">
                  <a16:creationId xmlns:a16="http://schemas.microsoft.com/office/drawing/2014/main" id="{7BCC6FC8-1AD0-B7F1-44EF-646173F3AD55}"/>
                </a:ext>
              </a:extLst>
            </p:cNvPr>
            <p:cNvSpPr/>
            <p:nvPr/>
          </p:nvSpPr>
          <p:spPr>
            <a:xfrm>
              <a:off x="3381375" y="2724150"/>
              <a:ext cx="1457325" cy="200025"/>
            </a:xfrm>
            <a:custGeom>
              <a:avLst/>
              <a:gdLst/>
              <a:ahLst/>
              <a:cxnLst/>
              <a:rect l="l" t="t" r="r" b="b"/>
              <a:pathLst>
                <a:path w="1457325" h="200025">
                  <a:moveTo>
                    <a:pt x="1457325" y="0"/>
                  </a:moveTo>
                  <a:lnTo>
                    <a:pt x="0" y="0"/>
                  </a:lnTo>
                  <a:lnTo>
                    <a:pt x="0" y="200025"/>
                  </a:lnTo>
                  <a:lnTo>
                    <a:pt x="1457325" y="200025"/>
                  </a:lnTo>
                  <a:lnTo>
                    <a:pt x="1457325" y="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1">
              <a:extLst>
                <a:ext uri="{FF2B5EF4-FFF2-40B4-BE49-F238E27FC236}">
                  <a16:creationId xmlns:a16="http://schemas.microsoft.com/office/drawing/2014/main" id="{FFF78729-5228-6D4F-96B0-A880168489A3}"/>
                </a:ext>
              </a:extLst>
            </p:cNvPr>
            <p:cNvSpPr/>
            <p:nvPr/>
          </p:nvSpPr>
          <p:spPr>
            <a:xfrm>
              <a:off x="3381375" y="2724150"/>
              <a:ext cx="1457325" cy="200025"/>
            </a:xfrm>
            <a:custGeom>
              <a:avLst/>
              <a:gdLst/>
              <a:ahLst/>
              <a:cxnLst/>
              <a:rect l="l" t="t" r="r" b="b"/>
              <a:pathLst>
                <a:path w="1457325" h="200025">
                  <a:moveTo>
                    <a:pt x="0" y="200025"/>
                  </a:moveTo>
                  <a:lnTo>
                    <a:pt x="1457325" y="200025"/>
                  </a:lnTo>
                  <a:lnTo>
                    <a:pt x="1457325" y="0"/>
                  </a:lnTo>
                  <a:lnTo>
                    <a:pt x="0" y="0"/>
                  </a:lnTo>
                  <a:lnTo>
                    <a:pt x="0" y="200025"/>
                  </a:lnTo>
                  <a:close/>
                </a:path>
              </a:pathLst>
            </a:custGeom>
            <a:ln w="174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D53C5D50-EA7A-F7C2-A971-F0A41F756324}"/>
                </a:ext>
              </a:extLst>
            </p:cNvPr>
            <p:cNvSpPr/>
            <p:nvPr/>
          </p:nvSpPr>
          <p:spPr>
            <a:xfrm>
              <a:off x="7791450" y="2828925"/>
              <a:ext cx="1143000" cy="200025"/>
            </a:xfrm>
            <a:custGeom>
              <a:avLst/>
              <a:gdLst/>
              <a:ahLst/>
              <a:cxnLst/>
              <a:rect l="l" t="t" r="r" b="b"/>
              <a:pathLst>
                <a:path w="1143000" h="200025">
                  <a:moveTo>
                    <a:pt x="1143000" y="0"/>
                  </a:moveTo>
                  <a:lnTo>
                    <a:pt x="0" y="0"/>
                  </a:lnTo>
                  <a:lnTo>
                    <a:pt x="0" y="200025"/>
                  </a:lnTo>
                  <a:lnTo>
                    <a:pt x="1143000" y="200025"/>
                  </a:lnTo>
                  <a:lnTo>
                    <a:pt x="1143000" y="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4D1D95C6-8792-CE36-A759-2822481F82B6}"/>
                </a:ext>
              </a:extLst>
            </p:cNvPr>
            <p:cNvSpPr/>
            <p:nvPr/>
          </p:nvSpPr>
          <p:spPr>
            <a:xfrm>
              <a:off x="4857750" y="1047750"/>
              <a:ext cx="4076700" cy="1981200"/>
            </a:xfrm>
            <a:custGeom>
              <a:avLst/>
              <a:gdLst/>
              <a:ahLst/>
              <a:cxnLst/>
              <a:rect l="l" t="t" r="r" b="b"/>
              <a:pathLst>
                <a:path w="4076700" h="1981200">
                  <a:moveTo>
                    <a:pt x="2933700" y="1981200"/>
                  </a:moveTo>
                  <a:lnTo>
                    <a:pt x="4076700" y="1981200"/>
                  </a:lnTo>
                  <a:lnTo>
                    <a:pt x="4076700" y="1781175"/>
                  </a:lnTo>
                  <a:lnTo>
                    <a:pt x="2933700" y="1781175"/>
                  </a:lnTo>
                  <a:lnTo>
                    <a:pt x="2933700" y="1981200"/>
                  </a:lnTo>
                  <a:close/>
                </a:path>
                <a:path w="4076700" h="1981200">
                  <a:moveTo>
                    <a:pt x="0" y="723900"/>
                  </a:moveTo>
                  <a:lnTo>
                    <a:pt x="2924175" y="723900"/>
                  </a:lnTo>
                  <a:lnTo>
                    <a:pt x="2924175" y="0"/>
                  </a:lnTo>
                  <a:lnTo>
                    <a:pt x="0" y="0"/>
                  </a:lnTo>
                  <a:lnTo>
                    <a:pt x="0" y="723900"/>
                  </a:lnTo>
                  <a:close/>
                </a:path>
              </a:pathLst>
            </a:custGeom>
            <a:ln w="174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CBAEB2DF-A1E7-E7C3-17F2-DA2FBD7C0A78}"/>
                </a:ext>
              </a:extLst>
            </p:cNvPr>
            <p:cNvSpPr/>
            <p:nvPr/>
          </p:nvSpPr>
          <p:spPr>
            <a:xfrm>
              <a:off x="2743200" y="2305050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9525"/>
                  </a:lnTo>
                </a:path>
              </a:pathLst>
            </a:custGeom>
            <a:ln w="174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5">
              <a:extLst>
                <a:ext uri="{FF2B5EF4-FFF2-40B4-BE49-F238E27FC236}">
                  <a16:creationId xmlns:a16="http://schemas.microsoft.com/office/drawing/2014/main" id="{BB14297D-6A90-7CF0-CC2F-462787498124}"/>
                </a:ext>
              </a:extLst>
            </p:cNvPr>
            <p:cNvSpPr/>
            <p:nvPr/>
          </p:nvSpPr>
          <p:spPr>
            <a:xfrm>
              <a:off x="4057650" y="2219325"/>
              <a:ext cx="266700" cy="161925"/>
            </a:xfrm>
            <a:custGeom>
              <a:avLst/>
              <a:gdLst/>
              <a:ahLst/>
              <a:cxnLst/>
              <a:rect l="l" t="t" r="r" b="b"/>
              <a:pathLst>
                <a:path w="266700" h="161925">
                  <a:moveTo>
                    <a:pt x="0" y="0"/>
                  </a:moveTo>
                  <a:lnTo>
                    <a:pt x="31750" y="81787"/>
                  </a:lnTo>
                  <a:lnTo>
                    <a:pt x="0" y="161925"/>
                  </a:lnTo>
                  <a:lnTo>
                    <a:pt x="266700" y="81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6">
              <a:extLst>
                <a:ext uri="{FF2B5EF4-FFF2-40B4-BE49-F238E27FC236}">
                  <a16:creationId xmlns:a16="http://schemas.microsoft.com/office/drawing/2014/main" id="{021B48F9-39F1-17B0-5413-6ADD522D7D95}"/>
                </a:ext>
              </a:extLst>
            </p:cNvPr>
            <p:cNvSpPr/>
            <p:nvPr/>
          </p:nvSpPr>
          <p:spPr>
            <a:xfrm>
              <a:off x="7886700" y="2514600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9525"/>
                  </a:lnTo>
                </a:path>
              </a:pathLst>
            </a:custGeom>
            <a:ln w="174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E9EDE68C-4497-657C-7CD2-5F70A9AFCFC2}"/>
                </a:ext>
              </a:extLst>
            </p:cNvPr>
            <p:cNvSpPr/>
            <p:nvPr/>
          </p:nvSpPr>
          <p:spPr>
            <a:xfrm>
              <a:off x="9201150" y="2428875"/>
              <a:ext cx="266700" cy="161925"/>
            </a:xfrm>
            <a:custGeom>
              <a:avLst/>
              <a:gdLst/>
              <a:ahLst/>
              <a:cxnLst/>
              <a:rect l="l" t="t" r="r" b="b"/>
              <a:pathLst>
                <a:path w="266700" h="161925">
                  <a:moveTo>
                    <a:pt x="0" y="0"/>
                  </a:moveTo>
                  <a:lnTo>
                    <a:pt x="31750" y="81787"/>
                  </a:lnTo>
                  <a:lnTo>
                    <a:pt x="0" y="161925"/>
                  </a:lnTo>
                  <a:lnTo>
                    <a:pt x="266700" y="81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DD09E587-EDC9-1BC6-B775-0C80B8C34E8C}"/>
                </a:ext>
              </a:extLst>
            </p:cNvPr>
            <p:cNvSpPr/>
            <p:nvPr/>
          </p:nvSpPr>
          <p:spPr>
            <a:xfrm>
              <a:off x="6024625" y="3367151"/>
              <a:ext cx="923925" cy="1695450"/>
            </a:xfrm>
            <a:custGeom>
              <a:avLst/>
              <a:gdLst/>
              <a:ahLst/>
              <a:cxnLst/>
              <a:rect l="l" t="t" r="r" b="b"/>
              <a:pathLst>
                <a:path w="923925" h="1695450">
                  <a:moveTo>
                    <a:pt x="0" y="1695450"/>
                  </a:moveTo>
                  <a:lnTo>
                    <a:pt x="923925" y="0"/>
                  </a:lnTo>
                </a:path>
              </a:pathLst>
            </a:custGeom>
            <a:ln w="698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7C54C24A-5122-0A38-E3F2-A709BE01DCA3}"/>
                </a:ext>
              </a:extLst>
            </p:cNvPr>
            <p:cNvSpPr/>
            <p:nvPr/>
          </p:nvSpPr>
          <p:spPr>
            <a:xfrm>
              <a:off x="6419850" y="3095625"/>
              <a:ext cx="1047750" cy="542925"/>
            </a:xfrm>
            <a:custGeom>
              <a:avLst/>
              <a:gdLst/>
              <a:ahLst/>
              <a:cxnLst/>
              <a:rect l="l" t="t" r="r" b="b"/>
              <a:pathLst>
                <a:path w="1047750" h="542925">
                  <a:moveTo>
                    <a:pt x="522350" y="218439"/>
                  </a:moveTo>
                  <a:lnTo>
                    <a:pt x="514350" y="241935"/>
                  </a:lnTo>
                  <a:lnTo>
                    <a:pt x="514350" y="268604"/>
                  </a:lnTo>
                  <a:lnTo>
                    <a:pt x="538352" y="331342"/>
                  </a:lnTo>
                  <a:lnTo>
                    <a:pt x="591184" y="394080"/>
                  </a:lnTo>
                  <a:lnTo>
                    <a:pt x="626491" y="425323"/>
                  </a:lnTo>
                  <a:lnTo>
                    <a:pt x="668147" y="453644"/>
                  </a:lnTo>
                  <a:lnTo>
                    <a:pt x="709802" y="477138"/>
                  </a:lnTo>
                  <a:lnTo>
                    <a:pt x="756284" y="500634"/>
                  </a:lnTo>
                  <a:lnTo>
                    <a:pt x="802640" y="517906"/>
                  </a:lnTo>
                  <a:lnTo>
                    <a:pt x="849122" y="532002"/>
                  </a:lnTo>
                  <a:lnTo>
                    <a:pt x="892428" y="539750"/>
                  </a:lnTo>
                  <a:lnTo>
                    <a:pt x="932433" y="542925"/>
                  </a:lnTo>
                  <a:lnTo>
                    <a:pt x="967613" y="538226"/>
                  </a:lnTo>
                  <a:lnTo>
                    <a:pt x="1001268" y="527304"/>
                  </a:lnTo>
                  <a:lnTo>
                    <a:pt x="1020572" y="514731"/>
                  </a:lnTo>
                  <a:lnTo>
                    <a:pt x="1038098" y="494284"/>
                  </a:lnTo>
                  <a:lnTo>
                    <a:pt x="1047750" y="470788"/>
                  </a:lnTo>
                  <a:lnTo>
                    <a:pt x="1047750" y="445770"/>
                  </a:lnTo>
                  <a:lnTo>
                    <a:pt x="1023747" y="383032"/>
                  </a:lnTo>
                  <a:lnTo>
                    <a:pt x="970915" y="320294"/>
                  </a:lnTo>
                  <a:lnTo>
                    <a:pt x="935608" y="287400"/>
                  </a:lnTo>
                  <a:lnTo>
                    <a:pt x="892428" y="259207"/>
                  </a:lnTo>
                  <a:lnTo>
                    <a:pt x="850773" y="235712"/>
                  </a:lnTo>
                  <a:lnTo>
                    <a:pt x="804291" y="212216"/>
                  </a:lnTo>
                  <a:lnTo>
                    <a:pt x="757808" y="194945"/>
                  </a:lnTo>
                  <a:lnTo>
                    <a:pt x="712977" y="182372"/>
                  </a:lnTo>
                  <a:lnTo>
                    <a:pt x="668147" y="172974"/>
                  </a:lnTo>
                  <a:lnTo>
                    <a:pt x="628015" y="171450"/>
                  </a:lnTo>
                  <a:lnTo>
                    <a:pt x="592835" y="176149"/>
                  </a:lnTo>
                  <a:lnTo>
                    <a:pt x="560831" y="187071"/>
                  </a:lnTo>
                  <a:lnTo>
                    <a:pt x="540003" y="199644"/>
                  </a:lnTo>
                  <a:lnTo>
                    <a:pt x="522350" y="218439"/>
                  </a:lnTo>
                  <a:close/>
                </a:path>
                <a:path w="1047750" h="542925">
                  <a:moveTo>
                    <a:pt x="8000" y="46989"/>
                  </a:moveTo>
                  <a:lnTo>
                    <a:pt x="0" y="70485"/>
                  </a:lnTo>
                  <a:lnTo>
                    <a:pt x="0" y="97154"/>
                  </a:lnTo>
                  <a:lnTo>
                    <a:pt x="24002" y="159892"/>
                  </a:lnTo>
                  <a:lnTo>
                    <a:pt x="76835" y="222630"/>
                  </a:lnTo>
                  <a:lnTo>
                    <a:pt x="112141" y="253873"/>
                  </a:lnTo>
                  <a:lnTo>
                    <a:pt x="153797" y="282194"/>
                  </a:lnTo>
                  <a:lnTo>
                    <a:pt x="196976" y="305688"/>
                  </a:lnTo>
                  <a:lnTo>
                    <a:pt x="241934" y="329184"/>
                  </a:lnTo>
                  <a:lnTo>
                    <a:pt x="288290" y="346455"/>
                  </a:lnTo>
                  <a:lnTo>
                    <a:pt x="334772" y="360552"/>
                  </a:lnTo>
                  <a:lnTo>
                    <a:pt x="379602" y="368300"/>
                  </a:lnTo>
                  <a:lnTo>
                    <a:pt x="419734" y="371475"/>
                  </a:lnTo>
                  <a:lnTo>
                    <a:pt x="454914" y="366775"/>
                  </a:lnTo>
                  <a:lnTo>
                    <a:pt x="486918" y="355853"/>
                  </a:lnTo>
                  <a:lnTo>
                    <a:pt x="507746" y="343280"/>
                  </a:lnTo>
                  <a:lnTo>
                    <a:pt x="525399" y="322834"/>
                  </a:lnTo>
                  <a:lnTo>
                    <a:pt x="533400" y="299338"/>
                  </a:lnTo>
                  <a:lnTo>
                    <a:pt x="533400" y="274320"/>
                  </a:lnTo>
                  <a:lnTo>
                    <a:pt x="509397" y="211582"/>
                  </a:lnTo>
                  <a:lnTo>
                    <a:pt x="486918" y="180212"/>
                  </a:lnTo>
                  <a:lnTo>
                    <a:pt x="456565" y="148844"/>
                  </a:lnTo>
                  <a:lnTo>
                    <a:pt x="421258" y="115950"/>
                  </a:lnTo>
                  <a:lnTo>
                    <a:pt x="379602" y="87757"/>
                  </a:lnTo>
                  <a:lnTo>
                    <a:pt x="337947" y="64262"/>
                  </a:lnTo>
                  <a:lnTo>
                    <a:pt x="291465" y="40766"/>
                  </a:lnTo>
                  <a:lnTo>
                    <a:pt x="245109" y="23495"/>
                  </a:lnTo>
                  <a:lnTo>
                    <a:pt x="198627" y="10922"/>
                  </a:lnTo>
                  <a:lnTo>
                    <a:pt x="153797" y="1524"/>
                  </a:lnTo>
                  <a:lnTo>
                    <a:pt x="115316" y="0"/>
                  </a:lnTo>
                  <a:lnTo>
                    <a:pt x="80137" y="4699"/>
                  </a:lnTo>
                  <a:lnTo>
                    <a:pt x="46482" y="14097"/>
                  </a:lnTo>
                  <a:lnTo>
                    <a:pt x="25653" y="28194"/>
                  </a:lnTo>
                  <a:lnTo>
                    <a:pt x="8000" y="46989"/>
                  </a:lnTo>
                  <a:close/>
                </a:path>
              </a:pathLst>
            </a:custGeom>
            <a:ln w="174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0">
              <a:extLst>
                <a:ext uri="{FF2B5EF4-FFF2-40B4-BE49-F238E27FC236}">
                  <a16:creationId xmlns:a16="http://schemas.microsoft.com/office/drawing/2014/main" id="{66DAD690-74B1-7DC8-065D-23B6E0BB3093}"/>
                </a:ext>
              </a:extLst>
            </p:cNvPr>
            <p:cNvSpPr/>
            <p:nvPr/>
          </p:nvSpPr>
          <p:spPr>
            <a:xfrm>
              <a:off x="6115050" y="1362075"/>
              <a:ext cx="295275" cy="409575"/>
            </a:xfrm>
            <a:custGeom>
              <a:avLst/>
              <a:gdLst/>
              <a:ahLst/>
              <a:cxnLst/>
              <a:rect l="l" t="t" r="r" b="b"/>
              <a:pathLst>
                <a:path w="295275" h="409575">
                  <a:moveTo>
                    <a:pt x="295275" y="0"/>
                  </a:moveTo>
                  <a:lnTo>
                    <a:pt x="0" y="0"/>
                  </a:lnTo>
                  <a:lnTo>
                    <a:pt x="149225" y="409575"/>
                  </a:lnTo>
                  <a:lnTo>
                    <a:pt x="295275" y="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1DD885AB-480C-FA49-A7B2-CC001CBCCA81}"/>
                </a:ext>
              </a:extLst>
            </p:cNvPr>
            <p:cNvSpPr/>
            <p:nvPr/>
          </p:nvSpPr>
          <p:spPr>
            <a:xfrm>
              <a:off x="6000750" y="1362075"/>
              <a:ext cx="523875" cy="628650"/>
            </a:xfrm>
            <a:custGeom>
              <a:avLst/>
              <a:gdLst/>
              <a:ahLst/>
              <a:cxnLst/>
              <a:rect l="l" t="t" r="r" b="b"/>
              <a:pathLst>
                <a:path w="523875" h="628650">
                  <a:moveTo>
                    <a:pt x="263525" y="409575"/>
                  </a:moveTo>
                  <a:lnTo>
                    <a:pt x="409575" y="0"/>
                  </a:lnTo>
                  <a:lnTo>
                    <a:pt x="114300" y="0"/>
                  </a:lnTo>
                  <a:lnTo>
                    <a:pt x="263525" y="409575"/>
                  </a:lnTo>
                  <a:close/>
                </a:path>
                <a:path w="523875" h="628650">
                  <a:moveTo>
                    <a:pt x="0" y="514350"/>
                  </a:moveTo>
                  <a:lnTo>
                    <a:pt x="523875" y="523875"/>
                  </a:lnTo>
                </a:path>
                <a:path w="523875" h="628650">
                  <a:moveTo>
                    <a:pt x="209550" y="619125"/>
                  </a:moveTo>
                  <a:lnTo>
                    <a:pt x="419100" y="628650"/>
                  </a:lnTo>
                </a:path>
              </a:pathLst>
            </a:custGeom>
            <a:ln w="174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2">
            <a:extLst>
              <a:ext uri="{FF2B5EF4-FFF2-40B4-BE49-F238E27FC236}">
                <a16:creationId xmlns:a16="http://schemas.microsoft.com/office/drawing/2014/main" id="{36343AB0-BEE0-1D3D-CE21-6CD0BA88AF8D}"/>
              </a:ext>
            </a:extLst>
          </p:cNvPr>
          <p:cNvSpPr txBox="1"/>
          <p:nvPr/>
        </p:nvSpPr>
        <p:spPr>
          <a:xfrm>
            <a:off x="3024885" y="1572577"/>
            <a:ext cx="595630" cy="528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950" spc="-37" baseline="11784" dirty="0">
                <a:latin typeface="Times New Roman"/>
                <a:cs typeface="Times New Roman"/>
              </a:rPr>
              <a:t>Q</a:t>
            </a:r>
            <a:r>
              <a:rPr sz="2150" spc="-25" dirty="0">
                <a:latin typeface="Times New Roman"/>
                <a:cs typeface="Times New Roman"/>
              </a:rPr>
              <a:t>in</a:t>
            </a:r>
            <a:endParaRPr sz="2150">
              <a:latin typeface="Times New Roman"/>
              <a:cs typeface="Times New Roman"/>
            </a:endParaRPr>
          </a:p>
        </p:txBody>
      </p:sp>
      <p:sp>
        <p:nvSpPr>
          <p:cNvPr id="24" name="object 23">
            <a:extLst>
              <a:ext uri="{FF2B5EF4-FFF2-40B4-BE49-F238E27FC236}">
                <a16:creationId xmlns:a16="http://schemas.microsoft.com/office/drawing/2014/main" id="{03432884-63B4-52B4-4627-3374D1D80C63}"/>
              </a:ext>
            </a:extLst>
          </p:cNvPr>
          <p:cNvSpPr txBox="1"/>
          <p:nvPr/>
        </p:nvSpPr>
        <p:spPr>
          <a:xfrm>
            <a:off x="8275701" y="1783714"/>
            <a:ext cx="720090" cy="529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4950" spc="-30" baseline="11784" dirty="0">
                <a:latin typeface="Times New Roman"/>
                <a:cs typeface="Times New Roman"/>
              </a:rPr>
              <a:t>Q</a:t>
            </a:r>
            <a:r>
              <a:rPr sz="2150" spc="-20" dirty="0">
                <a:latin typeface="Times New Roman"/>
                <a:cs typeface="Times New Roman"/>
              </a:rPr>
              <a:t>out</a:t>
            </a:r>
            <a:endParaRPr sz="2150">
              <a:latin typeface="Times New Roman"/>
              <a:cs typeface="Times New Roman"/>
            </a:endParaRPr>
          </a:p>
        </p:txBody>
      </p:sp>
      <p:sp>
        <p:nvSpPr>
          <p:cNvPr id="25" name="object 24">
            <a:extLst>
              <a:ext uri="{FF2B5EF4-FFF2-40B4-BE49-F238E27FC236}">
                <a16:creationId xmlns:a16="http://schemas.microsoft.com/office/drawing/2014/main" id="{642DBF9F-A21A-BDAB-C71C-703F43AA577E}"/>
              </a:ext>
            </a:extLst>
          </p:cNvPr>
          <p:cNvSpPr txBox="1"/>
          <p:nvPr/>
        </p:nvSpPr>
        <p:spPr>
          <a:xfrm>
            <a:off x="3024885" y="3567429"/>
            <a:ext cx="571500" cy="529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4950" spc="-37" baseline="11784" dirty="0">
                <a:latin typeface="Times New Roman"/>
                <a:cs typeface="Times New Roman"/>
              </a:rPr>
              <a:t>C</a:t>
            </a:r>
            <a:r>
              <a:rPr sz="2150" spc="-25" dirty="0">
                <a:latin typeface="Times New Roman"/>
                <a:cs typeface="Times New Roman"/>
              </a:rPr>
              <a:t>in</a:t>
            </a:r>
            <a:endParaRPr sz="2150">
              <a:latin typeface="Times New Roman"/>
              <a:cs typeface="Times New Roman"/>
            </a:endParaRPr>
          </a:p>
        </p:txBody>
      </p:sp>
      <p:sp>
        <p:nvSpPr>
          <p:cNvPr id="26" name="object 25">
            <a:extLst>
              <a:ext uri="{FF2B5EF4-FFF2-40B4-BE49-F238E27FC236}">
                <a16:creationId xmlns:a16="http://schemas.microsoft.com/office/drawing/2014/main" id="{38955078-DEDF-876C-8527-1CBBDBA4F86C}"/>
              </a:ext>
            </a:extLst>
          </p:cNvPr>
          <p:cNvSpPr txBox="1"/>
          <p:nvPr/>
        </p:nvSpPr>
        <p:spPr>
          <a:xfrm>
            <a:off x="6213475" y="2324099"/>
            <a:ext cx="292735" cy="529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3300" dirty="0">
                <a:latin typeface="Times New Roman"/>
                <a:cs typeface="Times New Roman"/>
              </a:rPr>
              <a:t>C</a:t>
            </a:r>
            <a:endParaRPr sz="3300">
              <a:latin typeface="Times New Roman"/>
              <a:cs typeface="Times New Roman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ADDF30DC-701A-4FEB-8772-7253D248E4CD}"/>
              </a:ext>
            </a:extLst>
          </p:cNvPr>
          <p:cNvSpPr txBox="1"/>
          <p:nvPr/>
        </p:nvSpPr>
        <p:spPr>
          <a:xfrm>
            <a:off x="8512556" y="3268345"/>
            <a:ext cx="305435" cy="529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300" dirty="0">
                <a:latin typeface="Times New Roman"/>
                <a:cs typeface="Times New Roman"/>
              </a:rPr>
              <a:t>C</a:t>
            </a:r>
            <a:endParaRPr sz="3300">
              <a:latin typeface="Times New Roman"/>
              <a:cs typeface="Times New Roman"/>
            </a:endParaRPr>
          </a:p>
        </p:txBody>
      </p:sp>
      <p:sp>
        <p:nvSpPr>
          <p:cNvPr id="28" name="object 27">
            <a:extLst>
              <a:ext uri="{FF2B5EF4-FFF2-40B4-BE49-F238E27FC236}">
                <a16:creationId xmlns:a16="http://schemas.microsoft.com/office/drawing/2014/main" id="{49969BF3-257D-A19C-DCC2-C00190B5539F}"/>
              </a:ext>
            </a:extLst>
          </p:cNvPr>
          <p:cNvSpPr txBox="1"/>
          <p:nvPr/>
        </p:nvSpPr>
        <p:spPr>
          <a:xfrm>
            <a:off x="7158608" y="3583622"/>
            <a:ext cx="315595" cy="528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3300" strike="sngStrike" dirty="0">
                <a:latin typeface="Times New Roman"/>
                <a:cs typeface="Times New Roman"/>
              </a:rPr>
              <a:t>V</a:t>
            </a:r>
            <a:endParaRPr sz="3300">
              <a:latin typeface="Times New Roman"/>
              <a:cs typeface="Times New Roman"/>
            </a:endParaRPr>
          </a:p>
        </p:txBody>
      </p:sp>
      <p:sp>
        <p:nvSpPr>
          <p:cNvPr id="29" name="object 28">
            <a:extLst>
              <a:ext uri="{FF2B5EF4-FFF2-40B4-BE49-F238E27FC236}">
                <a16:creationId xmlns:a16="http://schemas.microsoft.com/office/drawing/2014/main" id="{ED0A974D-63EC-C65F-1870-1E0265A51762}"/>
              </a:ext>
            </a:extLst>
          </p:cNvPr>
          <p:cNvSpPr txBox="1"/>
          <p:nvPr/>
        </p:nvSpPr>
        <p:spPr>
          <a:xfrm>
            <a:off x="848360" y="5513070"/>
            <a:ext cx="1430020" cy="504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07975" marR="5080" indent="-295910">
              <a:lnSpc>
                <a:spcPct val="100899"/>
              </a:lnSpc>
              <a:spcBef>
                <a:spcPts val="110"/>
              </a:spcBef>
            </a:pPr>
            <a:r>
              <a:rPr sz="1550" dirty="0">
                <a:latin typeface="Arial"/>
                <a:cs typeface="Arial"/>
              </a:rPr>
              <a:t>change</a:t>
            </a:r>
            <a:r>
              <a:rPr sz="1550" spc="165" dirty="0">
                <a:latin typeface="Arial"/>
                <a:cs typeface="Arial"/>
              </a:rPr>
              <a:t> </a:t>
            </a:r>
            <a:r>
              <a:rPr sz="1550" dirty="0">
                <a:latin typeface="Arial"/>
                <a:cs typeface="Arial"/>
              </a:rPr>
              <a:t>in</a:t>
            </a:r>
            <a:r>
              <a:rPr sz="1550" spc="-50" dirty="0">
                <a:latin typeface="Arial"/>
                <a:cs typeface="Arial"/>
              </a:rPr>
              <a:t> </a:t>
            </a:r>
            <a:r>
              <a:rPr sz="1550" spc="-20" dirty="0">
                <a:latin typeface="Arial"/>
                <a:cs typeface="Arial"/>
              </a:rPr>
              <a:t>mass </a:t>
            </a:r>
            <a:r>
              <a:rPr sz="1550" dirty="0">
                <a:latin typeface="Arial"/>
                <a:cs typeface="Arial"/>
              </a:rPr>
              <a:t>over</a:t>
            </a:r>
            <a:r>
              <a:rPr sz="1550" spc="40" dirty="0">
                <a:latin typeface="Arial"/>
                <a:cs typeface="Arial"/>
              </a:rPr>
              <a:t> </a:t>
            </a:r>
            <a:r>
              <a:rPr sz="1550" spc="-20" dirty="0">
                <a:latin typeface="Arial"/>
                <a:cs typeface="Arial"/>
              </a:rPr>
              <a:t>time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30" name="object 29">
            <a:extLst>
              <a:ext uri="{FF2B5EF4-FFF2-40B4-BE49-F238E27FC236}">
                <a16:creationId xmlns:a16="http://schemas.microsoft.com/office/drawing/2014/main" id="{E66E5476-6B26-40F8-8AF9-92EA2D27A074}"/>
              </a:ext>
            </a:extLst>
          </p:cNvPr>
          <p:cNvSpPr txBox="1"/>
          <p:nvPr/>
        </p:nvSpPr>
        <p:spPr>
          <a:xfrm>
            <a:off x="2466339" y="5513387"/>
            <a:ext cx="969010" cy="504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0" marR="5080" indent="-114300">
              <a:lnSpc>
                <a:spcPct val="100899"/>
              </a:lnSpc>
              <a:spcBef>
                <a:spcPts val="110"/>
              </a:spcBef>
            </a:pPr>
            <a:r>
              <a:rPr sz="1550" dirty="0">
                <a:latin typeface="Arial"/>
                <a:cs typeface="Arial"/>
              </a:rPr>
              <a:t>total</a:t>
            </a:r>
            <a:r>
              <a:rPr sz="1550" spc="40" dirty="0">
                <a:latin typeface="Arial"/>
                <a:cs typeface="Arial"/>
              </a:rPr>
              <a:t> </a:t>
            </a:r>
            <a:r>
              <a:rPr sz="1550" spc="-10" dirty="0">
                <a:latin typeface="Arial"/>
                <a:cs typeface="Arial"/>
              </a:rPr>
              <a:t>inflow </a:t>
            </a:r>
            <a:r>
              <a:rPr sz="1550" dirty="0">
                <a:latin typeface="Arial"/>
                <a:cs typeface="Arial"/>
              </a:rPr>
              <a:t>of</a:t>
            </a:r>
            <a:r>
              <a:rPr sz="1550" spc="55" dirty="0">
                <a:latin typeface="Arial"/>
                <a:cs typeface="Arial"/>
              </a:rPr>
              <a:t> </a:t>
            </a:r>
            <a:r>
              <a:rPr sz="1550" spc="-20" dirty="0">
                <a:latin typeface="Arial"/>
                <a:cs typeface="Arial"/>
              </a:rPr>
              <a:t>mass</a:t>
            </a:r>
            <a:endParaRPr sz="1550">
              <a:latin typeface="Arial"/>
              <a:cs typeface="Arial"/>
            </a:endParaRPr>
          </a:p>
        </p:txBody>
      </p:sp>
      <p:sp>
        <p:nvSpPr>
          <p:cNvPr id="31" name="object 30">
            <a:extLst>
              <a:ext uri="{FF2B5EF4-FFF2-40B4-BE49-F238E27FC236}">
                <a16:creationId xmlns:a16="http://schemas.microsoft.com/office/drawing/2014/main" id="{CE99C9E6-E5C1-6BF4-4CCA-4DA73AE77B18}"/>
              </a:ext>
            </a:extLst>
          </p:cNvPr>
          <p:cNvSpPr txBox="1"/>
          <p:nvPr/>
        </p:nvSpPr>
        <p:spPr>
          <a:xfrm>
            <a:off x="3680840" y="5512752"/>
            <a:ext cx="1093470" cy="504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93675" marR="5080" indent="-181610">
              <a:lnSpc>
                <a:spcPct val="100899"/>
              </a:lnSpc>
              <a:spcBef>
                <a:spcPts val="110"/>
              </a:spcBef>
            </a:pPr>
            <a:r>
              <a:rPr sz="1550" dirty="0">
                <a:latin typeface="Arial"/>
                <a:cs typeface="Arial"/>
              </a:rPr>
              <a:t>total</a:t>
            </a:r>
            <a:r>
              <a:rPr sz="1550" spc="40" dirty="0">
                <a:latin typeface="Arial"/>
                <a:cs typeface="Arial"/>
              </a:rPr>
              <a:t> </a:t>
            </a:r>
            <a:r>
              <a:rPr sz="1550" spc="-10" dirty="0">
                <a:latin typeface="Arial"/>
                <a:cs typeface="Arial"/>
              </a:rPr>
              <a:t>outflow </a:t>
            </a:r>
            <a:r>
              <a:rPr sz="1550" dirty="0">
                <a:latin typeface="Arial"/>
                <a:cs typeface="Arial"/>
              </a:rPr>
              <a:t>of</a:t>
            </a:r>
            <a:r>
              <a:rPr sz="1550" spc="55" dirty="0">
                <a:latin typeface="Arial"/>
                <a:cs typeface="Arial"/>
              </a:rPr>
              <a:t> </a:t>
            </a:r>
            <a:r>
              <a:rPr sz="1550" spc="-20" dirty="0">
                <a:latin typeface="Arial"/>
                <a:cs typeface="Arial"/>
              </a:rPr>
              <a:t>mass</a:t>
            </a:r>
            <a:endParaRPr sz="1550">
              <a:latin typeface="Arial"/>
              <a:cs typeface="Arial"/>
            </a:endParaRPr>
          </a:p>
        </p:txBody>
      </p:sp>
      <p:sp>
        <p:nvSpPr>
          <p:cNvPr id="32" name="object 31">
            <a:extLst>
              <a:ext uri="{FF2B5EF4-FFF2-40B4-BE49-F238E27FC236}">
                <a16:creationId xmlns:a16="http://schemas.microsoft.com/office/drawing/2014/main" id="{53995E91-33F3-C2D1-45B1-5FBA54165A91}"/>
              </a:ext>
            </a:extLst>
          </p:cNvPr>
          <p:cNvSpPr/>
          <p:nvPr/>
        </p:nvSpPr>
        <p:spPr>
          <a:xfrm>
            <a:off x="7883143" y="4733544"/>
            <a:ext cx="295275" cy="19050"/>
          </a:xfrm>
          <a:custGeom>
            <a:avLst/>
            <a:gdLst/>
            <a:ahLst/>
            <a:cxnLst/>
            <a:rect l="l" t="t" r="r" b="b"/>
            <a:pathLst>
              <a:path w="295275" h="19050">
                <a:moveTo>
                  <a:pt x="295275" y="0"/>
                </a:moveTo>
                <a:lnTo>
                  <a:pt x="0" y="0"/>
                </a:lnTo>
                <a:lnTo>
                  <a:pt x="0" y="19049"/>
                </a:lnTo>
                <a:lnTo>
                  <a:pt x="295275" y="19049"/>
                </a:lnTo>
                <a:lnTo>
                  <a:pt x="29527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F5551A19-9A60-83D8-CEE5-DBC5EABD781E}"/>
              </a:ext>
            </a:extLst>
          </p:cNvPr>
          <p:cNvSpPr txBox="1"/>
          <p:nvPr/>
        </p:nvSpPr>
        <p:spPr>
          <a:xfrm>
            <a:off x="7895590" y="4755832"/>
            <a:ext cx="267970" cy="2889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00" spc="85" dirty="0">
                <a:latin typeface="Cambria Math"/>
                <a:cs typeface="Cambria Math"/>
              </a:rPr>
              <a:t>𝑑𝑡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AE7EE6A7-FDEF-12A4-6C04-D031E4CC4C65}"/>
              </a:ext>
            </a:extLst>
          </p:cNvPr>
          <p:cNvSpPr txBox="1"/>
          <p:nvPr/>
        </p:nvSpPr>
        <p:spPr>
          <a:xfrm>
            <a:off x="7876540" y="4422203"/>
            <a:ext cx="2519680" cy="4870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ts val="1385"/>
              </a:lnSpc>
              <a:spcBef>
                <a:spcPts val="125"/>
              </a:spcBef>
            </a:pPr>
            <a:r>
              <a:rPr sz="1700" spc="70" dirty="0">
                <a:latin typeface="Cambria Math"/>
                <a:cs typeface="Cambria Math"/>
              </a:rPr>
              <a:t>𝑑𝑉</a:t>
            </a:r>
            <a:endParaRPr sz="1700">
              <a:latin typeface="Cambria Math"/>
              <a:cs typeface="Cambria Math"/>
            </a:endParaRPr>
          </a:p>
          <a:p>
            <a:pPr marL="374650">
              <a:lnSpc>
                <a:spcPts val="2225"/>
              </a:lnSpc>
            </a:pPr>
            <a:r>
              <a:rPr sz="2400" dirty="0">
                <a:latin typeface="Calibri"/>
                <a:cs typeface="Calibri"/>
              </a:rPr>
              <a:t>=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3600" spc="487" baseline="1157" dirty="0">
                <a:latin typeface="Cambria Math"/>
                <a:cs typeface="Cambria Math"/>
              </a:rPr>
              <a:t>σ</a:t>
            </a:r>
            <a:r>
              <a:rPr sz="3600" spc="-187" baseline="1157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𝑄𝑖𝑛</a:t>
            </a:r>
            <a:r>
              <a:rPr sz="2400" spc="50" dirty="0">
                <a:latin typeface="Cambria Math"/>
                <a:cs typeface="Cambria Math"/>
              </a:rPr>
              <a:t> </a:t>
            </a:r>
            <a:r>
              <a:rPr sz="2400" dirty="0">
                <a:latin typeface="Calibri"/>
                <a:cs typeface="Calibri"/>
              </a:rPr>
              <a:t>- </a:t>
            </a:r>
            <a:r>
              <a:rPr sz="3600" spc="487" baseline="1157" dirty="0">
                <a:latin typeface="Cambria Math"/>
                <a:cs typeface="Cambria Math"/>
              </a:rPr>
              <a:t>σ</a:t>
            </a:r>
            <a:r>
              <a:rPr sz="3600" spc="-202" baseline="1157" dirty="0">
                <a:latin typeface="Cambria Math"/>
                <a:cs typeface="Cambria Math"/>
              </a:rPr>
              <a:t> </a:t>
            </a:r>
            <a:r>
              <a:rPr sz="2400" spc="-20" dirty="0">
                <a:latin typeface="Cambria Math"/>
                <a:cs typeface="Cambria Math"/>
              </a:rPr>
              <a:t>𝑄𝑜𝑢𝑡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35" name="object 34">
            <a:extLst>
              <a:ext uri="{FF2B5EF4-FFF2-40B4-BE49-F238E27FC236}">
                <a16:creationId xmlns:a16="http://schemas.microsoft.com/office/drawing/2014/main" id="{3C568DDB-8D3B-DBFB-93E1-3FE8E48089C6}"/>
              </a:ext>
            </a:extLst>
          </p:cNvPr>
          <p:cNvSpPr/>
          <p:nvPr/>
        </p:nvSpPr>
        <p:spPr>
          <a:xfrm>
            <a:off x="1810639" y="5054727"/>
            <a:ext cx="428625" cy="19050"/>
          </a:xfrm>
          <a:custGeom>
            <a:avLst/>
            <a:gdLst/>
            <a:ahLst/>
            <a:cxnLst/>
            <a:rect l="l" t="t" r="r" b="b"/>
            <a:pathLst>
              <a:path w="428625" h="19050">
                <a:moveTo>
                  <a:pt x="428625" y="0"/>
                </a:moveTo>
                <a:lnTo>
                  <a:pt x="0" y="0"/>
                </a:lnTo>
                <a:lnTo>
                  <a:pt x="0" y="19050"/>
                </a:lnTo>
                <a:lnTo>
                  <a:pt x="428625" y="19050"/>
                </a:lnTo>
                <a:lnTo>
                  <a:pt x="42862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5">
            <a:extLst>
              <a:ext uri="{FF2B5EF4-FFF2-40B4-BE49-F238E27FC236}">
                <a16:creationId xmlns:a16="http://schemas.microsoft.com/office/drawing/2014/main" id="{78D77DB1-DBC6-C46B-C773-3362AF6BCEF0}"/>
              </a:ext>
            </a:extLst>
          </p:cNvPr>
          <p:cNvSpPr txBox="1"/>
          <p:nvPr/>
        </p:nvSpPr>
        <p:spPr>
          <a:xfrm>
            <a:off x="1799335" y="4743767"/>
            <a:ext cx="444500" cy="2889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00" spc="45" dirty="0">
                <a:latin typeface="Cambria Math"/>
                <a:cs typeface="Cambria Math"/>
              </a:rPr>
              <a:t>𝑑𝐶𝑉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37" name="object 36">
            <a:extLst>
              <a:ext uri="{FF2B5EF4-FFF2-40B4-BE49-F238E27FC236}">
                <a16:creationId xmlns:a16="http://schemas.microsoft.com/office/drawing/2014/main" id="{3DB1C11B-79A5-0D81-98C1-3DEA4362258E}"/>
              </a:ext>
            </a:extLst>
          </p:cNvPr>
          <p:cNvSpPr txBox="1"/>
          <p:nvPr/>
        </p:nvSpPr>
        <p:spPr>
          <a:xfrm>
            <a:off x="1885060" y="5077523"/>
            <a:ext cx="268605" cy="2889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00" spc="85" dirty="0">
                <a:latin typeface="Cambria Math"/>
                <a:cs typeface="Cambria Math"/>
              </a:rPr>
              <a:t>𝑑𝑡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38" name="object 37">
            <a:extLst>
              <a:ext uri="{FF2B5EF4-FFF2-40B4-BE49-F238E27FC236}">
                <a16:creationId xmlns:a16="http://schemas.microsoft.com/office/drawing/2014/main" id="{45BCE9A5-ABCE-7FCE-A74A-E46F4CEEE06B}"/>
              </a:ext>
            </a:extLst>
          </p:cNvPr>
          <p:cNvSpPr txBox="1"/>
          <p:nvPr/>
        </p:nvSpPr>
        <p:spPr>
          <a:xfrm>
            <a:off x="2332989" y="4915598"/>
            <a:ext cx="228854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alibri"/>
                <a:cs typeface="Calibri"/>
              </a:rPr>
              <a:t>=</a:t>
            </a:r>
            <a:r>
              <a:rPr sz="1200" spc="254" dirty="0">
                <a:latin typeface="Calibri"/>
                <a:cs typeface="Calibri"/>
              </a:rPr>
              <a:t> </a:t>
            </a:r>
            <a:r>
              <a:rPr sz="2700" spc="367" baseline="3086" dirty="0">
                <a:latin typeface="Cambria Math"/>
                <a:cs typeface="Cambria Math"/>
              </a:rPr>
              <a:t>σ</a:t>
            </a:r>
            <a:r>
              <a:rPr sz="2700" spc="-150" baseline="3086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𝑄𝑖𝑛</a:t>
            </a:r>
            <a:r>
              <a:rPr sz="1800" spc="-8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𝐶𝑖𝑛</a:t>
            </a:r>
            <a:r>
              <a:rPr sz="1800" spc="445" dirty="0">
                <a:latin typeface="Cambria Math"/>
                <a:cs typeface="Cambria Math"/>
              </a:rPr>
              <a:t> </a:t>
            </a:r>
            <a:r>
              <a:rPr sz="1800" dirty="0">
                <a:latin typeface="Calibri"/>
                <a:cs typeface="Calibri"/>
              </a:rPr>
              <a:t>-</a:t>
            </a:r>
            <a:r>
              <a:rPr sz="1800" spc="470" dirty="0">
                <a:latin typeface="Calibri"/>
                <a:cs typeface="Calibri"/>
              </a:rPr>
              <a:t> </a:t>
            </a:r>
            <a:r>
              <a:rPr sz="2700" spc="367" baseline="3086" dirty="0">
                <a:latin typeface="Cambria Math"/>
                <a:cs typeface="Cambria Math"/>
              </a:rPr>
              <a:t>σ</a:t>
            </a:r>
            <a:r>
              <a:rPr sz="2700" spc="-150" baseline="3086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𝑄𝑜𝑢𝑡</a:t>
            </a:r>
            <a:r>
              <a:rPr sz="1800" spc="15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𝐶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39" name="object 38">
            <a:extLst>
              <a:ext uri="{FF2B5EF4-FFF2-40B4-BE49-F238E27FC236}">
                <a16:creationId xmlns:a16="http://schemas.microsoft.com/office/drawing/2014/main" id="{10AC1C7B-5D14-45C7-4F20-2D143B85B6DF}"/>
              </a:ext>
            </a:extLst>
          </p:cNvPr>
          <p:cNvSpPr txBox="1"/>
          <p:nvPr/>
        </p:nvSpPr>
        <p:spPr>
          <a:xfrm>
            <a:off x="4754245" y="4915598"/>
            <a:ext cx="1552575" cy="1102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36550" algn="l"/>
              </a:tabLst>
            </a:pPr>
            <a:r>
              <a:rPr sz="1800" spc="-50" dirty="0">
                <a:latin typeface="Cambria Math"/>
                <a:cs typeface="Cambria Math"/>
              </a:rPr>
              <a:t>+</a:t>
            </a:r>
            <a:r>
              <a:rPr sz="1800" dirty="0">
                <a:latin typeface="Cambria Math"/>
                <a:cs typeface="Cambria Math"/>
              </a:rPr>
              <a:t>	𝑟</a:t>
            </a:r>
            <a:r>
              <a:rPr sz="1800" spc="20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𝑉</a:t>
            </a:r>
            <a:endParaRPr sz="18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150">
              <a:latin typeface="Cambria Math"/>
              <a:cs typeface="Cambria Math"/>
            </a:endParaRPr>
          </a:p>
          <a:p>
            <a:pPr marL="164465" marR="5080" indent="409575">
              <a:lnSpc>
                <a:spcPct val="100899"/>
              </a:lnSpc>
            </a:pPr>
            <a:r>
              <a:rPr sz="1550" spc="-10" dirty="0">
                <a:latin typeface="Arial"/>
                <a:cs typeface="Arial"/>
              </a:rPr>
              <a:t>kinetic transformations</a:t>
            </a:r>
            <a:endParaRPr sz="155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083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508473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200" spc="-10" dirty="0">
                <a:solidFill>
                  <a:schemeClr val="tx1"/>
                </a:solidFill>
              </a:rPr>
              <a:t>CE-</a:t>
            </a:r>
            <a:r>
              <a:rPr sz="3200" spc="-25" dirty="0">
                <a:solidFill>
                  <a:schemeClr val="tx1"/>
                </a:solidFill>
              </a:rPr>
              <a:t>QUAL-</a:t>
            </a:r>
            <a:r>
              <a:rPr sz="3200" dirty="0">
                <a:solidFill>
                  <a:schemeClr val="tx1"/>
                </a:solidFill>
              </a:rPr>
              <a:t>W2</a:t>
            </a:r>
            <a:r>
              <a:rPr sz="3200" spc="-175" dirty="0">
                <a:solidFill>
                  <a:schemeClr val="tx1"/>
                </a:solidFill>
              </a:rPr>
              <a:t> </a:t>
            </a:r>
            <a:r>
              <a:rPr sz="3200" dirty="0">
                <a:solidFill>
                  <a:schemeClr val="tx1"/>
                </a:solidFill>
              </a:rPr>
              <a:t>Water</a:t>
            </a:r>
            <a:r>
              <a:rPr sz="3200" spc="-85" dirty="0">
                <a:solidFill>
                  <a:schemeClr val="tx1"/>
                </a:solidFill>
              </a:rPr>
              <a:t> </a:t>
            </a:r>
            <a:r>
              <a:rPr sz="3200" spc="-10" dirty="0">
                <a:solidFill>
                  <a:schemeClr val="tx1"/>
                </a:solidFill>
              </a:rPr>
              <a:t>Quality</a:t>
            </a:r>
            <a:endParaRPr sz="3200">
              <a:solidFill>
                <a:schemeClr val="tx1"/>
              </a:solidFill>
            </a:endParaRPr>
          </a:p>
        </p:txBody>
      </p:sp>
      <p:sp>
        <p:nvSpPr>
          <p:cNvPr id="68" name="object 6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" dirty="0"/>
              <a:t>5</a:t>
            </a:fld>
            <a:endParaRPr spc="-5" dirty="0"/>
          </a:p>
        </p:txBody>
      </p:sp>
      <p:sp>
        <p:nvSpPr>
          <p:cNvPr id="5" name="object 5"/>
          <p:cNvSpPr/>
          <p:nvPr/>
        </p:nvSpPr>
        <p:spPr>
          <a:xfrm>
            <a:off x="1750541" y="1707910"/>
            <a:ext cx="626745" cy="0"/>
          </a:xfrm>
          <a:custGeom>
            <a:avLst/>
            <a:gdLst/>
            <a:ahLst/>
            <a:cxnLst/>
            <a:rect l="l" t="t" r="r" b="b"/>
            <a:pathLst>
              <a:path w="626744">
                <a:moveTo>
                  <a:pt x="0" y="0"/>
                </a:moveTo>
                <a:lnTo>
                  <a:pt x="626544" y="0"/>
                </a:lnTo>
              </a:path>
            </a:pathLst>
          </a:custGeom>
          <a:ln w="1283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822020" y="1707910"/>
            <a:ext cx="823594" cy="0"/>
          </a:xfrm>
          <a:custGeom>
            <a:avLst/>
            <a:gdLst/>
            <a:ahLst/>
            <a:cxnLst/>
            <a:rect l="l" t="t" r="r" b="b"/>
            <a:pathLst>
              <a:path w="823595">
                <a:moveTo>
                  <a:pt x="0" y="0"/>
                </a:moveTo>
                <a:lnTo>
                  <a:pt x="823362" y="0"/>
                </a:lnTo>
              </a:path>
            </a:pathLst>
          </a:custGeom>
          <a:ln w="1283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090290" y="1707910"/>
            <a:ext cx="875665" cy="0"/>
          </a:xfrm>
          <a:custGeom>
            <a:avLst/>
            <a:gdLst/>
            <a:ahLst/>
            <a:cxnLst/>
            <a:rect l="l" t="t" r="r" b="b"/>
            <a:pathLst>
              <a:path w="875664">
                <a:moveTo>
                  <a:pt x="0" y="0"/>
                </a:moveTo>
                <a:lnTo>
                  <a:pt x="875380" y="0"/>
                </a:lnTo>
              </a:path>
            </a:pathLst>
          </a:custGeom>
          <a:ln w="1283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6119931" y="1297535"/>
            <a:ext cx="375920" cy="0"/>
          </a:xfrm>
          <a:custGeom>
            <a:avLst/>
            <a:gdLst/>
            <a:ahLst/>
            <a:cxnLst/>
            <a:rect l="l" t="t" r="r" b="b"/>
            <a:pathLst>
              <a:path w="375920">
                <a:moveTo>
                  <a:pt x="0" y="0"/>
                </a:moveTo>
                <a:lnTo>
                  <a:pt x="375830" y="0"/>
                </a:lnTo>
              </a:path>
            </a:pathLst>
          </a:custGeom>
          <a:ln w="64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341500" y="1707910"/>
            <a:ext cx="1307465" cy="0"/>
          </a:xfrm>
          <a:custGeom>
            <a:avLst/>
            <a:gdLst/>
            <a:ahLst/>
            <a:cxnLst/>
            <a:rect l="l" t="t" r="r" b="b"/>
            <a:pathLst>
              <a:path w="1307465">
                <a:moveTo>
                  <a:pt x="0" y="0"/>
                </a:moveTo>
                <a:lnTo>
                  <a:pt x="1307007" y="0"/>
                </a:lnTo>
              </a:path>
            </a:pathLst>
          </a:custGeom>
          <a:ln w="1283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93321" y="1297535"/>
            <a:ext cx="375920" cy="0"/>
          </a:xfrm>
          <a:custGeom>
            <a:avLst/>
            <a:gdLst/>
            <a:ahLst/>
            <a:cxnLst/>
            <a:rect l="l" t="t" r="r" b="b"/>
            <a:pathLst>
              <a:path w="375920">
                <a:moveTo>
                  <a:pt x="0" y="0"/>
                </a:moveTo>
                <a:lnTo>
                  <a:pt x="375830" y="0"/>
                </a:lnTo>
              </a:path>
            </a:pathLst>
          </a:custGeom>
          <a:ln w="64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024863" y="1707910"/>
            <a:ext cx="1297305" cy="0"/>
          </a:xfrm>
          <a:custGeom>
            <a:avLst/>
            <a:gdLst/>
            <a:ahLst/>
            <a:cxnLst/>
            <a:rect l="l" t="t" r="r" b="b"/>
            <a:pathLst>
              <a:path w="1297304">
                <a:moveTo>
                  <a:pt x="0" y="0"/>
                </a:moveTo>
                <a:lnTo>
                  <a:pt x="1296772" y="0"/>
                </a:lnTo>
              </a:path>
            </a:pathLst>
          </a:custGeom>
          <a:ln w="1283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500169" y="1254268"/>
            <a:ext cx="132080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50" spc="-105" dirty="0">
                <a:latin typeface="Symbol"/>
                <a:cs typeface="Symbol"/>
              </a:rPr>
              <a:t></a:t>
            </a:r>
            <a:endParaRPr sz="2450" dirty="0">
              <a:latin typeface="Symbol"/>
              <a:cs typeface="Symbo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165435" y="1254268"/>
            <a:ext cx="132080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50" spc="-105" dirty="0">
                <a:latin typeface="Symbol"/>
                <a:cs typeface="Symbol"/>
              </a:rPr>
              <a:t></a:t>
            </a:r>
            <a:endParaRPr sz="2450">
              <a:latin typeface="Symbol"/>
              <a:cs typeface="Symbo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484022" y="1490386"/>
            <a:ext cx="1449705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280795" algn="l"/>
              </a:tabLst>
            </a:pPr>
            <a:r>
              <a:rPr sz="2450" spc="-50" dirty="0">
                <a:latin typeface="Times New Roman"/>
                <a:cs typeface="Times New Roman"/>
              </a:rPr>
              <a:t>+</a:t>
            </a:r>
            <a:r>
              <a:rPr sz="2450" dirty="0">
                <a:latin typeface="Times New Roman"/>
                <a:cs typeface="Times New Roman"/>
              </a:rPr>
              <a:t>	</a:t>
            </a:r>
            <a:r>
              <a:rPr sz="2450" spc="-110" dirty="0">
                <a:latin typeface="Times New Roman"/>
                <a:cs typeface="Times New Roman"/>
              </a:rPr>
              <a:t>+</a:t>
            </a:r>
            <a:endParaRPr sz="245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920744" y="1704469"/>
            <a:ext cx="2772410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156335" algn="l"/>
                <a:tab pos="2458720" algn="l"/>
              </a:tabLst>
            </a:pPr>
            <a:r>
              <a:rPr sz="2450" spc="-155" dirty="0">
                <a:latin typeface="Symbol"/>
                <a:cs typeface="Symbol"/>
              </a:rPr>
              <a:t></a:t>
            </a:r>
            <a:r>
              <a:rPr sz="2450" spc="-290" dirty="0">
                <a:latin typeface="Times New Roman"/>
                <a:cs typeface="Times New Roman"/>
              </a:rPr>
              <a:t> </a:t>
            </a:r>
            <a:r>
              <a:rPr sz="2450" spc="-50" dirty="0">
                <a:latin typeface="Times New Roman"/>
                <a:cs typeface="Times New Roman"/>
              </a:rPr>
              <a:t>t</a:t>
            </a:r>
            <a:r>
              <a:rPr sz="2450" dirty="0">
                <a:latin typeface="Times New Roman"/>
                <a:cs typeface="Times New Roman"/>
              </a:rPr>
              <a:t>	</a:t>
            </a:r>
            <a:r>
              <a:rPr sz="2450" spc="-155" dirty="0">
                <a:latin typeface="Symbol"/>
                <a:cs typeface="Symbol"/>
              </a:rPr>
              <a:t></a:t>
            </a:r>
            <a:r>
              <a:rPr sz="2450" spc="-290" dirty="0">
                <a:latin typeface="Times New Roman"/>
                <a:cs typeface="Times New Roman"/>
              </a:rPr>
              <a:t> </a:t>
            </a:r>
            <a:r>
              <a:rPr sz="2450" spc="-50" dirty="0">
                <a:latin typeface="Times New Roman"/>
                <a:cs typeface="Times New Roman"/>
              </a:rPr>
              <a:t>x</a:t>
            </a:r>
            <a:r>
              <a:rPr sz="2450" dirty="0">
                <a:latin typeface="Times New Roman"/>
                <a:cs typeface="Times New Roman"/>
              </a:rPr>
              <a:t>	</a:t>
            </a:r>
            <a:r>
              <a:rPr sz="2450" spc="-155" dirty="0">
                <a:latin typeface="Symbol"/>
                <a:cs typeface="Symbol"/>
              </a:rPr>
              <a:t></a:t>
            </a:r>
            <a:r>
              <a:rPr sz="2450" spc="-290" dirty="0">
                <a:latin typeface="Times New Roman"/>
                <a:cs typeface="Times New Roman"/>
              </a:rPr>
              <a:t> </a:t>
            </a:r>
            <a:r>
              <a:rPr sz="2450" spc="-60" dirty="0">
                <a:latin typeface="Times New Roman"/>
                <a:cs typeface="Times New Roman"/>
              </a:rPr>
              <a:t>z</a:t>
            </a:r>
            <a:endParaRPr sz="2450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072501" y="1490386"/>
            <a:ext cx="118110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50" spc="-95" dirty="0">
                <a:latin typeface="Times New Roman"/>
                <a:cs typeface="Times New Roman"/>
              </a:rPr>
              <a:t>-</a:t>
            </a:r>
            <a:endParaRPr sz="245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346485" y="1088058"/>
            <a:ext cx="1327785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75" spc="-600" baseline="1133" dirty="0">
                <a:latin typeface="Symbol"/>
                <a:cs typeface="Symbol"/>
              </a:rPr>
              <a:t></a:t>
            </a:r>
            <a:r>
              <a:rPr sz="3675" spc="-600" baseline="36281" dirty="0">
                <a:latin typeface="Symbol"/>
                <a:cs typeface="Symbol"/>
              </a:rPr>
              <a:t></a:t>
            </a:r>
            <a:r>
              <a:rPr sz="3675" spc="-600" baseline="2267" dirty="0">
                <a:latin typeface="Symbol"/>
                <a:cs typeface="Symbol"/>
              </a:rPr>
              <a:t></a:t>
            </a:r>
            <a:r>
              <a:rPr sz="3675" spc="-540" baseline="2267" dirty="0">
                <a:latin typeface="Times New Roman"/>
                <a:cs typeface="Times New Roman"/>
              </a:rPr>
              <a:t> </a:t>
            </a:r>
            <a:r>
              <a:rPr sz="2450" spc="-55" dirty="0">
                <a:latin typeface="Times New Roman"/>
                <a:cs typeface="Times New Roman"/>
              </a:rPr>
              <a:t>BD</a:t>
            </a:r>
            <a:r>
              <a:rPr sz="2450" spc="5" dirty="0">
                <a:latin typeface="Times New Roman"/>
                <a:cs typeface="Times New Roman"/>
              </a:rPr>
              <a:t> </a:t>
            </a:r>
            <a:r>
              <a:rPr sz="3675" spc="-509" baseline="40816" dirty="0">
                <a:latin typeface="Symbol"/>
                <a:cs typeface="Symbol"/>
              </a:rPr>
              <a:t></a:t>
            </a:r>
            <a:r>
              <a:rPr sz="3675" spc="-509" baseline="36281" dirty="0">
                <a:latin typeface="Symbol"/>
                <a:cs typeface="Symbol"/>
              </a:rPr>
              <a:t></a:t>
            </a:r>
            <a:r>
              <a:rPr sz="3675" spc="-509" baseline="2267" dirty="0">
                <a:latin typeface="Symbol"/>
                <a:cs typeface="Symbol"/>
              </a:rPr>
              <a:t></a:t>
            </a:r>
            <a:endParaRPr sz="3675" baseline="2267" dirty="0">
              <a:latin typeface="Symbol"/>
              <a:cs typeface="Symbo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826146" y="1704469"/>
            <a:ext cx="341630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50" spc="-155" dirty="0">
                <a:latin typeface="Symbol"/>
                <a:cs typeface="Symbol"/>
              </a:rPr>
              <a:t></a:t>
            </a:r>
            <a:r>
              <a:rPr sz="2450" spc="-290" dirty="0">
                <a:latin typeface="Times New Roman"/>
                <a:cs typeface="Times New Roman"/>
              </a:rPr>
              <a:t> </a:t>
            </a:r>
            <a:r>
              <a:rPr sz="2450" spc="-75" dirty="0">
                <a:latin typeface="Times New Roman"/>
                <a:cs typeface="Times New Roman"/>
              </a:rPr>
              <a:t>x</a:t>
            </a:r>
            <a:endParaRPr sz="245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755339" y="1490386"/>
            <a:ext cx="118110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50" spc="-95" dirty="0">
                <a:latin typeface="Times New Roman"/>
                <a:cs typeface="Times New Roman"/>
              </a:rPr>
              <a:t>-</a:t>
            </a:r>
            <a:endParaRPr sz="245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003298" y="1089255"/>
            <a:ext cx="1317625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75" spc="-600" baseline="1133" dirty="0">
                <a:latin typeface="Symbol"/>
                <a:cs typeface="Symbol"/>
              </a:rPr>
              <a:t></a:t>
            </a:r>
            <a:r>
              <a:rPr sz="3675" spc="-600" baseline="36281" dirty="0">
                <a:latin typeface="Symbol"/>
                <a:cs typeface="Symbol"/>
              </a:rPr>
              <a:t></a:t>
            </a:r>
            <a:r>
              <a:rPr sz="3675" spc="-600" baseline="2267" dirty="0">
                <a:latin typeface="Symbol"/>
                <a:cs typeface="Symbol"/>
              </a:rPr>
              <a:t></a:t>
            </a:r>
            <a:r>
              <a:rPr sz="3675" spc="-532" baseline="2267" dirty="0">
                <a:latin typeface="Times New Roman"/>
                <a:cs typeface="Times New Roman"/>
              </a:rPr>
              <a:t> </a:t>
            </a:r>
            <a:r>
              <a:rPr sz="2450" spc="-70" dirty="0">
                <a:latin typeface="Times New Roman"/>
                <a:cs typeface="Times New Roman"/>
              </a:rPr>
              <a:t>BD</a:t>
            </a:r>
            <a:r>
              <a:rPr sz="2450" spc="-40" dirty="0">
                <a:latin typeface="Times New Roman"/>
                <a:cs typeface="Times New Roman"/>
              </a:rPr>
              <a:t> </a:t>
            </a:r>
            <a:r>
              <a:rPr sz="3675" spc="-509" baseline="40816" dirty="0">
                <a:latin typeface="Symbol"/>
                <a:cs typeface="Symbol"/>
              </a:rPr>
              <a:t></a:t>
            </a:r>
            <a:r>
              <a:rPr sz="3675" spc="-509" baseline="36281" dirty="0">
                <a:latin typeface="Symbol"/>
                <a:cs typeface="Symbol"/>
              </a:rPr>
              <a:t></a:t>
            </a:r>
            <a:r>
              <a:rPr sz="3675" spc="-509" baseline="2267" dirty="0">
                <a:latin typeface="Symbol"/>
                <a:cs typeface="Symbol"/>
              </a:rPr>
              <a:t></a:t>
            </a:r>
            <a:endParaRPr sz="3675" baseline="2267">
              <a:latin typeface="Symbol"/>
              <a:cs typeface="Symbo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512921" y="1704469"/>
            <a:ext cx="325755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50" spc="-155" dirty="0">
                <a:latin typeface="Symbol"/>
                <a:cs typeface="Symbol"/>
              </a:rPr>
              <a:t></a:t>
            </a:r>
            <a:r>
              <a:rPr sz="2450" spc="-290" dirty="0">
                <a:latin typeface="Times New Roman"/>
                <a:cs typeface="Times New Roman"/>
              </a:rPr>
              <a:t> </a:t>
            </a:r>
            <a:r>
              <a:rPr sz="2450" spc="-65" dirty="0">
                <a:latin typeface="Times New Roman"/>
                <a:cs typeface="Times New Roman"/>
              </a:rPr>
              <a:t>z</a:t>
            </a:r>
            <a:endParaRPr sz="2450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985774" y="1288382"/>
            <a:ext cx="661670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100" baseline="51587" dirty="0">
                <a:latin typeface="Times New Roman"/>
                <a:cs typeface="Times New Roman"/>
              </a:rPr>
              <a:t>x</a:t>
            </a:r>
            <a:r>
              <a:rPr sz="2100" spc="-52" baseline="51587" dirty="0">
                <a:latin typeface="Times New Roman"/>
                <a:cs typeface="Times New Roman"/>
              </a:rPr>
              <a:t> </a:t>
            </a:r>
            <a:r>
              <a:rPr sz="2450" spc="-155" dirty="0">
                <a:latin typeface="Symbol"/>
                <a:cs typeface="Symbol"/>
              </a:rPr>
              <a:t></a:t>
            </a:r>
            <a:r>
              <a:rPr sz="2450" spc="-290" dirty="0">
                <a:latin typeface="Times New Roman"/>
                <a:cs typeface="Times New Roman"/>
              </a:rPr>
              <a:t> </a:t>
            </a:r>
            <a:r>
              <a:rPr sz="2450" spc="-155" dirty="0">
                <a:latin typeface="Times New Roman"/>
                <a:cs typeface="Times New Roman"/>
              </a:rPr>
              <a:t>x</a:t>
            </a:r>
            <a:r>
              <a:rPr sz="2450" spc="-340" dirty="0">
                <a:latin typeface="Times New Roman"/>
                <a:cs typeface="Times New Roman"/>
              </a:rPr>
              <a:t> </a:t>
            </a:r>
            <a:r>
              <a:rPr sz="3675" spc="-75" baseline="5668" dirty="0">
                <a:latin typeface="Symbol"/>
                <a:cs typeface="Symbol"/>
              </a:rPr>
              <a:t></a:t>
            </a:r>
            <a:endParaRPr sz="3675" baseline="5668" dirty="0">
              <a:latin typeface="Symbol"/>
              <a:cs typeface="Symbo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669137" y="1288382"/>
            <a:ext cx="651510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100" baseline="51587" dirty="0">
                <a:latin typeface="Times New Roman"/>
                <a:cs typeface="Times New Roman"/>
              </a:rPr>
              <a:t>z</a:t>
            </a:r>
            <a:r>
              <a:rPr sz="2100" spc="44" baseline="51587" dirty="0">
                <a:latin typeface="Times New Roman"/>
                <a:cs typeface="Times New Roman"/>
              </a:rPr>
              <a:t> </a:t>
            </a:r>
            <a:r>
              <a:rPr sz="2450" spc="-155" dirty="0">
                <a:latin typeface="Symbol"/>
                <a:cs typeface="Symbol"/>
              </a:rPr>
              <a:t></a:t>
            </a:r>
            <a:r>
              <a:rPr sz="2450" spc="-290" dirty="0">
                <a:latin typeface="Times New Roman"/>
                <a:cs typeface="Times New Roman"/>
              </a:rPr>
              <a:t> </a:t>
            </a:r>
            <a:r>
              <a:rPr sz="2450" spc="-140" dirty="0">
                <a:latin typeface="Times New Roman"/>
                <a:cs typeface="Times New Roman"/>
              </a:rPr>
              <a:t>z</a:t>
            </a:r>
            <a:r>
              <a:rPr sz="2450" spc="-280" dirty="0">
                <a:latin typeface="Times New Roman"/>
                <a:cs typeface="Times New Roman"/>
              </a:rPr>
              <a:t> </a:t>
            </a:r>
            <a:r>
              <a:rPr sz="3675" spc="-75" baseline="5668" dirty="0">
                <a:latin typeface="Symbol"/>
                <a:cs typeface="Symbol"/>
              </a:rPr>
              <a:t></a:t>
            </a:r>
            <a:endParaRPr sz="3675" baseline="5668">
              <a:latin typeface="Symbol"/>
              <a:cs typeface="Symbo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754297" y="1265649"/>
            <a:ext cx="3209925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83945" algn="l"/>
                <a:tab pos="2352040" algn="l"/>
              </a:tabLst>
            </a:pPr>
            <a:r>
              <a:rPr sz="2450" spc="-155" dirty="0">
                <a:latin typeface="Symbol"/>
                <a:cs typeface="Symbol"/>
              </a:rPr>
              <a:t></a:t>
            </a:r>
            <a:r>
              <a:rPr sz="2450" spc="-285" dirty="0">
                <a:latin typeface="Times New Roman"/>
                <a:cs typeface="Times New Roman"/>
              </a:rPr>
              <a:t> </a:t>
            </a:r>
            <a:r>
              <a:rPr sz="2450" spc="-25" dirty="0">
                <a:latin typeface="Times New Roman"/>
                <a:cs typeface="Times New Roman"/>
              </a:rPr>
              <a:t>B</a:t>
            </a:r>
            <a:r>
              <a:rPr sz="2450" spc="-25" dirty="0">
                <a:latin typeface="Symbol"/>
                <a:cs typeface="Symbol"/>
              </a:rPr>
              <a:t></a:t>
            </a:r>
            <a:r>
              <a:rPr sz="2450" dirty="0">
                <a:latin typeface="Times New Roman"/>
                <a:cs typeface="Times New Roman"/>
              </a:rPr>
              <a:t>	</a:t>
            </a:r>
            <a:r>
              <a:rPr sz="2450" spc="-155" dirty="0">
                <a:latin typeface="Symbol"/>
                <a:cs typeface="Symbol"/>
              </a:rPr>
              <a:t></a:t>
            </a:r>
            <a:r>
              <a:rPr sz="2450" spc="-285" dirty="0">
                <a:latin typeface="Times New Roman"/>
                <a:cs typeface="Times New Roman"/>
              </a:rPr>
              <a:t> </a:t>
            </a:r>
            <a:r>
              <a:rPr sz="2450" spc="-25" dirty="0">
                <a:latin typeface="Times New Roman"/>
                <a:cs typeface="Times New Roman"/>
              </a:rPr>
              <a:t>UB</a:t>
            </a:r>
            <a:r>
              <a:rPr sz="2450" spc="-25" dirty="0">
                <a:latin typeface="Symbol"/>
                <a:cs typeface="Symbol"/>
              </a:rPr>
              <a:t></a:t>
            </a:r>
            <a:r>
              <a:rPr sz="2450" dirty="0">
                <a:latin typeface="Times New Roman"/>
                <a:cs typeface="Times New Roman"/>
              </a:rPr>
              <a:t>	</a:t>
            </a:r>
            <a:r>
              <a:rPr sz="2450" spc="-155" dirty="0">
                <a:latin typeface="Symbol"/>
                <a:cs typeface="Symbol"/>
              </a:rPr>
              <a:t></a:t>
            </a:r>
            <a:r>
              <a:rPr sz="2450" spc="-355" dirty="0">
                <a:latin typeface="Times New Roman"/>
                <a:cs typeface="Times New Roman"/>
              </a:rPr>
              <a:t> </a:t>
            </a:r>
            <a:r>
              <a:rPr sz="2450" spc="-150" dirty="0">
                <a:latin typeface="Times New Roman"/>
                <a:cs typeface="Times New Roman"/>
              </a:rPr>
              <a:t>WB</a:t>
            </a:r>
            <a:r>
              <a:rPr sz="2450" spc="-150" dirty="0">
                <a:latin typeface="Symbol"/>
                <a:cs typeface="Symbol"/>
              </a:rPr>
              <a:t></a:t>
            </a:r>
            <a:endParaRPr sz="2450">
              <a:latin typeface="Symbol"/>
              <a:cs typeface="Symbo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72238" y="1490386"/>
            <a:ext cx="1136650" cy="399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371475" algn="l"/>
              </a:tabLst>
            </a:pPr>
            <a:r>
              <a:rPr sz="2450" spc="-50" dirty="0">
                <a:latin typeface="Times New Roman"/>
                <a:cs typeface="Times New Roman"/>
              </a:rPr>
              <a:t>=</a:t>
            </a:r>
            <a:r>
              <a:rPr sz="2450" dirty="0">
                <a:latin typeface="Times New Roman"/>
                <a:cs typeface="Times New Roman"/>
              </a:rPr>
              <a:t>	</a:t>
            </a:r>
            <a:r>
              <a:rPr sz="3675" spc="-112" baseline="4535" dirty="0">
                <a:latin typeface="Times New Roman"/>
                <a:cs typeface="Times New Roman"/>
              </a:rPr>
              <a:t>q</a:t>
            </a:r>
            <a:r>
              <a:rPr sz="2100" spc="-112" baseline="-23809" dirty="0">
                <a:latin typeface="Symbol"/>
                <a:cs typeface="Symbol"/>
              </a:rPr>
              <a:t></a:t>
            </a:r>
            <a:r>
              <a:rPr sz="2100" spc="7" baseline="-23809" dirty="0">
                <a:latin typeface="Times New Roman"/>
                <a:cs typeface="Times New Roman"/>
              </a:rPr>
              <a:t> </a:t>
            </a:r>
            <a:r>
              <a:rPr sz="2450" spc="-204" dirty="0">
                <a:latin typeface="Times New Roman"/>
                <a:cs typeface="Times New Roman"/>
              </a:rPr>
              <a:t>B</a:t>
            </a:r>
            <a:r>
              <a:rPr sz="2450" spc="-85" dirty="0">
                <a:latin typeface="Times New Roman"/>
                <a:cs typeface="Times New Roman"/>
              </a:rPr>
              <a:t> </a:t>
            </a:r>
            <a:r>
              <a:rPr sz="2450" spc="-50" dirty="0">
                <a:latin typeface="Times New Roman"/>
                <a:cs typeface="Times New Roman"/>
              </a:rPr>
              <a:t>+</a:t>
            </a:r>
            <a:endParaRPr sz="245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667875" y="1543050"/>
            <a:ext cx="609600" cy="371475"/>
          </a:xfrm>
          <a:prstGeom prst="rect">
            <a:avLst/>
          </a:prstGeom>
          <a:ln w="38100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54610">
              <a:lnSpc>
                <a:spcPts val="2705"/>
              </a:lnSpc>
            </a:pPr>
            <a:r>
              <a:rPr sz="2450" spc="-160" dirty="0">
                <a:latin typeface="Times New Roman"/>
                <a:cs typeface="Times New Roman"/>
              </a:rPr>
              <a:t>S</a:t>
            </a:r>
            <a:r>
              <a:rPr sz="2100" spc="-240" baseline="-9920" dirty="0">
                <a:latin typeface="Symbol"/>
                <a:cs typeface="Symbol"/>
              </a:rPr>
              <a:t></a:t>
            </a:r>
            <a:r>
              <a:rPr sz="2100" spc="37" baseline="-9920" dirty="0">
                <a:latin typeface="Times New Roman"/>
                <a:cs typeface="Times New Roman"/>
              </a:rPr>
              <a:t> </a:t>
            </a:r>
            <a:r>
              <a:rPr sz="3675" spc="-75" baseline="2267" dirty="0">
                <a:latin typeface="Times New Roman"/>
                <a:cs typeface="Times New Roman"/>
              </a:rPr>
              <a:t>B</a:t>
            </a:r>
            <a:endParaRPr sz="3675" baseline="2267">
              <a:latin typeface="Times New Roman"/>
              <a:cs typeface="Times New Roman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1732597" y="2361222"/>
            <a:ext cx="8679180" cy="3958590"/>
            <a:chOff x="1732597" y="2361222"/>
            <a:chExt cx="8679180" cy="3958590"/>
          </a:xfrm>
        </p:grpSpPr>
        <p:sp>
          <p:nvSpPr>
            <p:cNvPr id="28" name="object 28"/>
            <p:cNvSpPr/>
            <p:nvPr/>
          </p:nvSpPr>
          <p:spPr>
            <a:xfrm>
              <a:off x="8217085" y="6280553"/>
              <a:ext cx="1178560" cy="10795"/>
            </a:xfrm>
            <a:custGeom>
              <a:avLst/>
              <a:gdLst/>
              <a:ahLst/>
              <a:cxnLst/>
              <a:rect l="l" t="t" r="r" b="b"/>
              <a:pathLst>
                <a:path w="1178559" h="10795">
                  <a:moveTo>
                    <a:pt x="1177936" y="0"/>
                  </a:moveTo>
                  <a:lnTo>
                    <a:pt x="0" y="0"/>
                  </a:lnTo>
                  <a:lnTo>
                    <a:pt x="0" y="10439"/>
                  </a:lnTo>
                  <a:lnTo>
                    <a:pt x="1177936" y="10439"/>
                  </a:lnTo>
                  <a:lnTo>
                    <a:pt x="11779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9367618" y="6251920"/>
              <a:ext cx="97790" cy="67945"/>
            </a:xfrm>
            <a:custGeom>
              <a:avLst/>
              <a:gdLst/>
              <a:ahLst/>
              <a:cxnLst/>
              <a:rect l="l" t="t" r="r" b="b"/>
              <a:pathLst>
                <a:path w="97790" h="67945">
                  <a:moveTo>
                    <a:pt x="0" y="0"/>
                  </a:moveTo>
                  <a:lnTo>
                    <a:pt x="14376" y="33852"/>
                  </a:lnTo>
                  <a:lnTo>
                    <a:pt x="0" y="67704"/>
                  </a:lnTo>
                  <a:lnTo>
                    <a:pt x="97487" y="338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743075" y="4727659"/>
              <a:ext cx="8580120" cy="781050"/>
            </a:xfrm>
            <a:custGeom>
              <a:avLst/>
              <a:gdLst/>
              <a:ahLst/>
              <a:cxnLst/>
              <a:rect l="l" t="t" r="r" b="b"/>
              <a:pathLst>
                <a:path w="8580120" h="781050">
                  <a:moveTo>
                    <a:pt x="0" y="245926"/>
                  </a:moveTo>
                  <a:lnTo>
                    <a:pt x="76555" y="239672"/>
                  </a:lnTo>
                  <a:lnTo>
                    <a:pt x="123499" y="239672"/>
                  </a:lnTo>
                  <a:lnTo>
                    <a:pt x="170805" y="226564"/>
                  </a:lnTo>
                  <a:lnTo>
                    <a:pt x="217752" y="213576"/>
                  </a:lnTo>
                  <a:lnTo>
                    <a:pt x="281306" y="213576"/>
                  </a:lnTo>
                  <a:lnTo>
                    <a:pt x="344500" y="213576"/>
                  </a:lnTo>
                  <a:lnTo>
                    <a:pt x="408054" y="213576"/>
                  </a:lnTo>
                  <a:lnTo>
                    <a:pt x="455001" y="213576"/>
                  </a:lnTo>
                  <a:lnTo>
                    <a:pt x="516743" y="226564"/>
                  </a:lnTo>
                  <a:lnTo>
                    <a:pt x="580297" y="251217"/>
                  </a:lnTo>
                  <a:lnTo>
                    <a:pt x="657943" y="277192"/>
                  </a:lnTo>
                  <a:lnTo>
                    <a:pt x="721497" y="315194"/>
                  </a:lnTo>
                  <a:lnTo>
                    <a:pt x="768444" y="326738"/>
                  </a:lnTo>
                  <a:lnTo>
                    <a:pt x="815750" y="339726"/>
                  </a:lnTo>
                  <a:lnTo>
                    <a:pt x="910003" y="352714"/>
                  </a:lnTo>
                  <a:lnTo>
                    <a:pt x="1004256" y="377367"/>
                  </a:lnTo>
                  <a:lnTo>
                    <a:pt x="1083698" y="390355"/>
                  </a:lnTo>
                  <a:lnTo>
                    <a:pt x="1145441" y="390355"/>
                  </a:lnTo>
                  <a:lnTo>
                    <a:pt x="1177936" y="390355"/>
                  </a:lnTo>
                  <a:lnTo>
                    <a:pt x="1225243" y="390355"/>
                  </a:lnTo>
                  <a:lnTo>
                    <a:pt x="1287000" y="377367"/>
                  </a:lnTo>
                  <a:lnTo>
                    <a:pt x="1507986" y="377367"/>
                  </a:lnTo>
                  <a:lnTo>
                    <a:pt x="1602179" y="377367"/>
                  </a:lnTo>
                  <a:lnTo>
                    <a:pt x="1680199" y="352714"/>
                  </a:lnTo>
                  <a:lnTo>
                    <a:pt x="1759717" y="352714"/>
                  </a:lnTo>
                  <a:lnTo>
                    <a:pt x="1979251" y="339726"/>
                  </a:lnTo>
                  <a:lnTo>
                    <a:pt x="2042446" y="302086"/>
                  </a:lnTo>
                  <a:lnTo>
                    <a:pt x="2089767" y="251217"/>
                  </a:lnTo>
                  <a:lnTo>
                    <a:pt x="2120466" y="213576"/>
                  </a:lnTo>
                  <a:lnTo>
                    <a:pt x="2152961" y="188683"/>
                  </a:lnTo>
                  <a:lnTo>
                    <a:pt x="2214659" y="138055"/>
                  </a:lnTo>
                  <a:lnTo>
                    <a:pt x="2278303" y="113162"/>
                  </a:lnTo>
                  <a:lnTo>
                    <a:pt x="2341497" y="88629"/>
                  </a:lnTo>
                  <a:lnTo>
                    <a:pt x="2388818" y="62533"/>
                  </a:lnTo>
                  <a:lnTo>
                    <a:pt x="2450516" y="37640"/>
                  </a:lnTo>
                  <a:lnTo>
                    <a:pt x="2513710" y="37640"/>
                  </a:lnTo>
                  <a:lnTo>
                    <a:pt x="2607903" y="24652"/>
                  </a:lnTo>
                  <a:lnTo>
                    <a:pt x="2671547" y="24652"/>
                  </a:lnTo>
                  <a:lnTo>
                    <a:pt x="2749567" y="24652"/>
                  </a:lnTo>
                  <a:lnTo>
                    <a:pt x="2843760" y="49545"/>
                  </a:lnTo>
                  <a:lnTo>
                    <a:pt x="2890632" y="62533"/>
                  </a:lnTo>
                  <a:lnTo>
                    <a:pt x="2923128" y="75521"/>
                  </a:lnTo>
                  <a:lnTo>
                    <a:pt x="2970449" y="126149"/>
                  </a:lnTo>
                  <a:lnTo>
                    <a:pt x="3017471" y="151043"/>
                  </a:lnTo>
                  <a:lnTo>
                    <a:pt x="3079168" y="188683"/>
                  </a:lnTo>
                  <a:lnTo>
                    <a:pt x="3173511" y="226564"/>
                  </a:lnTo>
                  <a:lnTo>
                    <a:pt x="3237005" y="251217"/>
                  </a:lnTo>
                  <a:lnTo>
                    <a:pt x="3300199" y="289098"/>
                  </a:lnTo>
                  <a:lnTo>
                    <a:pt x="3363694" y="302086"/>
                  </a:lnTo>
                  <a:lnTo>
                    <a:pt x="3458036" y="315194"/>
                  </a:lnTo>
                  <a:lnTo>
                    <a:pt x="3677121" y="315194"/>
                  </a:lnTo>
                  <a:lnTo>
                    <a:pt x="3724442" y="315194"/>
                  </a:lnTo>
                  <a:lnTo>
                    <a:pt x="3771464" y="302086"/>
                  </a:lnTo>
                  <a:lnTo>
                    <a:pt x="3818785" y="251217"/>
                  </a:lnTo>
                  <a:lnTo>
                    <a:pt x="3881980" y="226564"/>
                  </a:lnTo>
                  <a:lnTo>
                    <a:pt x="4134010" y="213576"/>
                  </a:lnTo>
                  <a:lnTo>
                    <a:pt x="4195707" y="188683"/>
                  </a:lnTo>
                  <a:lnTo>
                    <a:pt x="4242729" y="164151"/>
                  </a:lnTo>
                  <a:lnTo>
                    <a:pt x="4322546" y="164151"/>
                  </a:lnTo>
                  <a:lnTo>
                    <a:pt x="4416739" y="151043"/>
                  </a:lnTo>
                  <a:lnTo>
                    <a:pt x="4478436" y="138055"/>
                  </a:lnTo>
                  <a:lnTo>
                    <a:pt x="4510932" y="126149"/>
                  </a:lnTo>
                  <a:lnTo>
                    <a:pt x="4557953" y="126149"/>
                  </a:lnTo>
                  <a:lnTo>
                    <a:pt x="4605274" y="113162"/>
                  </a:lnTo>
                  <a:lnTo>
                    <a:pt x="4652146" y="113162"/>
                  </a:lnTo>
                  <a:lnTo>
                    <a:pt x="4699467" y="113162"/>
                  </a:lnTo>
                  <a:lnTo>
                    <a:pt x="5155907" y="113162"/>
                  </a:lnTo>
                  <a:lnTo>
                    <a:pt x="5233927" y="126149"/>
                  </a:lnTo>
                  <a:lnTo>
                    <a:pt x="5311947" y="126149"/>
                  </a:lnTo>
                  <a:lnTo>
                    <a:pt x="5359268" y="126149"/>
                  </a:lnTo>
                  <a:lnTo>
                    <a:pt x="5391764" y="126149"/>
                  </a:lnTo>
                  <a:lnTo>
                    <a:pt x="5406140" y="100174"/>
                  </a:lnTo>
                  <a:lnTo>
                    <a:pt x="5485957" y="49545"/>
                  </a:lnTo>
                  <a:lnTo>
                    <a:pt x="5563977" y="37640"/>
                  </a:lnTo>
                  <a:lnTo>
                    <a:pt x="5627171" y="11664"/>
                  </a:lnTo>
                  <a:lnTo>
                    <a:pt x="5674492" y="11664"/>
                  </a:lnTo>
                  <a:lnTo>
                    <a:pt x="5752512" y="0"/>
                  </a:lnTo>
                  <a:lnTo>
                    <a:pt x="5799384" y="0"/>
                  </a:lnTo>
                  <a:lnTo>
                    <a:pt x="5893727" y="0"/>
                  </a:lnTo>
                  <a:lnTo>
                    <a:pt x="6145757" y="24652"/>
                  </a:lnTo>
                  <a:lnTo>
                    <a:pt x="6223777" y="49545"/>
                  </a:lnTo>
                  <a:lnTo>
                    <a:pt x="6270649" y="75521"/>
                  </a:lnTo>
                  <a:lnTo>
                    <a:pt x="6334293" y="100174"/>
                  </a:lnTo>
                  <a:lnTo>
                    <a:pt x="6555175" y="126149"/>
                  </a:lnTo>
                  <a:lnTo>
                    <a:pt x="6633195" y="151043"/>
                  </a:lnTo>
                  <a:lnTo>
                    <a:pt x="6680216" y="175695"/>
                  </a:lnTo>
                  <a:lnTo>
                    <a:pt x="6711215" y="201671"/>
                  </a:lnTo>
                  <a:lnTo>
                    <a:pt x="6774409" y="226564"/>
                  </a:lnTo>
                  <a:lnTo>
                    <a:pt x="6868752" y="277192"/>
                  </a:lnTo>
                  <a:lnTo>
                    <a:pt x="6932246" y="315194"/>
                  </a:lnTo>
                  <a:lnTo>
                    <a:pt x="6995441" y="364619"/>
                  </a:lnTo>
                  <a:lnTo>
                    <a:pt x="7026439" y="390355"/>
                  </a:lnTo>
                  <a:lnTo>
                    <a:pt x="7089634" y="452888"/>
                  </a:lnTo>
                  <a:lnTo>
                    <a:pt x="7120782" y="478864"/>
                  </a:lnTo>
                  <a:lnTo>
                    <a:pt x="7167654" y="503757"/>
                  </a:lnTo>
                  <a:lnTo>
                    <a:pt x="7245674" y="554385"/>
                  </a:lnTo>
                  <a:lnTo>
                    <a:pt x="7309318" y="592266"/>
                  </a:lnTo>
                  <a:lnTo>
                    <a:pt x="7372513" y="629907"/>
                  </a:lnTo>
                  <a:lnTo>
                    <a:pt x="7434210" y="667788"/>
                  </a:lnTo>
                  <a:lnTo>
                    <a:pt x="7528403" y="705429"/>
                  </a:lnTo>
                  <a:lnTo>
                    <a:pt x="7592047" y="730322"/>
                  </a:lnTo>
                  <a:lnTo>
                    <a:pt x="7655241" y="743310"/>
                  </a:lnTo>
                  <a:lnTo>
                    <a:pt x="7749434" y="767962"/>
                  </a:lnTo>
                  <a:lnTo>
                    <a:pt x="7812929" y="780950"/>
                  </a:lnTo>
                  <a:lnTo>
                    <a:pt x="7859950" y="780950"/>
                  </a:lnTo>
                  <a:lnTo>
                    <a:pt x="7921647" y="780950"/>
                  </a:lnTo>
                  <a:lnTo>
                    <a:pt x="8284193" y="780950"/>
                  </a:lnTo>
                  <a:lnTo>
                    <a:pt x="8331215" y="767962"/>
                  </a:lnTo>
                  <a:lnTo>
                    <a:pt x="8409235" y="767962"/>
                  </a:lnTo>
                  <a:lnTo>
                    <a:pt x="8441731" y="767962"/>
                  </a:lnTo>
                  <a:lnTo>
                    <a:pt x="8489052" y="767962"/>
                  </a:lnTo>
                  <a:lnTo>
                    <a:pt x="8579950" y="745955"/>
                  </a:lnTo>
                </a:path>
              </a:pathLst>
            </a:custGeom>
            <a:ln w="20921">
              <a:solidFill>
                <a:srgbClr val="FF33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210585" y="5532060"/>
              <a:ext cx="13335" cy="756920"/>
            </a:xfrm>
            <a:custGeom>
              <a:avLst/>
              <a:gdLst/>
              <a:ahLst/>
              <a:cxnLst/>
              <a:rect l="l" t="t" r="r" b="b"/>
              <a:pathLst>
                <a:path w="13334" h="756920">
                  <a:moveTo>
                    <a:pt x="0" y="756309"/>
                  </a:moveTo>
                  <a:lnTo>
                    <a:pt x="12999" y="756309"/>
                  </a:lnTo>
                  <a:lnTo>
                    <a:pt x="12999" y="0"/>
                  </a:lnTo>
                  <a:lnTo>
                    <a:pt x="0" y="0"/>
                  </a:lnTo>
                  <a:lnTo>
                    <a:pt x="0" y="7563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174855" y="5473615"/>
              <a:ext cx="84455" cy="78740"/>
            </a:xfrm>
            <a:custGeom>
              <a:avLst/>
              <a:gdLst/>
              <a:ahLst/>
              <a:cxnLst/>
              <a:rect l="l" t="t" r="r" b="b"/>
              <a:pathLst>
                <a:path w="84454" h="78739">
                  <a:moveTo>
                    <a:pt x="42229" y="0"/>
                  </a:moveTo>
                  <a:lnTo>
                    <a:pt x="0" y="78167"/>
                  </a:lnTo>
                  <a:lnTo>
                    <a:pt x="42229" y="66261"/>
                  </a:lnTo>
                  <a:lnTo>
                    <a:pt x="84459" y="78167"/>
                  </a:lnTo>
                  <a:lnTo>
                    <a:pt x="4222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055080" y="2371700"/>
              <a:ext cx="8346440" cy="790575"/>
            </a:xfrm>
            <a:custGeom>
              <a:avLst/>
              <a:gdLst/>
              <a:ahLst/>
              <a:cxnLst/>
              <a:rect l="l" t="t" r="r" b="b"/>
              <a:pathLst>
                <a:path w="8346440" h="790575">
                  <a:moveTo>
                    <a:pt x="0" y="165233"/>
                  </a:moveTo>
                  <a:lnTo>
                    <a:pt x="63554" y="226564"/>
                  </a:lnTo>
                  <a:lnTo>
                    <a:pt x="96049" y="264084"/>
                  </a:lnTo>
                  <a:lnTo>
                    <a:pt x="142996" y="302086"/>
                  </a:lnTo>
                  <a:lnTo>
                    <a:pt x="204738" y="326618"/>
                  </a:lnTo>
                  <a:lnTo>
                    <a:pt x="284555" y="377607"/>
                  </a:lnTo>
                  <a:lnTo>
                    <a:pt x="503745" y="415128"/>
                  </a:lnTo>
                  <a:lnTo>
                    <a:pt x="566940" y="441223"/>
                  </a:lnTo>
                  <a:lnTo>
                    <a:pt x="630494" y="441223"/>
                  </a:lnTo>
                  <a:lnTo>
                    <a:pt x="708499" y="453009"/>
                  </a:lnTo>
                  <a:lnTo>
                    <a:pt x="755445" y="466117"/>
                  </a:lnTo>
                  <a:lnTo>
                    <a:pt x="802737" y="466117"/>
                  </a:lnTo>
                  <a:lnTo>
                    <a:pt x="849683" y="466117"/>
                  </a:lnTo>
                  <a:lnTo>
                    <a:pt x="896990" y="453009"/>
                  </a:lnTo>
                  <a:lnTo>
                    <a:pt x="974995" y="453009"/>
                  </a:lnTo>
                  <a:lnTo>
                    <a:pt x="1054437" y="453009"/>
                  </a:lnTo>
                  <a:lnTo>
                    <a:pt x="1116194" y="453009"/>
                  </a:lnTo>
                  <a:lnTo>
                    <a:pt x="1148690" y="441223"/>
                  </a:lnTo>
                  <a:lnTo>
                    <a:pt x="1212304" y="403583"/>
                  </a:lnTo>
                  <a:lnTo>
                    <a:pt x="1259176" y="377607"/>
                  </a:lnTo>
                  <a:lnTo>
                    <a:pt x="1320873" y="364499"/>
                  </a:lnTo>
                  <a:lnTo>
                    <a:pt x="1400690" y="352714"/>
                  </a:lnTo>
                  <a:lnTo>
                    <a:pt x="1447712" y="352714"/>
                  </a:lnTo>
                  <a:lnTo>
                    <a:pt x="1495033" y="326618"/>
                  </a:lnTo>
                  <a:lnTo>
                    <a:pt x="1541905" y="326618"/>
                  </a:lnTo>
                  <a:lnTo>
                    <a:pt x="1589226" y="302086"/>
                  </a:lnTo>
                  <a:lnTo>
                    <a:pt x="1667246" y="288978"/>
                  </a:lnTo>
                  <a:lnTo>
                    <a:pt x="1761439" y="288978"/>
                  </a:lnTo>
                  <a:lnTo>
                    <a:pt x="1855782" y="288978"/>
                  </a:lnTo>
                  <a:lnTo>
                    <a:pt x="1918976" y="302086"/>
                  </a:lnTo>
                  <a:lnTo>
                    <a:pt x="1966297" y="315074"/>
                  </a:lnTo>
                  <a:lnTo>
                    <a:pt x="2060491" y="326618"/>
                  </a:lnTo>
                  <a:lnTo>
                    <a:pt x="2138510" y="339606"/>
                  </a:lnTo>
                  <a:lnTo>
                    <a:pt x="2201705" y="352714"/>
                  </a:lnTo>
                  <a:lnTo>
                    <a:pt x="2249026" y="364499"/>
                  </a:lnTo>
                  <a:lnTo>
                    <a:pt x="2312221" y="390595"/>
                  </a:lnTo>
                  <a:lnTo>
                    <a:pt x="2390241" y="415128"/>
                  </a:lnTo>
                  <a:lnTo>
                    <a:pt x="2484434" y="441223"/>
                  </a:lnTo>
                  <a:lnTo>
                    <a:pt x="2547928" y="453009"/>
                  </a:lnTo>
                  <a:lnTo>
                    <a:pt x="2625948" y="466117"/>
                  </a:lnTo>
                  <a:lnTo>
                    <a:pt x="2877679" y="479104"/>
                  </a:lnTo>
                  <a:lnTo>
                    <a:pt x="2955699" y="479104"/>
                  </a:lnTo>
                  <a:lnTo>
                    <a:pt x="3051689" y="479104"/>
                  </a:lnTo>
                  <a:lnTo>
                    <a:pt x="3584800" y="479104"/>
                  </a:lnTo>
                  <a:lnTo>
                    <a:pt x="3680491" y="466117"/>
                  </a:lnTo>
                  <a:lnTo>
                    <a:pt x="3930724" y="466117"/>
                  </a:lnTo>
                  <a:lnTo>
                    <a:pt x="4010541" y="453009"/>
                  </a:lnTo>
                  <a:lnTo>
                    <a:pt x="4057412" y="441223"/>
                  </a:lnTo>
                  <a:lnTo>
                    <a:pt x="4119259" y="415128"/>
                  </a:lnTo>
                  <a:lnTo>
                    <a:pt x="4340141" y="390595"/>
                  </a:lnTo>
                  <a:lnTo>
                    <a:pt x="4592171" y="364499"/>
                  </a:lnTo>
                  <a:lnTo>
                    <a:pt x="4639193" y="326618"/>
                  </a:lnTo>
                  <a:lnTo>
                    <a:pt x="4733386" y="302086"/>
                  </a:lnTo>
                  <a:lnTo>
                    <a:pt x="4985416" y="277192"/>
                  </a:lnTo>
                  <a:lnTo>
                    <a:pt x="5032438" y="239552"/>
                  </a:lnTo>
                  <a:lnTo>
                    <a:pt x="5094135" y="188563"/>
                  </a:lnTo>
                  <a:lnTo>
                    <a:pt x="5141456" y="151043"/>
                  </a:lnTo>
                  <a:lnTo>
                    <a:pt x="5204651" y="126149"/>
                  </a:lnTo>
                  <a:lnTo>
                    <a:pt x="5282670" y="113402"/>
                  </a:lnTo>
                  <a:lnTo>
                    <a:pt x="5346314" y="88509"/>
                  </a:lnTo>
                  <a:lnTo>
                    <a:pt x="5393186" y="62413"/>
                  </a:lnTo>
                  <a:lnTo>
                    <a:pt x="5440507" y="37881"/>
                  </a:lnTo>
                  <a:lnTo>
                    <a:pt x="5503702" y="11785"/>
                  </a:lnTo>
                  <a:lnTo>
                    <a:pt x="5581722" y="0"/>
                  </a:lnTo>
                  <a:lnTo>
                    <a:pt x="5645216" y="0"/>
                  </a:lnTo>
                  <a:lnTo>
                    <a:pt x="5723236" y="0"/>
                  </a:lnTo>
                  <a:lnTo>
                    <a:pt x="5817429" y="0"/>
                  </a:lnTo>
                  <a:lnTo>
                    <a:pt x="5896947" y="0"/>
                  </a:lnTo>
                  <a:lnTo>
                    <a:pt x="5944268" y="0"/>
                  </a:lnTo>
                  <a:lnTo>
                    <a:pt x="5991140" y="0"/>
                  </a:lnTo>
                  <a:lnTo>
                    <a:pt x="6054784" y="11785"/>
                  </a:lnTo>
                  <a:lnTo>
                    <a:pt x="6148977" y="50868"/>
                  </a:lnTo>
                  <a:lnTo>
                    <a:pt x="6226997" y="100414"/>
                  </a:lnTo>
                  <a:lnTo>
                    <a:pt x="6290191" y="126149"/>
                  </a:lnTo>
                  <a:lnTo>
                    <a:pt x="6351889" y="151043"/>
                  </a:lnTo>
                  <a:lnTo>
                    <a:pt x="6572920" y="188563"/>
                  </a:lnTo>
                  <a:lnTo>
                    <a:pt x="6792454" y="226564"/>
                  </a:lnTo>
                  <a:lnTo>
                    <a:pt x="6839476" y="264084"/>
                  </a:lnTo>
                  <a:lnTo>
                    <a:pt x="6871972" y="277192"/>
                  </a:lnTo>
                  <a:lnTo>
                    <a:pt x="6919293" y="302086"/>
                  </a:lnTo>
                  <a:lnTo>
                    <a:pt x="6980990" y="339606"/>
                  </a:lnTo>
                  <a:lnTo>
                    <a:pt x="7013486" y="352714"/>
                  </a:lnTo>
                  <a:lnTo>
                    <a:pt x="7075183" y="377607"/>
                  </a:lnTo>
                  <a:lnTo>
                    <a:pt x="7138378" y="403583"/>
                  </a:lnTo>
                  <a:lnTo>
                    <a:pt x="7185699" y="428236"/>
                  </a:lnTo>
                  <a:lnTo>
                    <a:pt x="7248894" y="453009"/>
                  </a:lnTo>
                  <a:lnTo>
                    <a:pt x="7343236" y="479104"/>
                  </a:lnTo>
                  <a:lnTo>
                    <a:pt x="7437429" y="503757"/>
                  </a:lnTo>
                  <a:lnTo>
                    <a:pt x="7484751" y="516745"/>
                  </a:lnTo>
                  <a:lnTo>
                    <a:pt x="7562771" y="554626"/>
                  </a:lnTo>
                  <a:lnTo>
                    <a:pt x="7609642" y="579158"/>
                  </a:lnTo>
                  <a:lnTo>
                    <a:pt x="7656964" y="604052"/>
                  </a:lnTo>
                  <a:lnTo>
                    <a:pt x="7689459" y="641692"/>
                  </a:lnTo>
                  <a:lnTo>
                    <a:pt x="7751306" y="692321"/>
                  </a:lnTo>
                  <a:lnTo>
                    <a:pt x="7798178" y="730202"/>
                  </a:lnTo>
                  <a:lnTo>
                    <a:pt x="7845499" y="756297"/>
                  </a:lnTo>
                  <a:lnTo>
                    <a:pt x="7877995" y="756297"/>
                  </a:lnTo>
                  <a:lnTo>
                    <a:pt x="7956015" y="756297"/>
                  </a:lnTo>
                  <a:lnTo>
                    <a:pt x="8002887" y="756297"/>
                  </a:lnTo>
                  <a:lnTo>
                    <a:pt x="8035383" y="756297"/>
                  </a:lnTo>
                  <a:lnTo>
                    <a:pt x="8097230" y="743310"/>
                  </a:lnTo>
                  <a:lnTo>
                    <a:pt x="8144551" y="743310"/>
                  </a:lnTo>
                  <a:lnTo>
                    <a:pt x="8177047" y="743310"/>
                  </a:lnTo>
                  <a:lnTo>
                    <a:pt x="8254917" y="767842"/>
                  </a:lnTo>
                  <a:lnTo>
                    <a:pt x="8301939" y="780830"/>
                  </a:lnTo>
                  <a:lnTo>
                    <a:pt x="8345965" y="790090"/>
                  </a:lnTo>
                </a:path>
              </a:pathLst>
            </a:custGeom>
            <a:ln w="20924">
              <a:solidFill>
                <a:srgbClr val="FF33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636514" y="2849371"/>
              <a:ext cx="795020" cy="2064385"/>
            </a:xfrm>
            <a:custGeom>
              <a:avLst/>
              <a:gdLst/>
              <a:ahLst/>
              <a:cxnLst/>
              <a:rect l="l" t="t" r="r" b="b"/>
              <a:pathLst>
                <a:path w="795020" h="2064385">
                  <a:moveTo>
                    <a:pt x="794486" y="1119416"/>
                  </a:moveTo>
                  <a:lnTo>
                    <a:pt x="13004" y="1119416"/>
                  </a:lnTo>
                  <a:lnTo>
                    <a:pt x="13004" y="0"/>
                  </a:lnTo>
                  <a:lnTo>
                    <a:pt x="0" y="0"/>
                  </a:lnTo>
                  <a:lnTo>
                    <a:pt x="0" y="2064334"/>
                  </a:lnTo>
                  <a:lnTo>
                    <a:pt x="13004" y="2064334"/>
                  </a:lnTo>
                  <a:lnTo>
                    <a:pt x="13004" y="1129868"/>
                  </a:lnTo>
                  <a:lnTo>
                    <a:pt x="794486" y="1129868"/>
                  </a:lnTo>
                  <a:lnTo>
                    <a:pt x="794486" y="11194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6403607" y="3940095"/>
              <a:ext cx="97790" cy="67945"/>
            </a:xfrm>
            <a:custGeom>
              <a:avLst/>
              <a:gdLst/>
              <a:ahLst/>
              <a:cxnLst/>
              <a:rect l="l" t="t" r="r" b="b"/>
              <a:pathLst>
                <a:path w="97789" h="67945">
                  <a:moveTo>
                    <a:pt x="0" y="0"/>
                  </a:moveTo>
                  <a:lnTo>
                    <a:pt x="14376" y="33912"/>
                  </a:lnTo>
                  <a:lnTo>
                    <a:pt x="0" y="67704"/>
                  </a:lnTo>
                  <a:lnTo>
                    <a:pt x="97487" y="33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5643025" y="3656239"/>
              <a:ext cx="398145" cy="10795"/>
            </a:xfrm>
            <a:custGeom>
              <a:avLst/>
              <a:gdLst/>
              <a:ahLst/>
              <a:cxnLst/>
              <a:rect l="l" t="t" r="r" b="b"/>
              <a:pathLst>
                <a:path w="398145" h="10795">
                  <a:moveTo>
                    <a:pt x="398036" y="0"/>
                  </a:moveTo>
                  <a:lnTo>
                    <a:pt x="0" y="0"/>
                  </a:lnTo>
                  <a:lnTo>
                    <a:pt x="0" y="10439"/>
                  </a:lnTo>
                  <a:lnTo>
                    <a:pt x="398036" y="10439"/>
                  </a:lnTo>
                  <a:lnTo>
                    <a:pt x="3980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6013507" y="3627666"/>
              <a:ext cx="97790" cy="67945"/>
            </a:xfrm>
            <a:custGeom>
              <a:avLst/>
              <a:gdLst/>
              <a:ahLst/>
              <a:cxnLst/>
              <a:rect l="l" t="t" r="r" b="b"/>
              <a:pathLst>
                <a:path w="97789" h="67945">
                  <a:moveTo>
                    <a:pt x="0" y="0"/>
                  </a:moveTo>
                  <a:lnTo>
                    <a:pt x="14525" y="33792"/>
                  </a:lnTo>
                  <a:lnTo>
                    <a:pt x="0" y="67704"/>
                  </a:lnTo>
                  <a:lnTo>
                    <a:pt x="97637" y="337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643025" y="4281216"/>
              <a:ext cx="944244" cy="10795"/>
            </a:xfrm>
            <a:custGeom>
              <a:avLst/>
              <a:gdLst/>
              <a:ahLst/>
              <a:cxnLst/>
              <a:rect l="l" t="t" r="r" b="b"/>
              <a:pathLst>
                <a:path w="944245" h="10795">
                  <a:moveTo>
                    <a:pt x="944026" y="0"/>
                  </a:moveTo>
                  <a:lnTo>
                    <a:pt x="0" y="0"/>
                  </a:lnTo>
                  <a:lnTo>
                    <a:pt x="0" y="10439"/>
                  </a:lnTo>
                  <a:lnTo>
                    <a:pt x="944026" y="10439"/>
                  </a:lnTo>
                  <a:lnTo>
                    <a:pt x="9440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559497" y="4252643"/>
              <a:ext cx="97790" cy="67945"/>
            </a:xfrm>
            <a:custGeom>
              <a:avLst/>
              <a:gdLst/>
              <a:ahLst/>
              <a:cxnLst/>
              <a:rect l="l" t="t" r="r" b="b"/>
              <a:pathLst>
                <a:path w="97790" h="67945">
                  <a:moveTo>
                    <a:pt x="0" y="0"/>
                  </a:moveTo>
                  <a:lnTo>
                    <a:pt x="14525" y="33792"/>
                  </a:lnTo>
                  <a:lnTo>
                    <a:pt x="0" y="67704"/>
                  </a:lnTo>
                  <a:lnTo>
                    <a:pt x="97637" y="337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5643025" y="4655937"/>
              <a:ext cx="320040" cy="10795"/>
            </a:xfrm>
            <a:custGeom>
              <a:avLst/>
              <a:gdLst/>
              <a:ahLst/>
              <a:cxnLst/>
              <a:rect l="l" t="t" r="r" b="b"/>
              <a:pathLst>
                <a:path w="320039" h="10795">
                  <a:moveTo>
                    <a:pt x="320016" y="0"/>
                  </a:moveTo>
                  <a:lnTo>
                    <a:pt x="0" y="0"/>
                  </a:lnTo>
                  <a:lnTo>
                    <a:pt x="0" y="10439"/>
                  </a:lnTo>
                  <a:lnTo>
                    <a:pt x="320016" y="10439"/>
                  </a:lnTo>
                  <a:lnTo>
                    <a:pt x="32001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935637" y="4627365"/>
              <a:ext cx="97790" cy="67945"/>
            </a:xfrm>
            <a:custGeom>
              <a:avLst/>
              <a:gdLst/>
              <a:ahLst/>
              <a:cxnLst/>
              <a:rect l="l" t="t" r="r" b="b"/>
              <a:pathLst>
                <a:path w="97789" h="67945">
                  <a:moveTo>
                    <a:pt x="0" y="0"/>
                  </a:moveTo>
                  <a:lnTo>
                    <a:pt x="14376" y="33792"/>
                  </a:lnTo>
                  <a:lnTo>
                    <a:pt x="0" y="67704"/>
                  </a:lnTo>
                  <a:lnTo>
                    <a:pt x="97487" y="337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5643025" y="3406585"/>
              <a:ext cx="242570" cy="10795"/>
            </a:xfrm>
            <a:custGeom>
              <a:avLst/>
              <a:gdLst/>
              <a:ahLst/>
              <a:cxnLst/>
              <a:rect l="l" t="t" r="r" b="b"/>
              <a:pathLst>
                <a:path w="242570" h="10795">
                  <a:moveTo>
                    <a:pt x="241996" y="0"/>
                  </a:moveTo>
                  <a:lnTo>
                    <a:pt x="0" y="0"/>
                  </a:lnTo>
                  <a:lnTo>
                    <a:pt x="0" y="10439"/>
                  </a:lnTo>
                  <a:lnTo>
                    <a:pt x="241996" y="10439"/>
                  </a:lnTo>
                  <a:lnTo>
                    <a:pt x="24199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5857617" y="3378012"/>
              <a:ext cx="97790" cy="67945"/>
            </a:xfrm>
            <a:custGeom>
              <a:avLst/>
              <a:gdLst/>
              <a:ahLst/>
              <a:cxnLst/>
              <a:rect l="l" t="t" r="r" b="b"/>
              <a:pathLst>
                <a:path w="97789" h="67945">
                  <a:moveTo>
                    <a:pt x="0" y="0"/>
                  </a:moveTo>
                  <a:lnTo>
                    <a:pt x="14376" y="33792"/>
                  </a:lnTo>
                  <a:lnTo>
                    <a:pt x="0" y="67704"/>
                  </a:lnTo>
                  <a:lnTo>
                    <a:pt x="97487" y="337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643025" y="3156570"/>
              <a:ext cx="320040" cy="10795"/>
            </a:xfrm>
            <a:custGeom>
              <a:avLst/>
              <a:gdLst/>
              <a:ahLst/>
              <a:cxnLst/>
              <a:rect l="l" t="t" r="r" b="b"/>
              <a:pathLst>
                <a:path w="320039" h="10794">
                  <a:moveTo>
                    <a:pt x="320016" y="0"/>
                  </a:moveTo>
                  <a:lnTo>
                    <a:pt x="0" y="0"/>
                  </a:lnTo>
                  <a:lnTo>
                    <a:pt x="0" y="10439"/>
                  </a:lnTo>
                  <a:lnTo>
                    <a:pt x="320016" y="10439"/>
                  </a:lnTo>
                  <a:lnTo>
                    <a:pt x="32001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935637" y="3127997"/>
              <a:ext cx="97790" cy="67945"/>
            </a:xfrm>
            <a:custGeom>
              <a:avLst/>
              <a:gdLst/>
              <a:ahLst/>
              <a:cxnLst/>
              <a:rect l="l" t="t" r="r" b="b"/>
              <a:pathLst>
                <a:path w="97789" h="67944">
                  <a:moveTo>
                    <a:pt x="0" y="0"/>
                  </a:moveTo>
                  <a:lnTo>
                    <a:pt x="14376" y="33792"/>
                  </a:lnTo>
                  <a:lnTo>
                    <a:pt x="0" y="67704"/>
                  </a:lnTo>
                  <a:lnTo>
                    <a:pt x="97487" y="337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6644435" y="3585804"/>
            <a:ext cx="164465" cy="3263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950" spc="220" dirty="0">
                <a:latin typeface="Times New Roman"/>
                <a:cs typeface="Times New Roman"/>
              </a:rPr>
              <a:t>c</a:t>
            </a:r>
            <a:endParaRPr sz="1950">
              <a:latin typeface="Times New Roman"/>
              <a:cs typeface="Times New Roman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5636525" y="2405558"/>
            <a:ext cx="1179830" cy="3133725"/>
            <a:chOff x="5636525" y="2405558"/>
            <a:chExt cx="1179830" cy="3133725"/>
          </a:xfrm>
        </p:grpSpPr>
        <p:sp>
          <p:nvSpPr>
            <p:cNvPr id="48" name="object 48"/>
            <p:cNvSpPr/>
            <p:nvPr/>
          </p:nvSpPr>
          <p:spPr>
            <a:xfrm>
              <a:off x="6657135" y="3656239"/>
              <a:ext cx="159385" cy="10795"/>
            </a:xfrm>
            <a:custGeom>
              <a:avLst/>
              <a:gdLst/>
              <a:ahLst/>
              <a:cxnLst/>
              <a:rect l="l" t="t" r="r" b="b"/>
              <a:pathLst>
                <a:path w="159384" h="10795">
                  <a:moveTo>
                    <a:pt x="159184" y="0"/>
                  </a:moveTo>
                  <a:lnTo>
                    <a:pt x="0" y="0"/>
                  </a:lnTo>
                  <a:lnTo>
                    <a:pt x="0" y="10439"/>
                  </a:lnTo>
                  <a:lnTo>
                    <a:pt x="159184" y="10439"/>
                  </a:lnTo>
                  <a:lnTo>
                    <a:pt x="1591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6267096" y="2412226"/>
              <a:ext cx="0" cy="2954655"/>
            </a:xfrm>
            <a:custGeom>
              <a:avLst/>
              <a:gdLst/>
              <a:ahLst/>
              <a:cxnLst/>
              <a:rect l="l" t="t" r="r" b="b"/>
              <a:pathLst>
                <a:path h="2954654">
                  <a:moveTo>
                    <a:pt x="0" y="0"/>
                  </a:moveTo>
                  <a:lnTo>
                    <a:pt x="0" y="2954600"/>
                  </a:lnTo>
                </a:path>
              </a:pathLst>
            </a:custGeom>
            <a:ln w="13000">
              <a:solidFill>
                <a:srgbClr val="000000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260596" y="5408519"/>
              <a:ext cx="13335" cy="5715"/>
            </a:xfrm>
            <a:custGeom>
              <a:avLst/>
              <a:gdLst/>
              <a:ahLst/>
              <a:cxnLst/>
              <a:rect l="l" t="t" r="r" b="b"/>
              <a:pathLst>
                <a:path w="13335" h="5714">
                  <a:moveTo>
                    <a:pt x="13000" y="0"/>
                  </a:moveTo>
                  <a:lnTo>
                    <a:pt x="0" y="0"/>
                  </a:lnTo>
                  <a:lnTo>
                    <a:pt x="0" y="5207"/>
                  </a:lnTo>
                  <a:lnTo>
                    <a:pt x="13000" y="5207"/>
                  </a:lnTo>
                  <a:lnTo>
                    <a:pt x="130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636514" y="5098605"/>
              <a:ext cx="560705" cy="440690"/>
            </a:xfrm>
            <a:custGeom>
              <a:avLst/>
              <a:gdLst/>
              <a:ahLst/>
              <a:cxnLst/>
              <a:rect l="l" t="t" r="r" b="b"/>
              <a:pathLst>
                <a:path w="560704" h="440689">
                  <a:moveTo>
                    <a:pt x="560425" y="119786"/>
                  </a:moveTo>
                  <a:lnTo>
                    <a:pt x="13004" y="119786"/>
                  </a:lnTo>
                  <a:lnTo>
                    <a:pt x="13004" y="0"/>
                  </a:lnTo>
                  <a:lnTo>
                    <a:pt x="0" y="0"/>
                  </a:lnTo>
                  <a:lnTo>
                    <a:pt x="0" y="440080"/>
                  </a:lnTo>
                  <a:lnTo>
                    <a:pt x="13004" y="440080"/>
                  </a:lnTo>
                  <a:lnTo>
                    <a:pt x="13004" y="130225"/>
                  </a:lnTo>
                  <a:lnTo>
                    <a:pt x="560425" y="130225"/>
                  </a:lnTo>
                  <a:lnTo>
                    <a:pt x="560425" y="1197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169547" y="5189808"/>
              <a:ext cx="97790" cy="67945"/>
            </a:xfrm>
            <a:custGeom>
              <a:avLst/>
              <a:gdLst/>
              <a:ahLst/>
              <a:cxnLst/>
              <a:rect l="l" t="t" r="r" b="b"/>
              <a:pathLst>
                <a:path w="97789" h="67945">
                  <a:moveTo>
                    <a:pt x="0" y="0"/>
                  </a:moveTo>
                  <a:lnTo>
                    <a:pt x="14525" y="33792"/>
                  </a:lnTo>
                  <a:lnTo>
                    <a:pt x="0" y="67704"/>
                  </a:lnTo>
                  <a:lnTo>
                    <a:pt x="97487" y="337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4825025" y="4960344"/>
            <a:ext cx="668020" cy="3263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1950" spc="210" dirty="0">
                <a:latin typeface="Times New Roman"/>
                <a:cs typeface="Times New Roman"/>
              </a:rPr>
              <a:t>y=y</a:t>
            </a:r>
            <a:r>
              <a:rPr sz="1950" spc="315" baseline="-21367" dirty="0">
                <a:latin typeface="Times New Roman"/>
                <a:cs typeface="Times New Roman"/>
              </a:rPr>
              <a:t>1</a:t>
            </a:r>
            <a:endParaRPr sz="1950" baseline="-21367">
              <a:latin typeface="Times New Roman"/>
              <a:cs typeface="Times New Roman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4903045" y="2523571"/>
            <a:ext cx="668020" cy="3263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1950" spc="210" dirty="0">
                <a:latin typeface="Times New Roman"/>
                <a:cs typeface="Times New Roman"/>
              </a:rPr>
              <a:t>y=y</a:t>
            </a:r>
            <a:r>
              <a:rPr sz="1950" spc="315" baseline="-21367" dirty="0">
                <a:latin typeface="Times New Roman"/>
                <a:cs typeface="Times New Roman"/>
              </a:rPr>
              <a:t>2</a:t>
            </a:r>
            <a:endParaRPr sz="1950" baseline="-21367">
              <a:latin typeface="Times New Roman"/>
              <a:cs typeface="Times New Roman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5643025" y="4190110"/>
            <a:ext cx="1014730" cy="1538605"/>
            <a:chOff x="5643025" y="4190110"/>
            <a:chExt cx="1014730" cy="1538605"/>
          </a:xfrm>
        </p:grpSpPr>
        <p:sp>
          <p:nvSpPr>
            <p:cNvPr id="57" name="object 57"/>
            <p:cNvSpPr/>
            <p:nvPr/>
          </p:nvSpPr>
          <p:spPr>
            <a:xfrm>
              <a:off x="5643016" y="5655589"/>
              <a:ext cx="237490" cy="73025"/>
            </a:xfrm>
            <a:custGeom>
              <a:avLst/>
              <a:gdLst/>
              <a:ahLst/>
              <a:cxnLst/>
              <a:rect l="l" t="t" r="r" b="b"/>
              <a:pathLst>
                <a:path w="237489" h="73025">
                  <a:moveTo>
                    <a:pt x="237363" y="62496"/>
                  </a:moveTo>
                  <a:lnTo>
                    <a:pt x="0" y="62496"/>
                  </a:lnTo>
                  <a:lnTo>
                    <a:pt x="0" y="72948"/>
                  </a:lnTo>
                  <a:lnTo>
                    <a:pt x="237363" y="72948"/>
                  </a:lnTo>
                  <a:lnTo>
                    <a:pt x="237363" y="62496"/>
                  </a:lnTo>
                  <a:close/>
                </a:path>
                <a:path w="237489" h="73025">
                  <a:moveTo>
                    <a:pt x="237363" y="0"/>
                  </a:moveTo>
                  <a:lnTo>
                    <a:pt x="0" y="0"/>
                  </a:lnTo>
                  <a:lnTo>
                    <a:pt x="0" y="10439"/>
                  </a:lnTo>
                  <a:lnTo>
                    <a:pt x="237363" y="10439"/>
                  </a:lnTo>
                  <a:lnTo>
                    <a:pt x="23736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8" name="object 5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67035" y="4190110"/>
              <a:ext cx="390099" cy="67704"/>
            </a:xfrm>
            <a:prstGeom prst="rect">
              <a:avLst/>
            </a:prstGeom>
          </p:spPr>
        </p:pic>
      </p:grpSp>
      <p:sp>
        <p:nvSpPr>
          <p:cNvPr id="59" name="object 59"/>
          <p:cNvSpPr txBox="1"/>
          <p:nvPr/>
        </p:nvSpPr>
        <p:spPr>
          <a:xfrm>
            <a:off x="6800325" y="4023180"/>
            <a:ext cx="164465" cy="3263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950" spc="220" dirty="0">
                <a:latin typeface="Times New Roman"/>
                <a:cs typeface="Times New Roman"/>
              </a:rPr>
              <a:t>c</a:t>
            </a:r>
            <a:endParaRPr sz="1950">
              <a:latin typeface="Times New Roman"/>
              <a:cs typeface="Times New Roman"/>
            </a:endParaRPr>
          </a:p>
        </p:txBody>
      </p:sp>
      <p:grpSp>
        <p:nvGrpSpPr>
          <p:cNvPr id="60" name="object 60"/>
          <p:cNvGrpSpPr/>
          <p:nvPr/>
        </p:nvGrpSpPr>
        <p:grpSpPr>
          <a:xfrm>
            <a:off x="5737378" y="2773810"/>
            <a:ext cx="1393825" cy="2212975"/>
            <a:chOff x="5737378" y="2773810"/>
            <a:chExt cx="1393825" cy="2212975"/>
          </a:xfrm>
        </p:grpSpPr>
        <p:sp>
          <p:nvSpPr>
            <p:cNvPr id="61" name="object 61"/>
            <p:cNvSpPr/>
            <p:nvPr/>
          </p:nvSpPr>
          <p:spPr>
            <a:xfrm>
              <a:off x="6969065" y="4098954"/>
              <a:ext cx="78105" cy="62865"/>
            </a:xfrm>
            <a:custGeom>
              <a:avLst/>
              <a:gdLst/>
              <a:ahLst/>
              <a:cxnLst/>
              <a:rect l="l" t="t" r="r" b="b"/>
              <a:pathLst>
                <a:path w="78104" h="62864">
                  <a:moveTo>
                    <a:pt x="78019" y="0"/>
                  </a:moveTo>
                  <a:lnTo>
                    <a:pt x="0" y="62533"/>
                  </a:lnTo>
                </a:path>
              </a:pathLst>
            </a:custGeom>
            <a:ln w="114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7047085" y="4098954"/>
              <a:ext cx="78105" cy="62865"/>
            </a:xfrm>
            <a:custGeom>
              <a:avLst/>
              <a:gdLst/>
              <a:ahLst/>
              <a:cxnLst/>
              <a:rect l="l" t="t" r="r" b="b"/>
              <a:pathLst>
                <a:path w="78104" h="62864">
                  <a:moveTo>
                    <a:pt x="0" y="62533"/>
                  </a:moveTo>
                  <a:lnTo>
                    <a:pt x="78019" y="0"/>
                  </a:lnTo>
                </a:path>
              </a:pathLst>
            </a:custGeom>
            <a:ln w="114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5750396" y="2786828"/>
              <a:ext cx="944244" cy="2186940"/>
            </a:xfrm>
            <a:custGeom>
              <a:avLst/>
              <a:gdLst/>
              <a:ahLst/>
              <a:cxnLst/>
              <a:rect l="l" t="t" r="r" b="b"/>
              <a:pathLst>
                <a:path w="944245" h="2186940">
                  <a:moveTo>
                    <a:pt x="516638" y="0"/>
                  </a:moveTo>
                  <a:lnTo>
                    <a:pt x="519933" y="50989"/>
                  </a:lnTo>
                  <a:lnTo>
                    <a:pt x="519933" y="88629"/>
                  </a:lnTo>
                  <a:lnTo>
                    <a:pt x="519933" y="126510"/>
                  </a:lnTo>
                  <a:lnTo>
                    <a:pt x="503610" y="164030"/>
                  </a:lnTo>
                  <a:lnTo>
                    <a:pt x="471114" y="177138"/>
                  </a:lnTo>
                  <a:lnTo>
                    <a:pt x="423943" y="202032"/>
                  </a:lnTo>
                  <a:lnTo>
                    <a:pt x="376921" y="226564"/>
                  </a:lnTo>
                  <a:lnTo>
                    <a:pt x="329600" y="252660"/>
                  </a:lnTo>
                  <a:lnTo>
                    <a:pt x="298901" y="290180"/>
                  </a:lnTo>
                  <a:lnTo>
                    <a:pt x="282728" y="328182"/>
                  </a:lnTo>
                  <a:lnTo>
                    <a:pt x="267903" y="365702"/>
                  </a:lnTo>
                  <a:lnTo>
                    <a:pt x="267903" y="403703"/>
                  </a:lnTo>
                  <a:lnTo>
                    <a:pt x="267903" y="441223"/>
                  </a:lnTo>
                  <a:lnTo>
                    <a:pt x="267903" y="718777"/>
                  </a:lnTo>
                  <a:lnTo>
                    <a:pt x="282728" y="756297"/>
                  </a:lnTo>
                  <a:lnTo>
                    <a:pt x="298901" y="793938"/>
                  </a:lnTo>
                  <a:lnTo>
                    <a:pt x="329600" y="831819"/>
                  </a:lnTo>
                  <a:lnTo>
                    <a:pt x="362096" y="856472"/>
                  </a:lnTo>
                  <a:lnTo>
                    <a:pt x="409417" y="894353"/>
                  </a:lnTo>
                  <a:lnTo>
                    <a:pt x="440116" y="920449"/>
                  </a:lnTo>
                  <a:lnTo>
                    <a:pt x="471114" y="957969"/>
                  </a:lnTo>
                  <a:lnTo>
                    <a:pt x="503610" y="969874"/>
                  </a:lnTo>
                  <a:lnTo>
                    <a:pt x="519933" y="995970"/>
                  </a:lnTo>
                  <a:lnTo>
                    <a:pt x="566805" y="1033490"/>
                  </a:lnTo>
                  <a:lnTo>
                    <a:pt x="614126" y="1058384"/>
                  </a:lnTo>
                  <a:lnTo>
                    <a:pt x="628652" y="1084479"/>
                  </a:lnTo>
                  <a:lnTo>
                    <a:pt x="661148" y="1096024"/>
                  </a:lnTo>
                  <a:lnTo>
                    <a:pt x="708469" y="1133905"/>
                  </a:lnTo>
                  <a:lnTo>
                    <a:pt x="755341" y="1160001"/>
                  </a:lnTo>
                  <a:lnTo>
                    <a:pt x="802662" y="1197642"/>
                  </a:lnTo>
                  <a:lnTo>
                    <a:pt x="849683" y="1222414"/>
                  </a:lnTo>
                  <a:lnTo>
                    <a:pt x="911381" y="1247067"/>
                  </a:lnTo>
                  <a:lnTo>
                    <a:pt x="927554" y="1273043"/>
                  </a:lnTo>
                  <a:lnTo>
                    <a:pt x="927554" y="1310683"/>
                  </a:lnTo>
                  <a:lnTo>
                    <a:pt x="943876" y="1361672"/>
                  </a:lnTo>
                  <a:lnTo>
                    <a:pt x="943876" y="1399193"/>
                  </a:lnTo>
                  <a:lnTo>
                    <a:pt x="943876" y="1437194"/>
                  </a:lnTo>
                  <a:lnTo>
                    <a:pt x="943876" y="1474714"/>
                  </a:lnTo>
                  <a:lnTo>
                    <a:pt x="927554" y="1512716"/>
                  </a:lnTo>
                  <a:lnTo>
                    <a:pt x="927554" y="1550236"/>
                  </a:lnTo>
                  <a:lnTo>
                    <a:pt x="927554" y="1588237"/>
                  </a:lnTo>
                  <a:lnTo>
                    <a:pt x="911381" y="1625757"/>
                  </a:lnTo>
                  <a:lnTo>
                    <a:pt x="864359" y="1637663"/>
                  </a:lnTo>
                  <a:lnTo>
                    <a:pt x="802662" y="1637663"/>
                  </a:lnTo>
                  <a:lnTo>
                    <a:pt x="770166" y="1650651"/>
                  </a:lnTo>
                  <a:lnTo>
                    <a:pt x="722845" y="1650651"/>
                  </a:lnTo>
                  <a:lnTo>
                    <a:pt x="661148" y="1663759"/>
                  </a:lnTo>
                  <a:lnTo>
                    <a:pt x="614126" y="1676746"/>
                  </a:lnTo>
                  <a:lnTo>
                    <a:pt x="581630" y="1688291"/>
                  </a:lnTo>
                  <a:lnTo>
                    <a:pt x="566805" y="1714387"/>
                  </a:lnTo>
                  <a:lnTo>
                    <a:pt x="534309" y="1752268"/>
                  </a:lnTo>
                  <a:lnTo>
                    <a:pt x="503610" y="1789908"/>
                  </a:lnTo>
                  <a:lnTo>
                    <a:pt x="471114" y="1814441"/>
                  </a:lnTo>
                  <a:lnTo>
                    <a:pt x="423943" y="1839334"/>
                  </a:lnTo>
                  <a:lnTo>
                    <a:pt x="376921" y="1852322"/>
                  </a:lnTo>
                  <a:lnTo>
                    <a:pt x="298901" y="1876975"/>
                  </a:lnTo>
                  <a:lnTo>
                    <a:pt x="267903" y="1914856"/>
                  </a:lnTo>
                  <a:lnTo>
                    <a:pt x="251580" y="1940831"/>
                  </a:lnTo>
                  <a:lnTo>
                    <a:pt x="220881" y="1978472"/>
                  </a:lnTo>
                  <a:lnTo>
                    <a:pt x="188386" y="1990377"/>
                  </a:lnTo>
                  <a:lnTo>
                    <a:pt x="141064" y="2003365"/>
                  </a:lnTo>
                  <a:lnTo>
                    <a:pt x="94193" y="2029461"/>
                  </a:lnTo>
                  <a:lnTo>
                    <a:pt x="46871" y="2066981"/>
                  </a:lnTo>
                  <a:lnTo>
                    <a:pt x="32495" y="2104982"/>
                  </a:lnTo>
                  <a:lnTo>
                    <a:pt x="16173" y="2142503"/>
                  </a:lnTo>
                  <a:lnTo>
                    <a:pt x="48668" y="2186757"/>
                  </a:lnTo>
                  <a:lnTo>
                    <a:pt x="0" y="2167396"/>
                  </a:lnTo>
                </a:path>
              </a:pathLst>
            </a:custGeom>
            <a:ln w="25195">
              <a:solidFill>
                <a:srgbClr val="3333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4" name="object 64"/>
          <p:cNvSpPr txBox="1"/>
          <p:nvPr/>
        </p:nvSpPr>
        <p:spPr>
          <a:xfrm>
            <a:off x="7323455" y="3693477"/>
            <a:ext cx="256667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"/>
                <a:cs typeface="Arial"/>
              </a:rPr>
              <a:t>Laterally</a:t>
            </a:r>
            <a:r>
              <a:rPr sz="2400" spc="-35" dirty="0">
                <a:latin typeface="Arial"/>
                <a:cs typeface="Arial"/>
              </a:rPr>
              <a:t> </a:t>
            </a:r>
            <a:r>
              <a:rPr sz="2400" spc="-30" dirty="0">
                <a:latin typeface="Arial"/>
                <a:cs typeface="Arial"/>
              </a:rPr>
              <a:t>averaging</a:t>
            </a:r>
            <a:endParaRPr sz="2400">
              <a:latin typeface="Arial"/>
              <a:cs typeface="Aria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9627616" y="2459355"/>
            <a:ext cx="1085850" cy="3924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400" spc="-10" dirty="0">
                <a:solidFill>
                  <a:srgbClr val="2C3B43"/>
                </a:solidFill>
                <a:latin typeface="Arial"/>
                <a:cs typeface="Arial"/>
              </a:rPr>
              <a:t>Kinetics</a:t>
            </a:r>
            <a:endParaRPr sz="2400">
              <a:latin typeface="Arial"/>
              <a:cs typeface="Arial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9925050" y="1933575"/>
            <a:ext cx="462915" cy="593090"/>
          </a:xfrm>
          <a:custGeom>
            <a:avLst/>
            <a:gdLst/>
            <a:ahLst/>
            <a:cxnLst/>
            <a:rect l="l" t="t" r="r" b="b"/>
            <a:pathLst>
              <a:path w="462915" h="593089">
                <a:moveTo>
                  <a:pt x="84866" y="78918"/>
                </a:moveTo>
                <a:lnTo>
                  <a:pt x="54675" y="102207"/>
                </a:lnTo>
                <a:lnTo>
                  <a:pt x="432561" y="592709"/>
                </a:lnTo>
                <a:lnTo>
                  <a:pt x="462788" y="569340"/>
                </a:lnTo>
                <a:lnTo>
                  <a:pt x="84866" y="78918"/>
                </a:lnTo>
                <a:close/>
              </a:path>
              <a:path w="462915" h="593089">
                <a:moveTo>
                  <a:pt x="0" y="0"/>
                </a:moveTo>
                <a:lnTo>
                  <a:pt x="24510" y="125475"/>
                </a:lnTo>
                <a:lnTo>
                  <a:pt x="54675" y="102207"/>
                </a:lnTo>
                <a:lnTo>
                  <a:pt x="43052" y="87122"/>
                </a:lnTo>
                <a:lnTo>
                  <a:pt x="73278" y="63880"/>
                </a:lnTo>
                <a:lnTo>
                  <a:pt x="104360" y="63880"/>
                </a:lnTo>
                <a:lnTo>
                  <a:pt x="115061" y="55625"/>
                </a:lnTo>
                <a:lnTo>
                  <a:pt x="0" y="0"/>
                </a:lnTo>
                <a:close/>
              </a:path>
              <a:path w="462915" h="593089">
                <a:moveTo>
                  <a:pt x="73278" y="63880"/>
                </a:moveTo>
                <a:lnTo>
                  <a:pt x="43052" y="87122"/>
                </a:lnTo>
                <a:lnTo>
                  <a:pt x="54675" y="102207"/>
                </a:lnTo>
                <a:lnTo>
                  <a:pt x="84866" y="78918"/>
                </a:lnTo>
                <a:lnTo>
                  <a:pt x="73278" y="63880"/>
                </a:lnTo>
                <a:close/>
              </a:path>
              <a:path w="462915" h="593089">
                <a:moveTo>
                  <a:pt x="104360" y="63880"/>
                </a:moveTo>
                <a:lnTo>
                  <a:pt x="73278" y="63880"/>
                </a:lnTo>
                <a:lnTo>
                  <a:pt x="84866" y="78918"/>
                </a:lnTo>
                <a:lnTo>
                  <a:pt x="104360" y="6388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622221"/>
          </a:xfrm>
          <a:prstGeom prst="rect">
            <a:avLst/>
          </a:prstGeom>
        </p:spPr>
        <p:txBody>
          <a:bodyPr vert="horz" wrap="square" lIns="0" tIns="128523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200" dirty="0">
                <a:solidFill>
                  <a:schemeClr val="tx1"/>
                </a:solidFill>
              </a:rPr>
              <a:t>Mass</a:t>
            </a:r>
            <a:r>
              <a:rPr sz="3200" spc="-120" dirty="0">
                <a:solidFill>
                  <a:schemeClr val="tx1"/>
                </a:solidFill>
              </a:rPr>
              <a:t> </a:t>
            </a:r>
            <a:r>
              <a:rPr sz="3200" spc="-10" dirty="0">
                <a:solidFill>
                  <a:schemeClr val="tx1"/>
                </a:solidFill>
              </a:rPr>
              <a:t>Balance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  <p:sp>
        <p:nvSpPr>
          <p:cNvPr id="4" name="object 4"/>
          <p:cNvSpPr txBox="1"/>
          <p:nvPr/>
        </p:nvSpPr>
        <p:spPr>
          <a:xfrm>
            <a:off x="420370" y="1219200"/>
            <a:ext cx="11238230" cy="1349087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98450" indent="-286385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Mass</a:t>
            </a:r>
            <a:r>
              <a:rPr sz="2000" spc="-114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of</a:t>
            </a:r>
            <a:r>
              <a:rPr sz="2000" spc="-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all</a:t>
            </a:r>
            <a:r>
              <a:rPr sz="2000" spc="9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substances</a:t>
            </a:r>
            <a:r>
              <a:rPr sz="2000" spc="-19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in</a:t>
            </a:r>
            <a:r>
              <a:rPr sz="2000" spc="1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model</a:t>
            </a:r>
            <a:r>
              <a:rPr sz="2000" spc="1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is</a:t>
            </a:r>
            <a:r>
              <a:rPr sz="2000" spc="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conserved,</a:t>
            </a:r>
            <a:r>
              <a:rPr sz="2000" spc="-1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not</a:t>
            </a:r>
            <a:r>
              <a:rPr sz="2000" spc="-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created</a:t>
            </a:r>
            <a:r>
              <a:rPr sz="2000" spc="-1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nor</a:t>
            </a:r>
            <a:r>
              <a:rPr sz="2000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destroyed.</a:t>
            </a:r>
            <a:endParaRPr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298450" indent="-286385" algn="l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  <a:tab pos="8326120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Mass</a:t>
            </a:r>
            <a:r>
              <a:rPr sz="2000" spc="-1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can</a:t>
            </a:r>
            <a:r>
              <a:rPr sz="2000" spc="-7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be</a:t>
            </a:r>
            <a:r>
              <a:rPr sz="2000" spc="1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transformed</a:t>
            </a:r>
            <a:r>
              <a:rPr sz="2000" spc="-7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from</a:t>
            </a:r>
            <a:r>
              <a:rPr sz="2000" spc="-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one</a:t>
            </a:r>
            <a:r>
              <a:rPr sz="2000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fo</a:t>
            </a:r>
            <a:r>
              <a:rPr lang="en-US" sz="2000" dirty="0">
                <a:solidFill>
                  <a:schemeClr val="tx1"/>
                </a:solidFill>
                <a:latin typeface="Arial"/>
                <a:cs typeface="Arial"/>
              </a:rPr>
              <a:t>r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m</a:t>
            </a:r>
            <a:r>
              <a:rPr sz="2000" spc="-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to</a:t>
            </a:r>
            <a:r>
              <a:rPr sz="2000" spc="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another</a:t>
            </a:r>
            <a:r>
              <a:rPr sz="2000" spc="-7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(i.e.,</a:t>
            </a:r>
            <a:r>
              <a:rPr sz="2000" spc="-10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Nitrogen</a:t>
            </a:r>
            <a:r>
              <a:rPr sz="2000" spc="-6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20" dirty="0">
                <a:solidFill>
                  <a:schemeClr val="tx1"/>
                </a:solidFill>
                <a:latin typeface="Arial"/>
                <a:cs typeface="Arial"/>
              </a:rPr>
              <a:t>from</a:t>
            </a:r>
            <a:r>
              <a:rPr lang="en-US" sz="2000" spc="-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NH4</a:t>
            </a:r>
            <a:r>
              <a:rPr sz="2000" spc="-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to</a:t>
            </a:r>
            <a:r>
              <a:rPr sz="2000" spc="-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NO2/NO3</a:t>
            </a:r>
            <a:r>
              <a:rPr sz="2000" spc="-10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chemeClr val="tx1"/>
                </a:solidFill>
                <a:latin typeface="Arial"/>
                <a:cs typeface="Arial"/>
              </a:rPr>
              <a:t>to</a:t>
            </a:r>
            <a:r>
              <a:rPr lang="en-US" sz="200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chemeClr val="tx1"/>
                </a:solidFill>
                <a:latin typeface="Arial"/>
                <a:cs typeface="Arial"/>
              </a:rPr>
              <a:t>N2)</a:t>
            </a:r>
            <a:endParaRPr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298450" indent="-286385">
              <a:lnSpc>
                <a:spcPct val="100000"/>
              </a:lnSpc>
              <a:spcBef>
                <a:spcPts val="155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Mass</a:t>
            </a:r>
            <a:r>
              <a:rPr sz="2000" spc="-1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can</a:t>
            </a:r>
            <a:r>
              <a:rPr sz="2000" spc="-6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enter</a:t>
            </a:r>
            <a:r>
              <a:rPr sz="2000" spc="-6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and</a:t>
            </a:r>
            <a:r>
              <a:rPr sz="2000" spc="1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leave</a:t>
            </a:r>
            <a:r>
              <a:rPr sz="2000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model</a:t>
            </a:r>
            <a:r>
              <a:rPr sz="2000" spc="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by</a:t>
            </a:r>
            <a:r>
              <a:rPr sz="2000" spc="6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specified</a:t>
            </a:r>
            <a:r>
              <a:rPr sz="2000" spc="-1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processes</a:t>
            </a:r>
            <a:r>
              <a:rPr sz="2000" spc="-10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and</a:t>
            </a:r>
            <a:r>
              <a:rPr sz="2000" spc="-6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means.</a:t>
            </a:r>
            <a:endParaRPr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298450" indent="-286385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Important</a:t>
            </a:r>
            <a:r>
              <a:rPr sz="2000" spc="-10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that</a:t>
            </a:r>
            <a:r>
              <a:rPr sz="2000" spc="-10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our</a:t>
            </a:r>
            <a:r>
              <a:rPr sz="2000" spc="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representation</a:t>
            </a:r>
            <a:r>
              <a:rPr sz="2000" spc="-2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of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process</a:t>
            </a:r>
            <a:r>
              <a:rPr sz="2000" spc="-9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is</a:t>
            </a:r>
            <a:r>
              <a:rPr sz="2000" spc="7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thorough</a:t>
            </a:r>
            <a:r>
              <a:rPr sz="2000" spc="-1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and</a:t>
            </a:r>
            <a:r>
              <a:rPr sz="2000" spc="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complete</a:t>
            </a:r>
            <a:r>
              <a:rPr sz="2000" spc="-13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as</a:t>
            </a:r>
            <a:r>
              <a:rPr sz="2000" spc="7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possible</a:t>
            </a:r>
            <a:endParaRPr sz="2000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622221"/>
          </a:xfrm>
          <a:prstGeom prst="rect">
            <a:avLst/>
          </a:prstGeom>
        </p:spPr>
        <p:txBody>
          <a:bodyPr vert="horz" wrap="square" lIns="0" tIns="128523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200" spc="-10" dirty="0">
                <a:solidFill>
                  <a:schemeClr val="tx1"/>
                </a:solidFill>
              </a:rPr>
              <a:t>Conservation</a:t>
            </a:r>
            <a:endParaRPr sz="320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4" name="object 4"/>
          <p:cNvSpPr txBox="1"/>
          <p:nvPr/>
        </p:nvSpPr>
        <p:spPr>
          <a:xfrm>
            <a:off x="485457" y="1226121"/>
            <a:ext cx="9589770" cy="135128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98450" indent="-286385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The</a:t>
            </a:r>
            <a:r>
              <a:rPr sz="2000" spc="-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mass</a:t>
            </a:r>
            <a:r>
              <a:rPr sz="2000" spc="-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of</a:t>
            </a:r>
            <a:r>
              <a:rPr sz="2000" spc="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all</a:t>
            </a:r>
            <a:r>
              <a:rPr sz="2000" spc="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substances</a:t>
            </a:r>
            <a:r>
              <a:rPr sz="2000" spc="-1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in</a:t>
            </a:r>
            <a:r>
              <a:rPr sz="2000" spc="-8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model</a:t>
            </a:r>
            <a:r>
              <a:rPr sz="2000" spc="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is</a:t>
            </a:r>
            <a:r>
              <a:rPr sz="2000" spc="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conserved,</a:t>
            </a:r>
            <a:r>
              <a:rPr sz="2000" spc="-1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not</a:t>
            </a:r>
            <a:r>
              <a:rPr sz="2000" spc="-4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created</a:t>
            </a:r>
            <a:r>
              <a:rPr sz="2000" spc="-16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nor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destroyed.</a:t>
            </a:r>
            <a:endParaRPr sz="2000">
              <a:solidFill>
                <a:schemeClr val="tx1"/>
              </a:solidFill>
              <a:latin typeface="Arial"/>
              <a:cs typeface="Arial"/>
            </a:endParaRPr>
          </a:p>
          <a:p>
            <a:pPr marL="298450" indent="-286385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Assumption</a:t>
            </a:r>
            <a:r>
              <a:rPr sz="2000" spc="-16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is</a:t>
            </a:r>
            <a:r>
              <a:rPr sz="2000" spc="-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crucial</a:t>
            </a:r>
            <a:r>
              <a:rPr sz="2000" spc="-7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to</a:t>
            </a:r>
            <a:r>
              <a:rPr sz="2000" spc="-7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our</a:t>
            </a:r>
            <a:r>
              <a:rPr sz="2000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use</a:t>
            </a:r>
            <a:r>
              <a:rPr sz="2000" spc="-6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of</a:t>
            </a:r>
            <a:r>
              <a:rPr sz="2000" spc="5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model</a:t>
            </a:r>
            <a:r>
              <a:rPr sz="2000" spc="1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and</a:t>
            </a:r>
            <a:r>
              <a:rPr sz="2000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interpretation</a:t>
            </a:r>
            <a:r>
              <a:rPr sz="2000" spc="-15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of</a:t>
            </a:r>
            <a:r>
              <a:rPr sz="2000" spc="-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its</a:t>
            </a:r>
            <a:r>
              <a:rPr sz="2000" spc="-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results.</a:t>
            </a:r>
            <a:endParaRPr sz="2000">
              <a:solidFill>
                <a:schemeClr val="tx1"/>
              </a:solidFill>
              <a:latin typeface="Arial"/>
              <a:cs typeface="Arial"/>
            </a:endParaRPr>
          </a:p>
          <a:p>
            <a:pPr marL="298450" indent="-286385">
              <a:lnSpc>
                <a:spcPct val="100000"/>
              </a:lnSpc>
              <a:spcBef>
                <a:spcPts val="150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Important</a:t>
            </a:r>
            <a:r>
              <a:rPr sz="2000" spc="-10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that</a:t>
            </a:r>
            <a:r>
              <a:rPr sz="2000" spc="-10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our</a:t>
            </a:r>
            <a:r>
              <a:rPr sz="2000" spc="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representation</a:t>
            </a:r>
            <a:r>
              <a:rPr sz="2000" spc="-229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of</a:t>
            </a:r>
            <a:r>
              <a:rPr sz="2000" spc="-1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process</a:t>
            </a:r>
            <a:r>
              <a:rPr sz="2000" spc="-10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is</a:t>
            </a:r>
            <a:r>
              <a:rPr sz="2000" spc="7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thorough</a:t>
            </a:r>
            <a:r>
              <a:rPr sz="2000" spc="-14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and</a:t>
            </a:r>
            <a:r>
              <a:rPr sz="2000" spc="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complete</a:t>
            </a:r>
            <a:r>
              <a:rPr sz="2000" spc="-13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as</a:t>
            </a:r>
            <a:r>
              <a:rPr sz="2000" spc="6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possible.</a:t>
            </a:r>
            <a:endParaRPr sz="2000">
              <a:solidFill>
                <a:schemeClr val="tx1"/>
              </a:solidFill>
              <a:latin typeface="Arial"/>
              <a:cs typeface="Arial"/>
            </a:endParaRPr>
          </a:p>
          <a:p>
            <a:pPr marL="298450" indent="-286385">
              <a:lnSpc>
                <a:spcPct val="100000"/>
              </a:lnSpc>
              <a:spcBef>
                <a:spcPts val="229"/>
              </a:spcBef>
              <a:buClr>
                <a:srgbClr val="000000"/>
              </a:buClr>
              <a:buChar char="•"/>
              <a:tabLst>
                <a:tab pos="298450" algn="l"/>
                <a:tab pos="299085" algn="l"/>
              </a:tabLst>
            </a:pP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Specified</a:t>
            </a:r>
            <a:r>
              <a:rPr sz="2000" spc="-6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process</a:t>
            </a:r>
            <a:r>
              <a:rPr sz="2000" spc="-9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rates</a:t>
            </a:r>
            <a:r>
              <a:rPr sz="2000" spc="-9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should</a:t>
            </a:r>
            <a:r>
              <a:rPr sz="2000" spc="-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be</a:t>
            </a:r>
            <a:r>
              <a:rPr sz="2000" spc="3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supported</a:t>
            </a:r>
            <a:r>
              <a:rPr sz="2000" spc="-1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by</a:t>
            </a:r>
            <a:r>
              <a:rPr sz="2000" spc="7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data</a:t>
            </a:r>
            <a:r>
              <a:rPr sz="2000" spc="-5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or</a:t>
            </a:r>
            <a:r>
              <a:rPr sz="2000" spc="3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from</a:t>
            </a:r>
            <a:r>
              <a:rPr sz="2000" spc="-1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chemeClr val="tx1"/>
                </a:solidFill>
                <a:latin typeface="Arial"/>
                <a:cs typeface="Arial"/>
              </a:rPr>
              <a:t>technical</a:t>
            </a:r>
            <a:r>
              <a:rPr sz="2000" spc="-13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chemeClr val="tx1"/>
                </a:solidFill>
                <a:latin typeface="Arial"/>
                <a:cs typeface="Arial"/>
              </a:rPr>
              <a:t>literature.</a:t>
            </a:r>
            <a:endParaRPr sz="200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592149"/>
          </a:xfrm>
          <a:prstGeom prst="rect">
            <a:avLst/>
          </a:prstGeom>
        </p:spPr>
        <p:txBody>
          <a:bodyPr vert="horz" wrap="square" lIns="0" tIns="9874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-10" dirty="0">
                <a:solidFill>
                  <a:schemeClr val="tx1"/>
                </a:solidFill>
              </a:rPr>
              <a:t>CE-</a:t>
            </a:r>
            <a:r>
              <a:rPr sz="3200" spc="-30" dirty="0">
                <a:solidFill>
                  <a:schemeClr val="tx1"/>
                </a:solidFill>
              </a:rPr>
              <a:t>QUAL-</a:t>
            </a:r>
            <a:r>
              <a:rPr sz="3200" dirty="0">
                <a:solidFill>
                  <a:schemeClr val="tx1"/>
                </a:solidFill>
              </a:rPr>
              <a:t>W2</a:t>
            </a:r>
            <a:r>
              <a:rPr sz="3200" spc="-180" dirty="0">
                <a:solidFill>
                  <a:schemeClr val="tx1"/>
                </a:solidFill>
              </a:rPr>
              <a:t> </a:t>
            </a:r>
            <a:r>
              <a:rPr sz="3200" dirty="0">
                <a:solidFill>
                  <a:schemeClr val="tx1"/>
                </a:solidFill>
              </a:rPr>
              <a:t>Water</a:t>
            </a:r>
            <a:r>
              <a:rPr sz="3200" spc="-80" dirty="0">
                <a:solidFill>
                  <a:schemeClr val="tx1"/>
                </a:solidFill>
              </a:rPr>
              <a:t> </a:t>
            </a:r>
            <a:r>
              <a:rPr sz="3200" spc="-10" dirty="0">
                <a:solidFill>
                  <a:schemeClr val="tx1"/>
                </a:solidFill>
              </a:rPr>
              <a:t>Quality</a:t>
            </a:r>
            <a:endParaRPr sz="3200">
              <a:solidFill>
                <a:schemeClr val="tx1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idx="1"/>
          </p:nvPr>
        </p:nvSpPr>
        <p:spPr>
          <a:xfrm>
            <a:off x="304800" y="1143000"/>
            <a:ext cx="11201400" cy="485068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0" indent="-342900">
              <a:lnSpc>
                <a:spcPts val="2365"/>
              </a:lnSpc>
              <a:spcBef>
                <a:spcPts val="125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Arbitrary</a:t>
            </a:r>
            <a:r>
              <a:rPr b="0" spc="-40" dirty="0">
                <a:solidFill>
                  <a:schemeClr val="tx1"/>
                </a:solidFill>
              </a:rPr>
              <a:t> </a:t>
            </a:r>
            <a:r>
              <a:rPr b="0" spc="-10" dirty="0">
                <a:solidFill>
                  <a:schemeClr val="tx1"/>
                </a:solidFill>
              </a:rPr>
              <a:t>Constituents</a:t>
            </a:r>
          </a:p>
          <a:p>
            <a:pPr marL="381000" indent="-342900">
              <a:lnSpc>
                <a:spcPts val="2365"/>
              </a:lnSpc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Inorganic</a:t>
            </a:r>
            <a:r>
              <a:rPr b="0" spc="-5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suspended</a:t>
            </a:r>
            <a:r>
              <a:rPr b="0" spc="-9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solids</a:t>
            </a:r>
            <a:r>
              <a:rPr b="0" spc="-45" dirty="0">
                <a:solidFill>
                  <a:schemeClr val="tx1"/>
                </a:solidFill>
              </a:rPr>
              <a:t> </a:t>
            </a:r>
            <a:r>
              <a:rPr b="0" spc="-10" dirty="0">
                <a:solidFill>
                  <a:schemeClr val="tx1"/>
                </a:solidFill>
              </a:rPr>
              <a:t>groups</a:t>
            </a:r>
          </a:p>
          <a:p>
            <a:pPr marL="381000" indent="-342900">
              <a:lnSpc>
                <a:spcPts val="2365"/>
              </a:lnSpc>
              <a:spcBef>
                <a:spcPts val="5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CH</a:t>
            </a:r>
            <a:r>
              <a:rPr sz="2025" b="0" baseline="-18518" dirty="0">
                <a:solidFill>
                  <a:schemeClr val="tx1"/>
                </a:solidFill>
              </a:rPr>
              <a:t>4</a:t>
            </a:r>
            <a:r>
              <a:rPr sz="2000" b="0" dirty="0">
                <a:solidFill>
                  <a:schemeClr val="tx1"/>
                </a:solidFill>
              </a:rPr>
              <a:t>,</a:t>
            </a:r>
            <a:r>
              <a:rPr sz="2000" b="0" spc="-55" dirty="0">
                <a:solidFill>
                  <a:schemeClr val="tx1"/>
                </a:solidFill>
              </a:rPr>
              <a:t> </a:t>
            </a:r>
            <a:r>
              <a:rPr sz="2000" b="0" spc="-25" dirty="0">
                <a:solidFill>
                  <a:schemeClr val="tx1"/>
                </a:solidFill>
              </a:rPr>
              <a:t>H</a:t>
            </a:r>
            <a:r>
              <a:rPr sz="2025" b="0" spc="-37" baseline="-18518" dirty="0">
                <a:solidFill>
                  <a:schemeClr val="tx1"/>
                </a:solidFill>
              </a:rPr>
              <a:t>2</a:t>
            </a:r>
            <a:r>
              <a:rPr sz="2000" b="0" spc="-25" dirty="0">
                <a:solidFill>
                  <a:schemeClr val="tx1"/>
                </a:solidFill>
              </a:rPr>
              <a:t>S</a:t>
            </a:r>
            <a:endParaRPr sz="2000" b="0" dirty="0">
              <a:solidFill>
                <a:schemeClr val="tx1"/>
              </a:solidFill>
            </a:endParaRPr>
          </a:p>
          <a:p>
            <a:pPr marL="381000" indent="-342900">
              <a:lnSpc>
                <a:spcPts val="2365"/>
              </a:lnSpc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N</a:t>
            </a:r>
            <a:r>
              <a:rPr sz="2025" b="0" baseline="-18518" dirty="0">
                <a:solidFill>
                  <a:schemeClr val="tx1"/>
                </a:solidFill>
              </a:rPr>
              <a:t>2</a:t>
            </a:r>
            <a:r>
              <a:rPr sz="2000" b="0" dirty="0">
                <a:solidFill>
                  <a:schemeClr val="tx1"/>
                </a:solidFill>
              </a:rPr>
              <a:t>,</a:t>
            </a:r>
            <a:r>
              <a:rPr sz="2000" b="0" spc="5" dirty="0">
                <a:solidFill>
                  <a:schemeClr val="tx1"/>
                </a:solidFill>
              </a:rPr>
              <a:t> </a:t>
            </a:r>
            <a:r>
              <a:rPr sz="2000" b="0" spc="-65" dirty="0">
                <a:solidFill>
                  <a:schemeClr val="tx1"/>
                </a:solidFill>
              </a:rPr>
              <a:t>DGP,</a:t>
            </a:r>
            <a:r>
              <a:rPr sz="2000" b="0" spc="-150" dirty="0">
                <a:solidFill>
                  <a:schemeClr val="tx1"/>
                </a:solidFill>
              </a:rPr>
              <a:t> </a:t>
            </a:r>
            <a:r>
              <a:rPr sz="2000" b="0" spc="-25" dirty="0">
                <a:solidFill>
                  <a:schemeClr val="tx1"/>
                </a:solidFill>
              </a:rPr>
              <a:t>TDG</a:t>
            </a:r>
            <a:endParaRPr sz="2000" b="0" dirty="0">
              <a:solidFill>
                <a:schemeClr val="tx1"/>
              </a:solidFill>
            </a:endParaRPr>
          </a:p>
          <a:p>
            <a:pPr marL="381000" indent="-342900">
              <a:lnSpc>
                <a:spcPts val="2365"/>
              </a:lnSpc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Labile</a:t>
            </a:r>
            <a:r>
              <a:rPr b="0" spc="4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and</a:t>
            </a:r>
            <a:r>
              <a:rPr b="0" spc="-4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refractory</a:t>
            </a:r>
            <a:r>
              <a:rPr b="0" spc="-8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dissolved</a:t>
            </a:r>
            <a:r>
              <a:rPr b="0" spc="-4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organic</a:t>
            </a:r>
            <a:r>
              <a:rPr b="0" spc="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matter</a:t>
            </a:r>
            <a:r>
              <a:rPr b="0" spc="-13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groups</a:t>
            </a:r>
            <a:r>
              <a:rPr b="0" spc="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(DOM,</a:t>
            </a:r>
            <a:r>
              <a:rPr b="0" spc="-8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DOC,</a:t>
            </a:r>
            <a:r>
              <a:rPr b="0" spc="-8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DON, </a:t>
            </a:r>
            <a:r>
              <a:rPr b="0" spc="-20" dirty="0">
                <a:solidFill>
                  <a:schemeClr val="tx1"/>
                </a:solidFill>
              </a:rPr>
              <a:t>DOP)</a:t>
            </a:r>
          </a:p>
          <a:p>
            <a:pPr marL="381000" indent="-342900">
              <a:lnSpc>
                <a:spcPts val="2365"/>
              </a:lnSpc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Labile</a:t>
            </a:r>
            <a:r>
              <a:rPr b="0" spc="1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and</a:t>
            </a:r>
            <a:r>
              <a:rPr b="0" spc="-6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refractory</a:t>
            </a:r>
            <a:r>
              <a:rPr b="0" spc="-10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particulate</a:t>
            </a:r>
            <a:r>
              <a:rPr b="0" spc="-14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organic</a:t>
            </a:r>
            <a:r>
              <a:rPr b="0" spc="-10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matter</a:t>
            </a:r>
            <a:r>
              <a:rPr b="0" spc="-6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fractions</a:t>
            </a:r>
            <a:r>
              <a:rPr b="0" spc="-10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(POM,</a:t>
            </a:r>
            <a:r>
              <a:rPr b="0" spc="-2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POC,</a:t>
            </a:r>
            <a:r>
              <a:rPr b="0" spc="5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PON,</a:t>
            </a:r>
            <a:r>
              <a:rPr b="0" spc="60" dirty="0">
                <a:solidFill>
                  <a:schemeClr val="tx1"/>
                </a:solidFill>
              </a:rPr>
              <a:t> </a:t>
            </a:r>
            <a:r>
              <a:rPr b="0" spc="-20" dirty="0">
                <a:solidFill>
                  <a:schemeClr val="tx1"/>
                </a:solidFill>
              </a:rPr>
              <a:t>POP)</a:t>
            </a:r>
          </a:p>
          <a:p>
            <a:pPr marL="381000" indent="-342900">
              <a:lnSpc>
                <a:spcPts val="2365"/>
              </a:lnSpc>
              <a:spcBef>
                <a:spcPts val="5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Dissolved</a:t>
            </a:r>
            <a:r>
              <a:rPr b="0" spc="-9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and</a:t>
            </a:r>
            <a:r>
              <a:rPr b="0" spc="9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particulate</a:t>
            </a:r>
            <a:r>
              <a:rPr b="0" spc="-95" dirty="0">
                <a:solidFill>
                  <a:schemeClr val="tx1"/>
                </a:solidFill>
              </a:rPr>
              <a:t> </a:t>
            </a:r>
            <a:r>
              <a:rPr b="0" spc="-10" dirty="0">
                <a:solidFill>
                  <a:schemeClr val="tx1"/>
                </a:solidFill>
              </a:rPr>
              <a:t>silica</a:t>
            </a:r>
          </a:p>
          <a:p>
            <a:pPr marL="381000" indent="-342900">
              <a:lnSpc>
                <a:spcPts val="2325"/>
              </a:lnSpc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Alkalinity,</a:t>
            </a:r>
            <a:r>
              <a:rPr b="0" spc="-105" dirty="0">
                <a:solidFill>
                  <a:schemeClr val="tx1"/>
                </a:solidFill>
              </a:rPr>
              <a:t> </a:t>
            </a:r>
            <a:r>
              <a:rPr b="0" spc="-50" dirty="0">
                <a:solidFill>
                  <a:schemeClr val="tx1"/>
                </a:solidFill>
              </a:rPr>
              <a:t>Total</a:t>
            </a:r>
            <a:r>
              <a:rPr b="0" spc="-14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inorganic</a:t>
            </a:r>
            <a:r>
              <a:rPr b="0" spc="-1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carbon</a:t>
            </a:r>
            <a:r>
              <a:rPr b="0" spc="-6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(TIC),</a:t>
            </a:r>
            <a:r>
              <a:rPr b="0" spc="-100" dirty="0">
                <a:solidFill>
                  <a:schemeClr val="tx1"/>
                </a:solidFill>
              </a:rPr>
              <a:t> </a:t>
            </a:r>
            <a:r>
              <a:rPr b="0" spc="-25" dirty="0">
                <a:solidFill>
                  <a:schemeClr val="tx1"/>
                </a:solidFill>
              </a:rPr>
              <a:t>PH</a:t>
            </a:r>
          </a:p>
          <a:p>
            <a:pPr marL="381000" indent="-342900">
              <a:lnSpc>
                <a:spcPts val="2365"/>
              </a:lnSpc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Different</a:t>
            </a:r>
            <a:r>
              <a:rPr b="0" spc="-65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algal</a:t>
            </a:r>
            <a:r>
              <a:rPr b="0" spc="-95" dirty="0">
                <a:solidFill>
                  <a:schemeClr val="tx1"/>
                </a:solidFill>
              </a:rPr>
              <a:t> </a:t>
            </a:r>
            <a:r>
              <a:rPr b="0" spc="-10" dirty="0">
                <a:solidFill>
                  <a:schemeClr val="tx1"/>
                </a:solidFill>
              </a:rPr>
              <a:t>groups</a:t>
            </a:r>
          </a:p>
          <a:p>
            <a:pPr marL="381000" indent="-342900">
              <a:lnSpc>
                <a:spcPts val="2365"/>
              </a:lnSpc>
              <a:spcBef>
                <a:spcPts val="5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spc="-25" dirty="0">
                <a:solidFill>
                  <a:schemeClr val="tx1"/>
                </a:solidFill>
              </a:rPr>
              <a:t>NH</a:t>
            </a:r>
            <a:r>
              <a:rPr sz="2025" b="0" spc="-37" baseline="-18518" dirty="0">
                <a:solidFill>
                  <a:schemeClr val="tx1"/>
                </a:solidFill>
              </a:rPr>
              <a:t>4</a:t>
            </a:r>
            <a:r>
              <a:rPr sz="2000" b="0" spc="-25" dirty="0">
                <a:solidFill>
                  <a:schemeClr val="tx1"/>
                </a:solidFill>
              </a:rPr>
              <a:t>-</a:t>
            </a:r>
            <a:r>
              <a:rPr sz="2000" b="0" dirty="0">
                <a:solidFill>
                  <a:schemeClr val="tx1"/>
                </a:solidFill>
              </a:rPr>
              <a:t>N,</a:t>
            </a:r>
            <a:r>
              <a:rPr sz="2000" b="0" spc="55" dirty="0">
                <a:solidFill>
                  <a:schemeClr val="tx1"/>
                </a:solidFill>
              </a:rPr>
              <a:t> </a:t>
            </a:r>
            <a:r>
              <a:rPr sz="2000" b="0" spc="-10" dirty="0">
                <a:solidFill>
                  <a:schemeClr val="tx1"/>
                </a:solidFill>
              </a:rPr>
              <a:t>NO</a:t>
            </a:r>
            <a:r>
              <a:rPr sz="2025" b="0" spc="-15" baseline="-18518" dirty="0">
                <a:solidFill>
                  <a:schemeClr val="tx1"/>
                </a:solidFill>
              </a:rPr>
              <a:t>3</a:t>
            </a:r>
            <a:r>
              <a:rPr sz="2000" b="0" spc="-10" dirty="0">
                <a:solidFill>
                  <a:schemeClr val="tx1"/>
                </a:solidFill>
              </a:rPr>
              <a:t>-N+NO</a:t>
            </a:r>
            <a:r>
              <a:rPr sz="2025" b="0" spc="-15" baseline="-18518" dirty="0">
                <a:solidFill>
                  <a:schemeClr val="tx1"/>
                </a:solidFill>
              </a:rPr>
              <a:t>2</a:t>
            </a:r>
            <a:r>
              <a:rPr sz="2000" b="0" spc="-10" dirty="0">
                <a:solidFill>
                  <a:schemeClr val="tx1"/>
                </a:solidFill>
              </a:rPr>
              <a:t>-</a:t>
            </a:r>
            <a:r>
              <a:rPr sz="2000" b="0" spc="-50" dirty="0">
                <a:solidFill>
                  <a:schemeClr val="tx1"/>
                </a:solidFill>
              </a:rPr>
              <a:t>N</a:t>
            </a:r>
            <a:endParaRPr sz="2000" b="0" dirty="0">
              <a:solidFill>
                <a:schemeClr val="tx1"/>
              </a:solidFill>
            </a:endParaRPr>
          </a:p>
          <a:p>
            <a:pPr marL="381000" indent="-342900">
              <a:lnSpc>
                <a:spcPts val="2365"/>
              </a:lnSpc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spc="-20" dirty="0">
                <a:solidFill>
                  <a:schemeClr val="tx1"/>
                </a:solidFill>
              </a:rPr>
              <a:t>PO</a:t>
            </a:r>
            <a:r>
              <a:rPr sz="2025" b="0" spc="-30" baseline="-18518" dirty="0">
                <a:solidFill>
                  <a:schemeClr val="tx1"/>
                </a:solidFill>
              </a:rPr>
              <a:t>4</a:t>
            </a:r>
            <a:r>
              <a:rPr sz="2000" b="0" spc="-20" dirty="0">
                <a:solidFill>
                  <a:schemeClr val="tx1"/>
                </a:solidFill>
              </a:rPr>
              <a:t>-</a:t>
            </a:r>
            <a:r>
              <a:rPr sz="2000" b="0" spc="-50" dirty="0">
                <a:solidFill>
                  <a:schemeClr val="tx1"/>
                </a:solidFill>
              </a:rPr>
              <a:t>P</a:t>
            </a:r>
            <a:endParaRPr sz="2000" b="0" dirty="0">
              <a:solidFill>
                <a:schemeClr val="tx1"/>
              </a:solidFill>
            </a:endParaRPr>
          </a:p>
          <a:p>
            <a:pPr marL="381000" indent="-342900">
              <a:lnSpc>
                <a:spcPts val="2365"/>
              </a:lnSpc>
              <a:spcBef>
                <a:spcPts val="5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Fe,</a:t>
            </a:r>
            <a:r>
              <a:rPr b="0" spc="-20" dirty="0">
                <a:solidFill>
                  <a:schemeClr val="tx1"/>
                </a:solidFill>
              </a:rPr>
              <a:t> </a:t>
            </a:r>
            <a:r>
              <a:rPr b="0" spc="-25" dirty="0">
                <a:solidFill>
                  <a:schemeClr val="tx1"/>
                </a:solidFill>
              </a:rPr>
              <a:t>Mn</a:t>
            </a:r>
          </a:p>
          <a:p>
            <a:pPr marL="381000" indent="-342900">
              <a:lnSpc>
                <a:spcPts val="2365"/>
              </a:lnSpc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CBOD</a:t>
            </a:r>
            <a:r>
              <a:rPr b="0" spc="-55" dirty="0">
                <a:solidFill>
                  <a:schemeClr val="tx1"/>
                </a:solidFill>
              </a:rPr>
              <a:t> </a:t>
            </a:r>
            <a:r>
              <a:rPr b="0" spc="-10" dirty="0">
                <a:solidFill>
                  <a:schemeClr val="tx1"/>
                </a:solidFill>
              </a:rPr>
              <a:t>groups</a:t>
            </a:r>
          </a:p>
          <a:p>
            <a:pPr marL="381000" indent="-342900">
              <a:lnSpc>
                <a:spcPts val="2365"/>
              </a:lnSpc>
              <a:spcBef>
                <a:spcPts val="5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dirty="0">
                <a:solidFill>
                  <a:schemeClr val="tx1"/>
                </a:solidFill>
              </a:rPr>
              <a:t>Sediment</a:t>
            </a:r>
            <a:r>
              <a:rPr b="0" spc="-10" dirty="0">
                <a:solidFill>
                  <a:schemeClr val="tx1"/>
                </a:solidFill>
              </a:rPr>
              <a:t> </a:t>
            </a:r>
            <a:r>
              <a:rPr b="0" dirty="0">
                <a:solidFill>
                  <a:schemeClr val="tx1"/>
                </a:solidFill>
              </a:rPr>
              <a:t>diagenesis</a:t>
            </a:r>
            <a:r>
              <a:rPr b="0" spc="-85" dirty="0">
                <a:solidFill>
                  <a:schemeClr val="tx1"/>
                </a:solidFill>
              </a:rPr>
              <a:t> </a:t>
            </a:r>
            <a:r>
              <a:rPr b="0" spc="-10" dirty="0">
                <a:solidFill>
                  <a:schemeClr val="tx1"/>
                </a:solidFill>
              </a:rPr>
              <a:t>model</a:t>
            </a:r>
          </a:p>
          <a:p>
            <a:pPr marL="381000" indent="-342900">
              <a:lnSpc>
                <a:spcPts val="2365"/>
              </a:lnSpc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323215" algn="l"/>
                <a:tab pos="323850" algn="l"/>
              </a:tabLst>
            </a:pPr>
            <a:r>
              <a:rPr b="0" spc="-10" dirty="0">
                <a:solidFill>
                  <a:schemeClr val="tx1"/>
                </a:solidFill>
              </a:rPr>
              <a:t>SYSTDG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09575" y="514350"/>
            <a:ext cx="11358880" cy="5800725"/>
            <a:chOff x="409575" y="514350"/>
            <a:chExt cx="11358880" cy="580072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38700" y="514350"/>
              <a:ext cx="6400800" cy="31242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67275" y="3609975"/>
              <a:ext cx="6705600" cy="2647950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592149"/>
          </a:xfrm>
          <a:prstGeom prst="rect">
            <a:avLst/>
          </a:prstGeom>
        </p:spPr>
        <p:txBody>
          <a:bodyPr vert="horz" wrap="square" lIns="0" tIns="9874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-10" dirty="0">
                <a:solidFill>
                  <a:schemeClr val="tx1"/>
                </a:solidFill>
              </a:rPr>
              <a:t>CE-</a:t>
            </a:r>
            <a:r>
              <a:rPr sz="3200" spc="-30" dirty="0">
                <a:solidFill>
                  <a:schemeClr val="tx1"/>
                </a:solidFill>
              </a:rPr>
              <a:t>QUAL-</a:t>
            </a:r>
            <a:r>
              <a:rPr sz="3200" dirty="0">
                <a:solidFill>
                  <a:schemeClr val="tx1"/>
                </a:solidFill>
              </a:rPr>
              <a:t>W2</a:t>
            </a:r>
            <a:r>
              <a:rPr sz="3200" spc="-70" dirty="0">
                <a:solidFill>
                  <a:schemeClr val="tx1"/>
                </a:solidFill>
              </a:rPr>
              <a:t> </a:t>
            </a:r>
            <a:r>
              <a:rPr sz="3200" spc="-25" dirty="0">
                <a:solidFill>
                  <a:schemeClr val="tx1"/>
                </a:solidFill>
              </a:rPr>
              <a:t>DOM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592149"/>
          </a:xfrm>
          <a:prstGeom prst="rect">
            <a:avLst/>
          </a:prstGeom>
        </p:spPr>
        <p:txBody>
          <a:bodyPr vert="horz" wrap="square" lIns="0" tIns="9874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-10" dirty="0">
                <a:solidFill>
                  <a:schemeClr val="tx1"/>
                </a:solidFill>
              </a:rPr>
              <a:t>CE-</a:t>
            </a:r>
            <a:r>
              <a:rPr sz="3200" spc="-30" dirty="0">
                <a:solidFill>
                  <a:schemeClr val="tx1"/>
                </a:solidFill>
              </a:rPr>
              <a:t>QUAL-</a:t>
            </a:r>
            <a:r>
              <a:rPr sz="3200" dirty="0">
                <a:solidFill>
                  <a:schemeClr val="tx1"/>
                </a:solidFill>
              </a:rPr>
              <a:t>W2</a:t>
            </a:r>
            <a:r>
              <a:rPr sz="3200" spc="-70" dirty="0">
                <a:solidFill>
                  <a:schemeClr val="tx1"/>
                </a:solidFill>
              </a:rPr>
              <a:t> </a:t>
            </a:r>
            <a:r>
              <a:rPr sz="3200" spc="-25" dirty="0">
                <a:solidFill>
                  <a:schemeClr val="tx1"/>
                </a:solidFill>
              </a:rPr>
              <a:t>POM</a:t>
            </a:r>
            <a:endParaRPr sz="3200">
              <a:solidFill>
                <a:schemeClr val="tx1"/>
              </a:solidFill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grpSp>
        <p:nvGrpSpPr>
          <p:cNvPr id="4" name="object 4"/>
          <p:cNvGrpSpPr/>
          <p:nvPr/>
        </p:nvGrpSpPr>
        <p:grpSpPr>
          <a:xfrm>
            <a:off x="4829175" y="228600"/>
            <a:ext cx="6553200" cy="6038850"/>
            <a:chOff x="4829175" y="228600"/>
            <a:chExt cx="6553200" cy="603885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19675" y="228600"/>
              <a:ext cx="6248400" cy="359092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29175" y="3552825"/>
              <a:ext cx="6553200" cy="27146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592149"/>
          </a:xfrm>
          <a:prstGeom prst="rect">
            <a:avLst/>
          </a:prstGeom>
        </p:spPr>
        <p:txBody>
          <a:bodyPr vert="horz" wrap="square" lIns="0" tIns="9874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-10" dirty="0">
                <a:solidFill>
                  <a:schemeClr val="tx1"/>
                </a:solidFill>
              </a:rPr>
              <a:t>CE-</a:t>
            </a:r>
            <a:r>
              <a:rPr sz="3200" spc="-30" dirty="0">
                <a:solidFill>
                  <a:schemeClr val="tx1"/>
                </a:solidFill>
              </a:rPr>
              <a:t>QUAL-</a:t>
            </a:r>
            <a:r>
              <a:rPr sz="3200" dirty="0">
                <a:solidFill>
                  <a:schemeClr val="tx1"/>
                </a:solidFill>
              </a:rPr>
              <a:t>W2</a:t>
            </a:r>
            <a:r>
              <a:rPr sz="3200" spc="-135" dirty="0">
                <a:solidFill>
                  <a:schemeClr val="tx1"/>
                </a:solidFill>
              </a:rPr>
              <a:t> </a:t>
            </a:r>
            <a:r>
              <a:rPr sz="3200" spc="-10" dirty="0">
                <a:solidFill>
                  <a:schemeClr val="tx1"/>
                </a:solidFill>
              </a:rPr>
              <a:t>Ammonium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43200" y="1143000"/>
            <a:ext cx="7010400" cy="49434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592149"/>
          </a:xfrm>
          <a:prstGeom prst="rect">
            <a:avLst/>
          </a:prstGeom>
        </p:spPr>
        <p:txBody>
          <a:bodyPr vert="horz" wrap="square" lIns="0" tIns="9874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-10" dirty="0">
                <a:solidFill>
                  <a:schemeClr val="tx1"/>
                </a:solidFill>
              </a:rPr>
              <a:t>CE-</a:t>
            </a:r>
            <a:r>
              <a:rPr sz="3200" spc="-30" dirty="0">
                <a:solidFill>
                  <a:schemeClr val="tx1"/>
                </a:solidFill>
              </a:rPr>
              <a:t>QUAL-</a:t>
            </a:r>
            <a:r>
              <a:rPr sz="3200" dirty="0">
                <a:solidFill>
                  <a:schemeClr val="tx1"/>
                </a:solidFill>
              </a:rPr>
              <a:t>W2</a:t>
            </a:r>
            <a:r>
              <a:rPr sz="3200" spc="-70" dirty="0">
                <a:solidFill>
                  <a:schemeClr val="tx1"/>
                </a:solidFill>
              </a:rPr>
              <a:t> </a:t>
            </a:r>
            <a:r>
              <a:rPr sz="3200" spc="-10" dirty="0">
                <a:solidFill>
                  <a:schemeClr val="tx1"/>
                </a:solidFill>
              </a:rPr>
              <a:t>Nitrate/Nitrite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4175" y="1828800"/>
            <a:ext cx="6248400" cy="22574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592149"/>
          </a:xfrm>
          <a:prstGeom prst="rect">
            <a:avLst/>
          </a:prstGeom>
        </p:spPr>
        <p:txBody>
          <a:bodyPr vert="horz" wrap="square" lIns="0" tIns="9874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-10" dirty="0">
                <a:solidFill>
                  <a:schemeClr val="tx1"/>
                </a:solidFill>
              </a:rPr>
              <a:t>CE-</a:t>
            </a:r>
            <a:r>
              <a:rPr sz="3200" spc="-30" dirty="0">
                <a:solidFill>
                  <a:schemeClr val="tx1"/>
                </a:solidFill>
              </a:rPr>
              <a:t>QUAL-</a:t>
            </a:r>
            <a:r>
              <a:rPr sz="3200" dirty="0">
                <a:solidFill>
                  <a:schemeClr val="tx1"/>
                </a:solidFill>
              </a:rPr>
              <a:t>W2</a:t>
            </a:r>
            <a:r>
              <a:rPr sz="3200" spc="-70" dirty="0">
                <a:solidFill>
                  <a:schemeClr val="tx1"/>
                </a:solidFill>
              </a:rPr>
              <a:t> </a:t>
            </a:r>
            <a:r>
              <a:rPr sz="3200" spc="-10" dirty="0">
                <a:solidFill>
                  <a:schemeClr val="tx1"/>
                </a:solidFill>
              </a:rPr>
              <a:t>Phosphate</a:t>
            </a:r>
            <a:endParaRPr sz="320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9400" y="1371600"/>
            <a:ext cx="6629400" cy="45529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592149"/>
          </a:xfrm>
          <a:prstGeom prst="rect">
            <a:avLst/>
          </a:prstGeom>
        </p:spPr>
        <p:txBody>
          <a:bodyPr vert="horz" wrap="square" lIns="0" tIns="9874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-10" dirty="0">
                <a:solidFill>
                  <a:schemeClr val="tx1"/>
                </a:solidFill>
              </a:rPr>
              <a:t>CE-</a:t>
            </a:r>
            <a:r>
              <a:rPr sz="3200" spc="-30" dirty="0">
                <a:solidFill>
                  <a:schemeClr val="tx1"/>
                </a:solidFill>
              </a:rPr>
              <a:t>QUAL-</a:t>
            </a:r>
            <a:r>
              <a:rPr sz="3200" dirty="0">
                <a:solidFill>
                  <a:schemeClr val="tx1"/>
                </a:solidFill>
              </a:rPr>
              <a:t>W2</a:t>
            </a:r>
            <a:r>
              <a:rPr sz="3200" spc="-70" dirty="0">
                <a:solidFill>
                  <a:schemeClr val="tx1"/>
                </a:solidFill>
              </a:rPr>
              <a:t> </a:t>
            </a:r>
            <a:r>
              <a:rPr sz="3200" spc="-25" dirty="0">
                <a:solidFill>
                  <a:schemeClr val="tx1"/>
                </a:solidFill>
              </a:rPr>
              <a:t>DO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79776" y="1166941"/>
            <a:ext cx="6400800" cy="48482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20726" y="292757"/>
            <a:ext cx="3837304" cy="51815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-10" dirty="0">
                <a:solidFill>
                  <a:schemeClr val="tx1"/>
                </a:solidFill>
              </a:rPr>
              <a:t>CE-</a:t>
            </a:r>
            <a:r>
              <a:rPr sz="3200" spc="-30" dirty="0">
                <a:solidFill>
                  <a:schemeClr val="tx1"/>
                </a:solidFill>
              </a:rPr>
              <a:t>QUAL-</a:t>
            </a:r>
            <a:r>
              <a:rPr sz="3200" dirty="0">
                <a:solidFill>
                  <a:schemeClr val="tx1"/>
                </a:solidFill>
              </a:rPr>
              <a:t>W2</a:t>
            </a:r>
            <a:r>
              <a:rPr sz="3200" spc="-135" dirty="0">
                <a:solidFill>
                  <a:schemeClr val="tx1"/>
                </a:solidFill>
              </a:rPr>
              <a:t> </a:t>
            </a:r>
            <a:r>
              <a:rPr sz="3200" spc="-10" dirty="0">
                <a:solidFill>
                  <a:schemeClr val="tx1"/>
                </a:solidFill>
              </a:rPr>
              <a:t>Algae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4600" y="1266825"/>
            <a:ext cx="7029450" cy="47720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592149"/>
          </a:xfrm>
          <a:prstGeom prst="rect">
            <a:avLst/>
          </a:prstGeom>
        </p:spPr>
        <p:txBody>
          <a:bodyPr vert="horz" wrap="square" lIns="0" tIns="9874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-10" dirty="0">
                <a:solidFill>
                  <a:schemeClr val="tx1"/>
                </a:solidFill>
              </a:rPr>
              <a:t>CE-</a:t>
            </a:r>
            <a:r>
              <a:rPr sz="3200" spc="-30" dirty="0">
                <a:solidFill>
                  <a:schemeClr val="tx1"/>
                </a:solidFill>
              </a:rPr>
              <a:t>QUAL-</a:t>
            </a:r>
            <a:r>
              <a:rPr sz="3200" dirty="0">
                <a:solidFill>
                  <a:schemeClr val="tx1"/>
                </a:solidFill>
              </a:rPr>
              <a:t>W2</a:t>
            </a:r>
            <a:r>
              <a:rPr sz="3200" spc="-30" dirty="0">
                <a:solidFill>
                  <a:schemeClr val="tx1"/>
                </a:solidFill>
              </a:rPr>
              <a:t> </a:t>
            </a:r>
            <a:r>
              <a:rPr sz="3200" dirty="0">
                <a:solidFill>
                  <a:schemeClr val="tx1"/>
                </a:solidFill>
              </a:rPr>
              <a:t>Bed</a:t>
            </a:r>
            <a:r>
              <a:rPr sz="3200" spc="-35" dirty="0">
                <a:solidFill>
                  <a:schemeClr val="tx1"/>
                </a:solidFill>
              </a:rPr>
              <a:t> </a:t>
            </a:r>
            <a:r>
              <a:rPr sz="3200" dirty="0">
                <a:solidFill>
                  <a:schemeClr val="tx1"/>
                </a:solidFill>
              </a:rPr>
              <a:t>Sediment</a:t>
            </a:r>
            <a:r>
              <a:rPr sz="3200" spc="-180" dirty="0">
                <a:solidFill>
                  <a:schemeClr val="tx1"/>
                </a:solidFill>
              </a:rPr>
              <a:t> </a:t>
            </a:r>
            <a:r>
              <a:rPr sz="3200" dirty="0">
                <a:solidFill>
                  <a:schemeClr val="tx1"/>
                </a:solidFill>
              </a:rPr>
              <a:t>–</a:t>
            </a:r>
            <a:r>
              <a:rPr sz="3200" spc="-10" dirty="0">
                <a:solidFill>
                  <a:schemeClr val="tx1"/>
                </a:solidFill>
              </a:rPr>
              <a:t> </a:t>
            </a:r>
            <a:r>
              <a:rPr sz="3200" dirty="0">
                <a:solidFill>
                  <a:schemeClr val="tx1"/>
                </a:solidFill>
              </a:rPr>
              <a:t>First</a:t>
            </a:r>
            <a:r>
              <a:rPr sz="3200" spc="-100" dirty="0">
                <a:solidFill>
                  <a:schemeClr val="tx1"/>
                </a:solidFill>
              </a:rPr>
              <a:t> </a:t>
            </a:r>
            <a:r>
              <a:rPr sz="3200" spc="-10" dirty="0">
                <a:solidFill>
                  <a:schemeClr val="tx1"/>
                </a:solidFill>
              </a:rPr>
              <a:t>Order</a:t>
            </a:r>
            <a:r>
              <a:rPr sz="3200" spc="-204" dirty="0">
                <a:solidFill>
                  <a:schemeClr val="tx1"/>
                </a:solidFill>
              </a:rPr>
              <a:t> </a:t>
            </a:r>
            <a:r>
              <a:rPr sz="3200" spc="-10" dirty="0">
                <a:solidFill>
                  <a:schemeClr val="tx1"/>
                </a:solidFill>
              </a:rPr>
              <a:t>Approach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76525" y="1924050"/>
            <a:ext cx="7010400" cy="27717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457" y="290512"/>
            <a:ext cx="10563225" cy="568040"/>
          </a:xfrm>
          <a:prstGeom prst="rect">
            <a:avLst/>
          </a:prstGeom>
        </p:spPr>
        <p:txBody>
          <a:bodyPr vert="horz" wrap="square" lIns="0" tIns="14344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750" dirty="0">
                <a:solidFill>
                  <a:schemeClr val="tx1"/>
                </a:solidFill>
              </a:rPr>
              <a:t>CE-QUAL-W2</a:t>
            </a:r>
            <a:r>
              <a:rPr sz="2750" spc="280" dirty="0">
                <a:solidFill>
                  <a:schemeClr val="tx1"/>
                </a:solidFill>
              </a:rPr>
              <a:t> </a:t>
            </a:r>
            <a:r>
              <a:rPr sz="2750" dirty="0">
                <a:solidFill>
                  <a:schemeClr val="tx1"/>
                </a:solidFill>
              </a:rPr>
              <a:t>Bed</a:t>
            </a:r>
            <a:r>
              <a:rPr sz="2750" spc="180" dirty="0">
                <a:solidFill>
                  <a:schemeClr val="tx1"/>
                </a:solidFill>
              </a:rPr>
              <a:t> </a:t>
            </a:r>
            <a:r>
              <a:rPr sz="2750" dirty="0">
                <a:solidFill>
                  <a:schemeClr val="tx1"/>
                </a:solidFill>
              </a:rPr>
              <a:t>Sediment</a:t>
            </a:r>
            <a:r>
              <a:rPr sz="2750" spc="130" dirty="0">
                <a:solidFill>
                  <a:schemeClr val="tx1"/>
                </a:solidFill>
              </a:rPr>
              <a:t> </a:t>
            </a:r>
            <a:r>
              <a:rPr sz="2750" dirty="0">
                <a:solidFill>
                  <a:schemeClr val="tx1"/>
                </a:solidFill>
              </a:rPr>
              <a:t>–</a:t>
            </a:r>
            <a:r>
              <a:rPr sz="2750" spc="275" dirty="0">
                <a:solidFill>
                  <a:schemeClr val="tx1"/>
                </a:solidFill>
              </a:rPr>
              <a:t> </a:t>
            </a:r>
            <a:r>
              <a:rPr sz="2750" dirty="0">
                <a:solidFill>
                  <a:schemeClr val="tx1"/>
                </a:solidFill>
              </a:rPr>
              <a:t>Sediment</a:t>
            </a:r>
            <a:r>
              <a:rPr sz="2750" spc="120" dirty="0">
                <a:solidFill>
                  <a:schemeClr val="tx1"/>
                </a:solidFill>
              </a:rPr>
              <a:t> </a:t>
            </a:r>
            <a:r>
              <a:rPr sz="2750" dirty="0">
                <a:solidFill>
                  <a:schemeClr val="tx1"/>
                </a:solidFill>
              </a:rPr>
              <a:t>Diagenesis</a:t>
            </a:r>
            <a:r>
              <a:rPr sz="2750" spc="175" dirty="0">
                <a:solidFill>
                  <a:schemeClr val="tx1"/>
                </a:solidFill>
              </a:rPr>
              <a:t> </a:t>
            </a:r>
            <a:r>
              <a:rPr sz="2750" spc="-10" dirty="0">
                <a:solidFill>
                  <a:schemeClr val="tx1"/>
                </a:solidFill>
              </a:rPr>
              <a:t>Model</a:t>
            </a:r>
            <a:endParaRPr sz="2750" dirty="0">
              <a:solidFill>
                <a:schemeClr val="tx1"/>
              </a:solidFill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90700" y="1028700"/>
            <a:ext cx="868680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43100" y="971550"/>
            <a:ext cx="8572500" cy="51435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Conversions</a:t>
            </a:r>
            <a:r>
              <a:rPr spc="5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between</a:t>
            </a:r>
            <a:r>
              <a:rPr spc="-12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CE-</a:t>
            </a:r>
            <a:r>
              <a:rPr spc="-30" dirty="0">
                <a:solidFill>
                  <a:schemeClr val="tx1"/>
                </a:solidFill>
              </a:rPr>
              <a:t>QUAL-</a:t>
            </a:r>
            <a:r>
              <a:rPr dirty="0">
                <a:solidFill>
                  <a:schemeClr val="tx1"/>
                </a:solidFill>
              </a:rPr>
              <a:t>W2</a:t>
            </a:r>
            <a:r>
              <a:rPr spc="7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State</a:t>
            </a:r>
            <a:r>
              <a:rPr spc="-70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Variables</a:t>
            </a:r>
            <a:r>
              <a:rPr spc="-2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and</a:t>
            </a:r>
            <a:r>
              <a:rPr spc="2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Commonly</a:t>
            </a:r>
            <a:r>
              <a:rPr spc="80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Used</a:t>
            </a:r>
          </a:p>
          <a:p>
            <a:pPr marL="12700">
              <a:lnSpc>
                <a:spcPct val="100000"/>
              </a:lnSpc>
              <a:spcBef>
                <a:spcPts val="50"/>
              </a:spcBef>
            </a:pPr>
            <a:r>
              <a:rPr dirty="0">
                <a:solidFill>
                  <a:schemeClr val="tx1"/>
                </a:solidFill>
              </a:rPr>
              <a:t>Field</a:t>
            </a:r>
            <a:r>
              <a:rPr spc="-70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6357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0975" y="219075"/>
              <a:ext cx="11791950" cy="6353175"/>
            </a:xfrm>
            <a:prstGeom prst="rect">
              <a:avLst/>
            </a:prstGeom>
          </p:spPr>
        </p:pic>
      </p:grpSp>
      <p:sp>
        <p:nvSpPr>
          <p:cNvPr id="5" name="object 5"/>
          <p:cNvSpPr/>
          <p:nvPr/>
        </p:nvSpPr>
        <p:spPr>
          <a:xfrm>
            <a:off x="6076950" y="3424237"/>
            <a:ext cx="28575" cy="0"/>
          </a:xfrm>
          <a:custGeom>
            <a:avLst/>
            <a:gdLst/>
            <a:ahLst/>
            <a:cxnLst/>
            <a:rect l="l" t="t" r="r" b="b"/>
            <a:pathLst>
              <a:path w="28575">
                <a:moveTo>
                  <a:pt x="0" y="0"/>
                </a:moveTo>
                <a:lnTo>
                  <a:pt x="28573" y="0"/>
                </a:lnTo>
              </a:path>
            </a:pathLst>
          </a:custGeom>
          <a:ln w="9524">
            <a:solidFill>
              <a:srgbClr val="FEFEF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09575" y="6305550"/>
            <a:ext cx="11358880" cy="0"/>
          </a:xfrm>
          <a:custGeom>
            <a:avLst/>
            <a:gdLst/>
            <a:ahLst/>
            <a:cxnLst/>
            <a:rect l="l" t="t" r="r" b="b"/>
            <a:pathLst>
              <a:path w="11358880">
                <a:moveTo>
                  <a:pt x="0" y="0"/>
                </a:moveTo>
                <a:lnTo>
                  <a:pt x="1135888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009645" y="6318567"/>
            <a:ext cx="2473325" cy="2432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00" spc="-20" dirty="0">
                <a:latin typeface="Arial"/>
                <a:cs typeface="Arial"/>
              </a:rPr>
              <a:t>US</a:t>
            </a:r>
            <a:r>
              <a:rPr sz="1400" spc="-4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Army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Corps</a:t>
            </a:r>
            <a:r>
              <a:rPr sz="1400" spc="-11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of</a:t>
            </a:r>
            <a:r>
              <a:rPr sz="1400" spc="-9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Engineers</a:t>
            </a:r>
            <a:r>
              <a:rPr sz="1400" spc="330" dirty="0">
                <a:latin typeface="Arial"/>
                <a:cs typeface="Arial"/>
              </a:rPr>
              <a:t> </a:t>
            </a:r>
            <a:r>
              <a:rPr sz="1400" spc="-50" dirty="0">
                <a:latin typeface="Symbol"/>
                <a:cs typeface="Symbol"/>
              </a:rPr>
              <a:t></a:t>
            </a:r>
            <a:endParaRPr sz="1400">
              <a:latin typeface="Symbol"/>
              <a:cs typeface="Symbo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636895" y="33273"/>
            <a:ext cx="93345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-10" dirty="0">
                <a:solidFill>
                  <a:srgbClr val="757575"/>
                </a:solidFill>
                <a:latin typeface="Arial"/>
                <a:cs typeface="Arial"/>
              </a:rPr>
              <a:t>UNCLASSIFIED</a:t>
            </a:r>
            <a:endParaRPr sz="9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611876" y="6318567"/>
            <a:ext cx="3568700" cy="48196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00" dirty="0">
                <a:latin typeface="Arial"/>
                <a:cs typeface="Arial"/>
              </a:rPr>
              <a:t>Engineer</a:t>
            </a:r>
            <a:r>
              <a:rPr sz="1400" spc="-16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Research</a:t>
            </a:r>
            <a:r>
              <a:rPr sz="1400" spc="-18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and</a:t>
            </a:r>
            <a:r>
              <a:rPr sz="1400" spc="7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Development</a:t>
            </a:r>
            <a:r>
              <a:rPr sz="1400" spc="-15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Center</a:t>
            </a:r>
            <a:endParaRPr sz="1400">
              <a:latin typeface="Arial"/>
              <a:cs typeface="Arial"/>
            </a:endParaRPr>
          </a:p>
          <a:p>
            <a:pPr marL="30480">
              <a:lnSpc>
                <a:spcPct val="100000"/>
              </a:lnSpc>
              <a:spcBef>
                <a:spcPts val="740"/>
              </a:spcBef>
            </a:pPr>
            <a:r>
              <a:rPr sz="950" b="1" spc="-10" dirty="0">
                <a:solidFill>
                  <a:srgbClr val="757575"/>
                </a:solidFill>
                <a:latin typeface="Arial"/>
                <a:cs typeface="Arial"/>
              </a:rPr>
              <a:t>UNCLASSIFIED</a:t>
            </a:r>
            <a:endParaRPr sz="95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274320" y="327405"/>
            <a:ext cx="2266315" cy="51815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-10" dirty="0">
                <a:solidFill>
                  <a:srgbClr val="000000"/>
                </a:solidFill>
              </a:rPr>
              <a:t>Questions?</a:t>
            </a:r>
            <a:endParaRPr sz="3200"/>
          </a:p>
        </p:txBody>
      </p:sp>
      <p:sp>
        <p:nvSpPr>
          <p:cNvPr id="11" name="object 11"/>
          <p:cNvSpPr txBox="1"/>
          <p:nvPr/>
        </p:nvSpPr>
        <p:spPr>
          <a:xfrm>
            <a:off x="11271884" y="6637337"/>
            <a:ext cx="15875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Arial"/>
                <a:cs typeface="Arial"/>
              </a:rPr>
              <a:t>19</a:t>
            </a:r>
            <a:endParaRPr sz="900">
              <a:latin typeface="Arial"/>
              <a:cs typeface="Arial"/>
            </a:endParaRPr>
          </a:p>
        </p:txBody>
      </p:sp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152650" y="981075"/>
            <a:ext cx="7886700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5BD5409E-D28A-4DE1-B742-12A5FE8EEDE3}" vid="{659E9C23-BBC0-40D1-881C-ED13B734E766}"/>
    </a:ext>
  </a:extLst>
</a:theme>
</file>

<file path=ppt/theme/theme2.xml><?xml version="1.0" encoding="utf-8"?>
<a:theme xmlns:a="http://schemas.openxmlformats.org/drawingml/2006/main" name="UNCL // FOUO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A99B459A-8B1A-4C1C-862F-E0F9CCA22596}"/>
    </a:ext>
  </a:extLst>
</a:theme>
</file>

<file path=ppt/theme/theme3.xml><?xml version="1.0" encoding="utf-8"?>
<a:theme xmlns:a="http://schemas.openxmlformats.org/drawingml/2006/main" name="UNCLASSIFIED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63E75002-AE9D-4785-8124-3AFCCDC59DC3}"/>
    </a:ext>
  </a:extLst>
</a:theme>
</file>

<file path=ppt/theme/theme4.xml><?xml version="1.0" encoding="utf-8"?>
<a:theme xmlns:a="http://schemas.openxmlformats.org/drawingml/2006/main" name="Custom Classification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C6CC15A3-3625-4B74-BD53-DE8C42AE3990}"/>
    </a:ext>
  </a:extLst>
</a:theme>
</file>

<file path=ppt/theme/theme5.xml><?xml version="1.0" encoding="utf-8"?>
<a:theme xmlns:a="http://schemas.openxmlformats.org/drawingml/2006/main" name="Standard White Theme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0957B2FE-61BF-4E25-9901-9769BBB77AC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F2FAC55F63A40BD9EED0C36836299" ma:contentTypeVersion="11" ma:contentTypeDescription="Create a new document." ma:contentTypeScope="" ma:versionID="3728a24128c8d92f839bb13793558aed">
  <xsd:schema xmlns:xsd="http://www.w3.org/2001/XMLSchema" xmlns:xs="http://www.w3.org/2001/XMLSchema" xmlns:p="http://schemas.microsoft.com/office/2006/metadata/properties" xmlns:ns2="83868113-c0a5-43de-a876-5fe4e9e92519" xmlns:ns3="33812d21-cc6d-40d3-8190-1784895c4f86" targetNamespace="http://schemas.microsoft.com/office/2006/metadata/properties" ma:root="true" ma:fieldsID="b12b5e841fafb2392613c5d5cd91cc7a" ns2:_="" ns3:_="">
    <xsd:import namespace="83868113-c0a5-43de-a876-5fe4e9e92519"/>
    <xsd:import namespace="33812d21-cc6d-40d3-8190-1784895c4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68113-c0a5-43de-a876-5fe4e9e925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6c1609-49e0-4fdc-8f5b-8b798a9691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812d21-cc6d-40d3-8190-1784895c4f8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54ceb61-3fcb-461d-8e52-255959401034}" ma:internalName="TaxCatchAll" ma:showField="CatchAllData" ma:web="33812d21-cc6d-40d3-8190-1784895c4f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3868113-c0a5-43de-a876-5fe4e9e92519">
      <Terms xmlns="http://schemas.microsoft.com/office/infopath/2007/PartnerControls"/>
    </lcf76f155ced4ddcb4097134ff3c332f>
    <TaxCatchAll xmlns="33812d21-cc6d-40d3-8190-1784895c4f86" xsi:nil="true"/>
  </documentManagement>
</p:properties>
</file>

<file path=customXml/itemProps1.xml><?xml version="1.0" encoding="utf-8"?>
<ds:datastoreItem xmlns:ds="http://schemas.openxmlformats.org/officeDocument/2006/customXml" ds:itemID="{B3E643FA-EA35-48D3-A529-19A73D17EC7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868113-c0a5-43de-a876-5fe4e9e92519"/>
    <ds:schemaRef ds:uri="33812d21-cc6d-40d3-8190-1784895c4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4D09613-DC5B-4D76-8055-9CD69337DA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8AE549-DE3F-46B5-9F61-CE5B0539764E}">
  <ds:schemaRefs>
    <ds:schemaRef ds:uri="http://schemas.microsoft.com/office/2006/metadata/properties"/>
    <ds:schemaRef ds:uri="http://schemas.microsoft.com/office/infopath/2007/PartnerControls"/>
    <ds:schemaRef ds:uri="83868113-c0a5-43de-a876-5fe4e9e92519"/>
    <ds:schemaRef ds:uri="33812d21-cc6d-40d3-8190-1784895c4f86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52</TotalTime>
  <Words>538</Words>
  <Application>Microsoft Macintosh PowerPoint</Application>
  <PresentationFormat>Widescreen</PresentationFormat>
  <Paragraphs>132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19</vt:i4>
      </vt:variant>
    </vt:vector>
  </HeadingPairs>
  <TitlesOfParts>
    <vt:vector size="30" baseType="lpstr">
      <vt:lpstr>Arial</vt:lpstr>
      <vt:lpstr>Calibri</vt:lpstr>
      <vt:lpstr>Cambria Math</vt:lpstr>
      <vt:lpstr>Symbol</vt:lpstr>
      <vt:lpstr>Times New Roman</vt:lpstr>
      <vt:lpstr>Wingdings</vt:lpstr>
      <vt:lpstr>Theme1</vt:lpstr>
      <vt:lpstr>UNCL // FOUO Content</vt:lpstr>
      <vt:lpstr>UNCLASSIFIED Content</vt:lpstr>
      <vt:lpstr>Custom Classification Content</vt:lpstr>
      <vt:lpstr>Standard White Theme</vt:lpstr>
      <vt:lpstr>WATER QUALITY MODELING</vt:lpstr>
      <vt:lpstr>Outline</vt:lpstr>
      <vt:lpstr>Water Quality</vt:lpstr>
      <vt:lpstr>PowerPoint Presentation</vt:lpstr>
      <vt:lpstr>CE-QUAL-W2 Water Quality</vt:lpstr>
      <vt:lpstr>Mass Balance</vt:lpstr>
      <vt:lpstr>Conservation</vt:lpstr>
      <vt:lpstr>CE-QUAL-W2 Water Quality</vt:lpstr>
      <vt:lpstr>CE-QUAL-W2 DOM</vt:lpstr>
      <vt:lpstr>CE-QUAL-W2 POM</vt:lpstr>
      <vt:lpstr>CE-QUAL-W2 Ammonium</vt:lpstr>
      <vt:lpstr>CE-QUAL-W2 Nitrate/Nitrite</vt:lpstr>
      <vt:lpstr>CE-QUAL-W2 Phosphate</vt:lpstr>
      <vt:lpstr>CE-QUAL-W2 DO</vt:lpstr>
      <vt:lpstr>CE-QUAL-W2 Algae</vt:lpstr>
      <vt:lpstr>CE-QUAL-W2 Bed Sediment – First Order Approach</vt:lpstr>
      <vt:lpstr>CE-QUAL-W2 Bed Sediment – Sediment Diagenesis Model</vt:lpstr>
      <vt:lpstr>Conversions between CE-QUAL-W2 State Variables and Commonly Used Field Data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WATER QUALITY MODELING</dc:title>
  <cp:lastModifiedBy>Todd Steissberg</cp:lastModifiedBy>
  <cp:revision>10</cp:revision>
  <dcterms:created xsi:type="dcterms:W3CDTF">2023-05-03T22:43:59Z</dcterms:created>
  <dcterms:modified xsi:type="dcterms:W3CDTF">2025-09-15T06:45:29Z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2022-08-15T00:00:00Z</vt:filetime>
  </property>
  <property fmtid="{D5CDD505-2E9C-101B-9397-08002B2CF9AE}" pid="3" name="LastSaved">
    <vt:filetime>2023-05-03T00:00:00Z</vt:filetime>
  </property>
  <property fmtid="{D5CDD505-2E9C-101B-9397-08002B2CF9AE}" pid="4" name="ContentTypeId">
    <vt:lpwstr>0x01010031AF2FAC55F63A40BD9EED0C36836299</vt:lpwstr>
  </property>
</Properties>
</file>