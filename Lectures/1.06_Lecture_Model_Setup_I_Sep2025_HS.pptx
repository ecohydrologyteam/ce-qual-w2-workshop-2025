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7" r:id="rId5"/>
    <p:sldMasterId id="2147483661" r:id="rId6"/>
    <p:sldMasterId id="2147483667" r:id="rId7"/>
    <p:sldMasterId id="2147483673" r:id="rId8"/>
    <p:sldMasterId id="2147483681" r:id="rId9"/>
  </p:sldMasterIdLst>
  <p:notesMasterIdLst>
    <p:notesMasterId r:id="rId2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RPLsuSJ55b6AGvg2HvyZLbXD/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3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customschemas.google.com/relationships/presentationmetadata" Target="metadata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Background 2">
  <p:cSld name="Title Slide - Background 2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body" idx="1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ftr" idx="11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2"/>
          </p:nvPr>
        </p:nvSpPr>
        <p:spPr>
          <a:xfrm>
            <a:off x="1" y="106998"/>
            <a:ext cx="12191999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3"/>
          </p:nvPr>
        </p:nvSpPr>
        <p:spPr>
          <a:xfrm>
            <a:off x="0" y="6455410"/>
            <a:ext cx="12192000" cy="29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0172379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06F7-6DC6-4586-B3ED-D4191F2A1E2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26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1 Column">
  <p:cSld name="Title and Content -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06400" y="27464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06400" y="1225550"/>
            <a:ext cx="11176000" cy="471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2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marL="914400" lvl="1" indent="-342900" algn="l">
              <a:spcBef>
                <a:spcPts val="225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marL="1371600" lvl="2" indent="-295275" algn="l">
              <a:spcBef>
                <a:spcPts val="225"/>
              </a:spcBef>
              <a:spcAft>
                <a:spcPts val="0"/>
              </a:spcAft>
              <a:buSzPts val="1050"/>
              <a:buChar char="►"/>
              <a:defRPr sz="1500">
                <a:solidFill>
                  <a:srgbClr val="3F3F3F"/>
                </a:solidFill>
              </a:defRPr>
            </a:lvl3pPr>
            <a:lvl4pPr marL="1828800" lvl="3" indent="-323850" algn="l">
              <a:spcBef>
                <a:spcPts val="225"/>
              </a:spcBef>
              <a:spcAft>
                <a:spcPts val="0"/>
              </a:spcAft>
              <a:buSzPts val="1500"/>
              <a:buChar char="–"/>
              <a:defRPr sz="1500">
                <a:solidFill>
                  <a:srgbClr val="3F3F3F"/>
                </a:solidFill>
              </a:defRPr>
            </a:lvl4pPr>
            <a:lvl5pPr marL="2286000" lvl="4" indent="-323850" algn="l">
              <a:spcBef>
                <a:spcPts val="225"/>
              </a:spcBef>
              <a:spcAft>
                <a:spcPts val="0"/>
              </a:spcAft>
              <a:buSzPts val="1500"/>
              <a:buChar char="»"/>
              <a:defRPr sz="15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285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60388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36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6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8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02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6358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98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99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89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03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35105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94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96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56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175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765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94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39696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19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42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762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40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405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3"/>
          <p:cNvPicPr preferRelativeResize="0"/>
          <p:nvPr/>
        </p:nvPicPr>
        <p:blipFill rotWithShape="1">
          <a:blip r:embed="rId4">
            <a:alphaModFix/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7;p13" descr="A body of water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16077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8;p13" descr="A picture containing tree, water, outdoor, natur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9290" y="516571"/>
            <a:ext cx="4583494" cy="255808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Google Shape;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3"/>
          <p:cNvSpPr txBox="1">
            <a:spLocks noGrp="1"/>
          </p:cNvSpPr>
          <p:nvPr>
            <p:ph type="ftr" idx="11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3"/>
          <p:cNvCxnSpPr/>
          <p:nvPr/>
        </p:nvCxnSpPr>
        <p:spPr>
          <a:xfrm rot="10800000">
            <a:off x="1476587" y="6373877"/>
            <a:ext cx="1020741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13"/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DISCOVER  |  DEVELOP  |  DELIVER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1" name="Title Placeholder 17"/>
          <p:cNvSpPr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03001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106640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151798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59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345323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www.erdc.usace.army.mil/Media/Images/igphoto/200247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title"/>
          </p:nvPr>
        </p:nvSpPr>
        <p:spPr>
          <a:xfrm>
            <a:off x="609603" y="1787233"/>
            <a:ext cx="3643420" cy="4001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defTabSz="685800">
              <a:spcBef>
                <a:spcPct val="0"/>
              </a:spcBef>
            </a:pPr>
            <a:r>
              <a:rPr lang="en-US" sz="2000" kern="1200" cap="all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MODEL SETUP I: LECTURE</a:t>
            </a:r>
            <a:endParaRPr sz="2000" kern="1200" cap="all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6" name="Google Shape;76;p1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9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 txBox="1">
            <a:spLocks noGrp="1"/>
          </p:cNvSpPr>
          <p:nvPr>
            <p:ph type="body" idx="2"/>
          </p:nvPr>
        </p:nvSpPr>
        <p:spPr>
          <a:xfrm>
            <a:off x="1" y="106998"/>
            <a:ext cx="12191999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UNCLASSIFIED</a:t>
            </a:r>
            <a:endParaRPr/>
          </a:p>
        </p:txBody>
      </p:sp>
      <p:sp>
        <p:nvSpPr>
          <p:cNvPr id="78" name="Google Shape;78;p1"/>
          <p:cNvSpPr txBox="1">
            <a:spLocks noGrp="1"/>
          </p:cNvSpPr>
          <p:nvPr>
            <p:ph type="body" idx="3"/>
          </p:nvPr>
        </p:nvSpPr>
        <p:spPr>
          <a:xfrm>
            <a:off x="0" y="6455410"/>
            <a:ext cx="12192000" cy="29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>
                <a:solidFill>
                  <a:schemeClr val="dk1"/>
                </a:solidFill>
              </a:rPr>
              <a:t>UNCLASSIFIED</a:t>
            </a:r>
            <a:endParaRPr/>
          </a:p>
        </p:txBody>
      </p:sp>
      <p:pic>
        <p:nvPicPr>
          <p:cNvPr id="79" name="Google Shape;79;p1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600" y="5784725"/>
            <a:ext cx="977900" cy="958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/>
          <p:cNvPicPr preferRelativeResize="0"/>
          <p:nvPr/>
        </p:nvPicPr>
        <p:blipFill rotWithShape="1">
          <a:blip r:embed="rId4">
            <a:alphaModFix/>
          </a:blip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 descr="Environmental Systems &#10;Modeling Team"/>
          <p:cNvSpPr/>
          <p:nvPr/>
        </p:nvSpPr>
        <p:spPr>
          <a:xfrm>
            <a:off x="8340651" y="5794410"/>
            <a:ext cx="977900" cy="12151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58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Calibri"/>
              </a:rPr>
              <a:t>Environmental Systems</a:t>
            </a:r>
            <a:br>
              <a:rPr b="0" i="0">
                <a:ln w="158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Calibri"/>
              </a:rPr>
            </a:br>
            <a:r>
              <a:rPr b="0" i="0">
                <a:ln w="158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Calibri"/>
              </a:rPr>
              <a:t>Modeling Team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0CF836-2272-AEDC-B883-7B08DBD17932}"/>
              </a:ext>
            </a:extLst>
          </p:cNvPr>
          <p:cNvSpPr txBox="1">
            <a:spLocks/>
          </p:cNvSpPr>
          <p:nvPr/>
        </p:nvSpPr>
        <p:spPr>
          <a:xfrm>
            <a:off x="609603" y="2392809"/>
            <a:ext cx="7652082" cy="262533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51435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576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293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0011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5728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6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Hailie Suk, PhD</a:t>
            </a:r>
          </a:p>
          <a:p>
            <a:r>
              <a:rPr lang="en-US" b="0"/>
              <a:t>Cold Regions Research and Engineering Laboratory (CRREL)</a:t>
            </a:r>
            <a:endParaRPr lang="en-US" b="0" dirty="0"/>
          </a:p>
          <a:p>
            <a:r>
              <a:rPr lang="en-US" b="0" dirty="0"/>
              <a:t>Engineer Research and Development Center (ERDC)</a:t>
            </a:r>
          </a:p>
          <a:p>
            <a:r>
              <a:rPr lang="en-US" b="0" dirty="0"/>
              <a:t>U.S. Army Corps of Engineers</a:t>
            </a:r>
          </a:p>
          <a:p>
            <a:endParaRPr lang="en-US" b="0" dirty="0"/>
          </a:p>
          <a:p>
            <a:r>
              <a:rPr lang="en-US" b="0" dirty="0"/>
              <a:t>CE-QUAL-W2 Water Quality Modeling Workshop</a:t>
            </a:r>
          </a:p>
          <a:p>
            <a:endParaRPr lang="en-US" b="0" dirty="0"/>
          </a:p>
          <a:p>
            <a:r>
              <a:rPr lang="en-US" b="0" dirty="0"/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Outline</a:t>
            </a:r>
            <a:endParaRPr/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6956" y="920460"/>
            <a:ext cx="7425444" cy="50170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406400" y="1665055"/>
            <a:ext cx="3400926" cy="3527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of problem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Information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Bathymetry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Meteorology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6819824" y="5937540"/>
            <a:ext cx="2099707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Detroit Dam, Oregon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Background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406400" y="1385107"/>
            <a:ext cx="6347400" cy="4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285115" marR="96520" lvl="0" indent="-273050" algn="l" rtl="0">
              <a:lnSpc>
                <a:spcPct val="99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Setting up a computational model is an effort to create a computational approximation of a real system.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260984" lvl="0" indent="-273050" algn="l" rtl="0">
              <a:lnSpc>
                <a:spcPct val="99400"/>
              </a:lnSpc>
              <a:spcBef>
                <a:spcPts val="1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model enables one to investigate past behavior or future conditions with regard to changes in conditions.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5080" lvl="0" indent="-273050" algn="l" rtl="0">
              <a:lnSpc>
                <a:spcPct val="991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Approximations, simplifications, and omissions are necessary but must be balanced with regards to the model’s ability to accurately capture the behavior of the real system.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8140879" y="413996"/>
            <a:ext cx="3436806" cy="5709341"/>
            <a:chOff x="6610653" y="1536015"/>
            <a:chExt cx="2790190" cy="4585351"/>
          </a:xfrm>
        </p:grpSpPr>
        <p:pic>
          <p:nvPicPr>
            <p:cNvPr id="97" name="Google Shape;9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14451" y="1539811"/>
              <a:ext cx="2781007" cy="22617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3"/>
            <p:cNvSpPr/>
            <p:nvPr/>
          </p:nvSpPr>
          <p:spPr>
            <a:xfrm>
              <a:off x="6610653" y="1536015"/>
              <a:ext cx="2790190" cy="2269490"/>
            </a:xfrm>
            <a:custGeom>
              <a:avLst/>
              <a:gdLst/>
              <a:ahLst/>
              <a:cxnLst/>
              <a:rect l="l" t="t" r="r" b="b"/>
              <a:pathLst>
                <a:path w="2790190" h="2269490" extrusionOk="0">
                  <a:moveTo>
                    <a:pt x="0" y="0"/>
                  </a:moveTo>
                  <a:lnTo>
                    <a:pt x="2790194" y="0"/>
                  </a:lnTo>
                  <a:lnTo>
                    <a:pt x="2790194" y="2269369"/>
                  </a:lnTo>
                  <a:lnTo>
                    <a:pt x="0" y="22693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14451" y="3855669"/>
              <a:ext cx="2781007" cy="2261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3"/>
            <p:cNvSpPr/>
            <p:nvPr/>
          </p:nvSpPr>
          <p:spPr>
            <a:xfrm>
              <a:off x="6610653" y="3851876"/>
              <a:ext cx="2790190" cy="2269490"/>
            </a:xfrm>
            <a:custGeom>
              <a:avLst/>
              <a:gdLst/>
              <a:ahLst/>
              <a:cxnLst/>
              <a:rect l="l" t="t" r="r" b="b"/>
              <a:pathLst>
                <a:path w="2790190" h="2269490" extrusionOk="0">
                  <a:moveTo>
                    <a:pt x="0" y="0"/>
                  </a:moveTo>
                  <a:lnTo>
                    <a:pt x="2790194" y="0"/>
                  </a:lnTo>
                  <a:lnTo>
                    <a:pt x="2790194" y="2269368"/>
                  </a:lnTo>
                  <a:lnTo>
                    <a:pt x="0" y="226936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How to Set Up and Run a Model Application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8186" y="1081093"/>
            <a:ext cx="3375628" cy="5030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Definition of Problem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406400" y="1416910"/>
            <a:ext cx="5534702" cy="402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285115" marR="5080" lvl="0" indent="-2730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water quality issues occurring in system that warrant a model?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they the result of: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 alterations?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Boundary Loadings?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Intermediate loadings?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Meteorology?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Altered system conditions?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139700" lvl="1" indent="-171450" algn="l" rtl="0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Anticipated future changes in any of above?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6985" lvl="0" indent="-272415" algn="l" rtl="0">
              <a:lnSpc>
                <a:spcPct val="995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information is required to set up a model to capture the behavior in question?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4788" y="1081093"/>
            <a:ext cx="5917133" cy="394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6250900" y="5028142"/>
            <a:ext cx="5768778" cy="21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https://</a:t>
            </a:r>
            <a:r>
              <a:rPr lang="en-US" sz="13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www.erdc.usace.army.mil/Media/Images/igphoto/2002471</a:t>
            </a: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393/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Bathymetry</a:t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406400" y="1306624"/>
            <a:ext cx="6363368" cy="42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115" marR="508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the physical structure of the natural system for the model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Sediment range surveys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 Sections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Pre-impoundment surveys for reservoirs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Extent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of area of concern and beyond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Reaching upstream to control point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3685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Resolution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14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 (across system) – meters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Longitudinal (along system) – 10s or meters or more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14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Vertical (through water column) – meter or less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6"/>
          <p:cNvGrpSpPr/>
          <p:nvPr/>
        </p:nvGrpSpPr>
        <p:grpSpPr>
          <a:xfrm>
            <a:off x="7271084" y="520674"/>
            <a:ext cx="4054142" cy="5654148"/>
            <a:chOff x="6042435" y="1538566"/>
            <a:chExt cx="3229212" cy="4618432"/>
          </a:xfrm>
        </p:grpSpPr>
        <p:pic>
          <p:nvPicPr>
            <p:cNvPr id="122" name="Google Shape;122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42435" y="1538566"/>
              <a:ext cx="3229212" cy="2813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42435" y="4144899"/>
              <a:ext cx="3229212" cy="20120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Flow</a:t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2905" y="477556"/>
            <a:ext cx="4487865" cy="5613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 txBox="1"/>
          <p:nvPr/>
        </p:nvSpPr>
        <p:spPr>
          <a:xfrm>
            <a:off x="406400" y="1151325"/>
            <a:ext cx="3834239" cy="235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Headwater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Downstream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Tributary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Withdrawals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 surface elevations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400" y="3897562"/>
            <a:ext cx="6316665" cy="2193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Meteorology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37" name="Google Shape;137;p8"/>
          <p:cNvGrpSpPr/>
          <p:nvPr/>
        </p:nvGrpSpPr>
        <p:grpSpPr>
          <a:xfrm>
            <a:off x="7566213" y="454757"/>
            <a:ext cx="3621647" cy="5697184"/>
            <a:chOff x="6489537" y="1566896"/>
            <a:chExt cx="2909570" cy="4577021"/>
          </a:xfrm>
        </p:grpSpPr>
        <p:pic>
          <p:nvPicPr>
            <p:cNvPr id="138" name="Google Shape;138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97122" y="1574482"/>
              <a:ext cx="2892597" cy="2170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8"/>
            <p:cNvSpPr/>
            <p:nvPr/>
          </p:nvSpPr>
          <p:spPr>
            <a:xfrm>
              <a:off x="6489537" y="1566896"/>
              <a:ext cx="2909570" cy="2186305"/>
            </a:xfrm>
            <a:custGeom>
              <a:avLst/>
              <a:gdLst/>
              <a:ahLst/>
              <a:cxnLst/>
              <a:rect l="l" t="t" r="r" b="b"/>
              <a:pathLst>
                <a:path w="2909570" h="2186304" extrusionOk="0">
                  <a:moveTo>
                    <a:pt x="0" y="0"/>
                  </a:moveTo>
                  <a:lnTo>
                    <a:pt x="2909428" y="0"/>
                  </a:lnTo>
                  <a:lnTo>
                    <a:pt x="2909428" y="2185865"/>
                  </a:lnTo>
                  <a:lnTo>
                    <a:pt x="0" y="21858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1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0" name="Google Shape;140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97122" y="3742334"/>
              <a:ext cx="2892597" cy="2397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8"/>
            <p:cNvSpPr/>
            <p:nvPr/>
          </p:nvSpPr>
          <p:spPr>
            <a:xfrm>
              <a:off x="6493329" y="3738537"/>
              <a:ext cx="2901950" cy="2405380"/>
            </a:xfrm>
            <a:custGeom>
              <a:avLst/>
              <a:gdLst/>
              <a:ahLst/>
              <a:cxnLst/>
              <a:rect l="l" t="t" r="r" b="b"/>
              <a:pathLst>
                <a:path w="2901950" h="2405379" extrusionOk="0">
                  <a:moveTo>
                    <a:pt x="0" y="0"/>
                  </a:moveTo>
                  <a:lnTo>
                    <a:pt x="2901843" y="0"/>
                  </a:lnTo>
                  <a:lnTo>
                    <a:pt x="2901843" y="2404786"/>
                  </a:lnTo>
                  <a:lnTo>
                    <a:pt x="0" y="24047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90C2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8"/>
          <p:cNvSpPr txBox="1"/>
          <p:nvPr/>
        </p:nvSpPr>
        <p:spPr>
          <a:xfrm>
            <a:off x="406400" y="1096264"/>
            <a:ext cx="6433608" cy="4852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85115" marR="5080" lvl="0" indent="-273050" algn="l" rtl="0">
              <a:lnSpc>
                <a:spcPct val="99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Reliable data is essential to model performance, accuracy of model results, and validity of any concepts developed from model.</a:t>
            </a:r>
            <a:endParaRPr/>
          </a:p>
          <a:p>
            <a:pPr marL="285115" marR="0" lvl="0" indent="-2730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substitute for good met data.</a:t>
            </a:r>
            <a:endParaRPr/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sources are airports in vicinity of project.</a:t>
            </a:r>
            <a:endParaRPr/>
          </a:p>
          <a:p>
            <a:pPr marL="285115" marR="475615" lvl="0" indent="-2730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available multiple airports may be used to evaluate model sensitivity.</a:t>
            </a:r>
            <a:endParaRPr/>
          </a:p>
          <a:p>
            <a:pPr marL="285115" marR="0" lvl="0" indent="-2730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/>
          </a:p>
          <a:p>
            <a:pPr marL="285115" marR="0" lvl="0" indent="-2730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information:</a:t>
            </a:r>
            <a:endParaRPr/>
          </a:p>
          <a:p>
            <a:pPr marL="467359" marR="0" lvl="1" indent="-1714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Temperature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Dew Point Temperature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 Speed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 Direction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Cover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Solar Radiation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Observations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406400" y="1198261"/>
            <a:ext cx="3128386" cy="446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Observed data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788035" lvl="1" indent="-171450" algn="l" rtl="0">
              <a:spcBef>
                <a:spcPts val="2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all water quality constituents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832485" lvl="1" indent="-171450" algn="l" rtl="0">
              <a:spcBef>
                <a:spcPts val="21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Boundary conditions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15240" lvl="0" indent="-27241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provides insight as to what is occurring in system PRIOR to modeling.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5080" lvl="0" indent="-272415" algn="l" rtl="0"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Aids in refinement of modeling approach.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5455" y="1161337"/>
            <a:ext cx="8210145" cy="453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Other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59698" y="1687177"/>
            <a:ext cx="5534702" cy="348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source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Non-point source/runoff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400050" lvl="1" indent="-171450" algn="l" rtl="0">
              <a:lnSpc>
                <a:spcPct val="95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forms of water quality constituent loads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3685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Sediment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3685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records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2084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gates used for how long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2084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generation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2084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Spills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994" marR="0" lvl="1" indent="-172084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Anything else that impacts water movement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3525" y="549529"/>
            <a:ext cx="5452063" cy="2718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3525" y="3429000"/>
            <a:ext cx="5452051" cy="271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Output</a:t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406400" y="1256045"/>
            <a:ext cx="4825870" cy="191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115" marR="5080" lvl="0" indent="-273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what information is desired from model output.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254634" lvl="0" indent="-273050" algn="l" rtl="0"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that it is being output at times and locations desired.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15875" lvl="0" indent="-273050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and evaluate model output and compare to applicable observations.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438" y="3485697"/>
            <a:ext cx="3936687" cy="26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649" y="474778"/>
            <a:ext cx="6030144" cy="4209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Questions?</a:t>
            </a:r>
            <a:endParaRPr/>
          </a:p>
        </p:txBody>
      </p:sp>
      <p:grpSp>
        <p:nvGrpSpPr>
          <p:cNvPr id="171" name="Google Shape;171;p12"/>
          <p:cNvGrpSpPr/>
          <p:nvPr/>
        </p:nvGrpSpPr>
        <p:grpSpPr>
          <a:xfrm>
            <a:off x="1539570" y="1085825"/>
            <a:ext cx="9113607" cy="5133733"/>
            <a:chOff x="1363587" y="1895533"/>
            <a:chExt cx="7302500" cy="4113529"/>
          </a:xfrm>
        </p:grpSpPr>
        <p:pic>
          <p:nvPicPr>
            <p:cNvPr id="172" name="Google Shape;172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67377" y="1899325"/>
              <a:ext cx="7294299" cy="4105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2"/>
            <p:cNvSpPr/>
            <p:nvPr/>
          </p:nvSpPr>
          <p:spPr>
            <a:xfrm>
              <a:off x="1363587" y="1895533"/>
              <a:ext cx="7302500" cy="4113529"/>
            </a:xfrm>
            <a:custGeom>
              <a:avLst/>
              <a:gdLst/>
              <a:ahLst/>
              <a:cxnLst/>
              <a:rect l="l" t="t" r="r" b="b"/>
              <a:pathLst>
                <a:path w="7302500" h="4113529" extrusionOk="0">
                  <a:moveTo>
                    <a:pt x="0" y="0"/>
                  </a:moveTo>
                  <a:lnTo>
                    <a:pt x="7301880" y="0"/>
                  </a:lnTo>
                  <a:lnTo>
                    <a:pt x="7301880" y="4113016"/>
                  </a:lnTo>
                  <a:lnTo>
                    <a:pt x="0" y="411301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BD5409E-D28A-4DE1-B742-12A5FE8EEDE3}" vid="{659E9C23-BBC0-40D1-881C-ED13B734E766}"/>
    </a:ext>
  </a:extLst>
</a:theme>
</file>

<file path=ppt/theme/theme3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4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5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6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19ACEA16-2912-4228-91BC-B339579C38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38433-CB52-411E-8012-C9D5FCEDE1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49D06F-12D0-4D1D-8D60-DE2138CB363F}">
  <ds:schemaRefs>
    <ds:schemaRef ds:uri="http://schemas.microsoft.com/office/2006/metadata/properties"/>
    <ds:schemaRef ds:uri="http://schemas.microsoft.com/office/infopath/2007/PartnerControls"/>
    <ds:schemaRef ds:uri="83868113-c0a5-43de-a876-5fe4e9e92519"/>
    <ds:schemaRef ds:uri="33812d21-cc6d-40d3-8190-1784895c4f8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475</Words>
  <Application>Microsoft Macintosh PowerPoint</Application>
  <PresentationFormat>Widescreen</PresentationFormat>
  <Paragraphs>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Wingdings</vt:lpstr>
      <vt:lpstr>Title Slide Templates</vt:lpstr>
      <vt:lpstr>Theme1</vt:lpstr>
      <vt:lpstr>UNCL // FOUO Content</vt:lpstr>
      <vt:lpstr>UNCLASSIFIED Content</vt:lpstr>
      <vt:lpstr>Custom Classification Content</vt:lpstr>
      <vt:lpstr>Standard White Theme</vt:lpstr>
      <vt:lpstr>MODEL SETUP I: LECTURE</vt:lpstr>
      <vt:lpstr>Outline</vt:lpstr>
      <vt:lpstr>Background</vt:lpstr>
      <vt:lpstr>How to Set Up and Run a Model Application</vt:lpstr>
      <vt:lpstr>Definition of Problem</vt:lpstr>
      <vt:lpstr>Bathymetry</vt:lpstr>
      <vt:lpstr>Flow</vt:lpstr>
      <vt:lpstr>Meteorology</vt:lpstr>
      <vt:lpstr>Observations</vt:lpstr>
      <vt:lpstr>Other</vt:lpstr>
      <vt:lpstr>Output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SETUP I LECTURE</dc:title>
  <dc:creator>Melendez, Lauren L CIV USARMY CEERD-EL (USA)</dc:creator>
  <cp:lastModifiedBy>Todd Steissberg</cp:lastModifiedBy>
  <cp:revision>6</cp:revision>
  <dcterms:created xsi:type="dcterms:W3CDTF">2023-05-10T14:43:25Z</dcterms:created>
  <dcterms:modified xsi:type="dcterms:W3CDTF">2025-09-15T07:13:41Z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