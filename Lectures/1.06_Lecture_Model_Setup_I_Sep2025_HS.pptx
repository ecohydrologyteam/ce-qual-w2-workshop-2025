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3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4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5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  <p:sldMasterId id="2147483657" r:id="rId5"/>
    <p:sldMasterId id="2147483661" r:id="rId6"/>
    <p:sldMasterId id="2147483667" r:id="rId7"/>
    <p:sldMasterId id="2147483673" r:id="rId8"/>
    <p:sldMasterId id="2147483681" r:id="rId9"/>
  </p:sldMasterIdLst>
  <p:notesMasterIdLst>
    <p:notesMasterId r:id="rId2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3" roundtripDataSignature="AMtx7miRPLsuSJ55b6AGvg2HvyZLbXD/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38"/>
    <p:restoredTop sz="94658"/>
  </p:normalViewPr>
  <p:slideViewPr>
    <p:cSldViewPr snapToGrid="0">
      <p:cViewPr varScale="1">
        <p:scale>
          <a:sx n="120" d="100"/>
          <a:sy n="120" d="100"/>
        </p:scale>
        <p:origin x="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2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7.xml"/><Relationship Id="rId20" Type="http://schemas.openxmlformats.org/officeDocument/2006/relationships/slide" Target="slides/slide1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2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6.xml"/><Relationship Id="rId23" Type="http://customschemas.google.com/relationships/presentationmetadata" Target="metadata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14" Type="http://schemas.openxmlformats.org/officeDocument/2006/relationships/slide" Target="slides/slide5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Background 2">
  <p:cSld name="Title Slide - Background 2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4"/>
          <p:cNvSpPr txBox="1">
            <a:spLocks noGrp="1"/>
          </p:cNvSpPr>
          <p:nvPr>
            <p:ph type="body" idx="1"/>
          </p:nvPr>
        </p:nvSpPr>
        <p:spPr>
          <a:xfrm>
            <a:off x="609602" y="3200405"/>
            <a:ext cx="9144001" cy="1562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14"/>
          <p:cNvSpPr txBox="1">
            <a:spLocks noGrp="1"/>
          </p:cNvSpPr>
          <p:nvPr>
            <p:ph type="title"/>
          </p:nvPr>
        </p:nvSpPr>
        <p:spPr>
          <a:xfrm>
            <a:off x="609600" y="1924055"/>
            <a:ext cx="9144000" cy="1107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4"/>
          <p:cNvSpPr txBox="1">
            <a:spLocks noGrp="1"/>
          </p:cNvSpPr>
          <p:nvPr>
            <p:ph type="sldNum" idx="12"/>
          </p:nvPr>
        </p:nvSpPr>
        <p:spPr>
          <a:xfrm>
            <a:off x="11190668" y="6577159"/>
            <a:ext cx="977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" name="Google Shape;20;p14"/>
          <p:cNvSpPr txBox="1">
            <a:spLocks noGrp="1"/>
          </p:cNvSpPr>
          <p:nvPr>
            <p:ph type="ftr" idx="11"/>
          </p:nvPr>
        </p:nvSpPr>
        <p:spPr>
          <a:xfrm>
            <a:off x="125346" y="6504409"/>
            <a:ext cx="421428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4"/>
          <p:cNvSpPr txBox="1">
            <a:spLocks noGrp="1"/>
          </p:cNvSpPr>
          <p:nvPr>
            <p:ph type="body" idx="2"/>
          </p:nvPr>
        </p:nvSpPr>
        <p:spPr>
          <a:xfrm>
            <a:off x="1" y="106998"/>
            <a:ext cx="12191999" cy="403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3"/>
          </p:nvPr>
        </p:nvSpPr>
        <p:spPr>
          <a:xfrm>
            <a:off x="0" y="6455410"/>
            <a:ext cx="12192000" cy="295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marL="914400" lvl="1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2pPr>
            <a:lvl3pPr marL="1371600" lvl="2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7"/>
          <p:cNvSpPr txBox="1">
            <a:spLocks noGrp="1"/>
          </p:cNvSpPr>
          <p:nvPr>
            <p:ph type="title"/>
          </p:nvPr>
        </p:nvSpPr>
        <p:spPr>
          <a:xfrm>
            <a:off x="654050" y="1606545"/>
            <a:ext cx="7984853" cy="1273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body" idx="1"/>
          </p:nvPr>
        </p:nvSpPr>
        <p:spPr>
          <a:xfrm>
            <a:off x="913774" y="2367092"/>
            <a:ext cx="10363826" cy="3424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ftr" idx="11"/>
          </p:nvPr>
        </p:nvSpPr>
        <p:spPr>
          <a:xfrm>
            <a:off x="125346" y="6504409"/>
            <a:ext cx="421428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sldNum" idx="12"/>
          </p:nvPr>
        </p:nvSpPr>
        <p:spPr>
          <a:xfrm>
            <a:off x="11190668" y="6577159"/>
            <a:ext cx="977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Backgro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609602" y="3200405"/>
            <a:ext cx="9144001" cy="1562099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924055"/>
            <a:ext cx="9144000" cy="110755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File Name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1" y="106998"/>
            <a:ext cx="12191999" cy="403225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buFontTx/>
              <a:buNone/>
              <a:defRPr sz="12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ENTER CLASSIFICATION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455410"/>
            <a:ext cx="12192000" cy="2959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algn="ctr">
              <a:defRPr lang="en-US" sz="120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 algn="ctr">
              <a:buFontTx/>
            </a:pPr>
            <a:r>
              <a:rPr lang="en-US" dirty="0"/>
              <a:t>CLICK TO ENTER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101723799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D0F3C-CFEC-2FD7-F9F7-38425E5D9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919CB-EE4F-A351-321D-9548229B6D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9B8013-6DB5-4FC7-934F-82C2E8D31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E06F7-6DC6-4586-B3ED-D4191F2A1E2A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CCD9E4-0999-A20E-109B-CEE73D47B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DA9713-BDA6-635C-1862-6C7B17A42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2267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- 1 Column">
  <p:cSld name="Title and Content - 1 Colum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6"/>
          <p:cNvSpPr txBox="1">
            <a:spLocks noGrp="1"/>
          </p:cNvSpPr>
          <p:nvPr>
            <p:ph type="title"/>
          </p:nvPr>
        </p:nvSpPr>
        <p:spPr>
          <a:xfrm>
            <a:off x="406400" y="274642"/>
            <a:ext cx="11176000" cy="80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3F3F3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6"/>
          <p:cNvSpPr txBox="1">
            <a:spLocks noGrp="1"/>
          </p:cNvSpPr>
          <p:nvPr>
            <p:ph type="body" idx="1"/>
          </p:nvPr>
        </p:nvSpPr>
        <p:spPr>
          <a:xfrm>
            <a:off x="406400" y="1225550"/>
            <a:ext cx="11176000" cy="4718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25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3F3F3F"/>
                </a:solidFill>
              </a:defRPr>
            </a:lvl1pPr>
            <a:lvl2pPr marL="914400" lvl="1" indent="-342900" algn="l">
              <a:spcBef>
                <a:spcPts val="225"/>
              </a:spcBef>
              <a:spcAft>
                <a:spcPts val="0"/>
              </a:spcAft>
              <a:buSzPts val="1800"/>
              <a:buChar char="•"/>
              <a:defRPr sz="1800">
                <a:solidFill>
                  <a:srgbClr val="3F3F3F"/>
                </a:solidFill>
              </a:defRPr>
            </a:lvl2pPr>
            <a:lvl3pPr marL="1371600" lvl="2" indent="-295275" algn="l">
              <a:spcBef>
                <a:spcPts val="225"/>
              </a:spcBef>
              <a:spcAft>
                <a:spcPts val="0"/>
              </a:spcAft>
              <a:buSzPts val="1050"/>
              <a:buChar char="►"/>
              <a:defRPr sz="1500">
                <a:solidFill>
                  <a:srgbClr val="3F3F3F"/>
                </a:solidFill>
              </a:defRPr>
            </a:lvl3pPr>
            <a:lvl4pPr marL="1828800" lvl="3" indent="-323850" algn="l">
              <a:spcBef>
                <a:spcPts val="225"/>
              </a:spcBef>
              <a:spcAft>
                <a:spcPts val="0"/>
              </a:spcAft>
              <a:buSzPts val="1500"/>
              <a:buChar char="–"/>
              <a:defRPr sz="1500">
                <a:solidFill>
                  <a:srgbClr val="3F3F3F"/>
                </a:solidFill>
              </a:defRPr>
            </a:lvl4pPr>
            <a:lvl5pPr marL="2286000" lvl="4" indent="-323850" algn="l">
              <a:spcBef>
                <a:spcPts val="225"/>
              </a:spcBef>
              <a:spcAft>
                <a:spcPts val="0"/>
              </a:spcAft>
              <a:buSzPts val="1500"/>
              <a:buChar char="»"/>
              <a:defRPr sz="1500">
                <a:solidFill>
                  <a:srgbClr val="3F3F3F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6"/>
          <p:cNvSpPr txBox="1">
            <a:spLocks noGrp="1"/>
          </p:cNvSpPr>
          <p:nvPr>
            <p:ph type="sldNum" idx="12"/>
          </p:nvPr>
        </p:nvSpPr>
        <p:spPr>
          <a:xfrm>
            <a:off x="11201046" y="6580037"/>
            <a:ext cx="96943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62859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775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5603883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/>
          <p:cNvCxnSpPr/>
          <p:nvPr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036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1266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481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9028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463589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7988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/>
          <p:cNvCxnSpPr/>
          <p:nvPr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4992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1894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5030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351058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39456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4968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2 Odd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3" y="1225550"/>
            <a:ext cx="35941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4127503" y="1225550"/>
            <a:ext cx="74549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556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/>
          <p:cNvCxnSpPr/>
          <p:nvPr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1756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ort 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942975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942980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7656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0948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9396965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91927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2429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2 Odd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3" y="1225550"/>
            <a:ext cx="35941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4127503" y="1225550"/>
            <a:ext cx="74549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37623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/>
          <p:cNvCxnSpPr/>
          <p:nvPr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4440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ort 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942975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942980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2405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Layout" Target="../slideLayouts/slideLayout5.xml"/><Relationship Id="rId7" Type="http://schemas.openxmlformats.org/officeDocument/2006/relationships/image" Target="../media/image6.jpg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jpg"/><Relationship Id="rId5" Type="http://schemas.openxmlformats.org/officeDocument/2006/relationships/image" Target="../media/image1.jp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7.pn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slideLayout" Target="../slideLayouts/slideLayout13.xml"/><Relationship Id="rId7" Type="http://schemas.openxmlformats.org/officeDocument/2006/relationships/image" Target="../media/image7.png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theme" Target="../theme/theme4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0.xml"/><Relationship Id="rId10" Type="http://schemas.openxmlformats.org/officeDocument/2006/relationships/image" Target="../media/image8.png"/><Relationship Id="rId4" Type="http://schemas.openxmlformats.org/officeDocument/2006/relationships/slideLayout" Target="../slideLayouts/slideLayout19.xml"/><Relationship Id="rId9" Type="http://schemas.openxmlformats.org/officeDocument/2006/relationships/image" Target="../media/image7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theme" Target="../theme/theme6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Relationship Id="rId9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3"/>
          <p:cNvPicPr preferRelativeResize="0"/>
          <p:nvPr/>
        </p:nvPicPr>
        <p:blipFill rotWithShape="1">
          <a:blip r:embed="rId4">
            <a:alphaModFix/>
          </a:blip>
          <a:srcRect l="16284"/>
          <a:stretch/>
        </p:blipFill>
        <p:spPr>
          <a:xfrm>
            <a:off x="7149290" y="3082338"/>
            <a:ext cx="2150384" cy="2445851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7" name="Google Shape;7;p13" descr="A body of water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 l="16077" r="16094"/>
          <a:stretch/>
        </p:blipFill>
        <p:spPr>
          <a:xfrm>
            <a:off x="9299674" y="3081534"/>
            <a:ext cx="2433110" cy="2445849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8" name="Google Shape;8;p13" descr="A picture containing tree, water, outdoor, nature&#10;&#10;Description automatically generat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149290" y="516571"/>
            <a:ext cx="4583494" cy="2558088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" name="Google Shape;9;p1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13"/>
          <p:cNvSpPr txBox="1">
            <a:spLocks noGrp="1"/>
          </p:cNvSpPr>
          <p:nvPr>
            <p:ph type="ftr" idx="11"/>
          </p:nvPr>
        </p:nvSpPr>
        <p:spPr>
          <a:xfrm>
            <a:off x="125346" y="6504409"/>
            <a:ext cx="421428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5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title"/>
          </p:nvPr>
        </p:nvSpPr>
        <p:spPr>
          <a:xfrm>
            <a:off x="654050" y="1606545"/>
            <a:ext cx="7984853" cy="1273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sz="27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body" idx="1"/>
          </p:nvPr>
        </p:nvSpPr>
        <p:spPr>
          <a:xfrm>
            <a:off x="654050" y="2505109"/>
            <a:ext cx="7984853" cy="2781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sldNum" idx="12"/>
          </p:nvPr>
        </p:nvSpPr>
        <p:spPr>
          <a:xfrm>
            <a:off x="11190668" y="6577159"/>
            <a:ext cx="977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4" name="Google Shape;14;p13"/>
          <p:cNvCxnSpPr/>
          <p:nvPr/>
        </p:nvCxnSpPr>
        <p:spPr>
          <a:xfrm rot="10800000">
            <a:off x="1476587" y="6373877"/>
            <a:ext cx="10207413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5" name="Google Shape;15;p13"/>
          <p:cNvSpPr txBox="1"/>
          <p:nvPr/>
        </p:nvSpPr>
        <p:spPr>
          <a:xfrm>
            <a:off x="6224694" y="6442287"/>
            <a:ext cx="5567680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DISCOVER  |  DEVELOP  |  DELIVER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384">
          <p15:clr>
            <a:srgbClr val="5ACBF0"/>
          </p15:clr>
        </p15:guide>
        <p15:guide id="2" pos="6144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7">
            <a:extLst>
              <a:ext uri="{FF2B5EF4-FFF2-40B4-BE49-F238E27FC236}">
                <a16:creationId xmlns:a16="http://schemas.microsoft.com/office/drawing/2014/main" id="{C930DDFD-C2CD-854E-EAA8-FC5C400F36B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84"/>
          <a:stretch/>
        </p:blipFill>
        <p:spPr>
          <a:xfrm>
            <a:off x="7149290" y="3082338"/>
            <a:ext cx="2150384" cy="244585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7" name="Picture 6" descr="A body of water&#10;&#10;Description automatically generated">
            <a:extLst>
              <a:ext uri="{FF2B5EF4-FFF2-40B4-BE49-F238E27FC236}">
                <a16:creationId xmlns:a16="http://schemas.microsoft.com/office/drawing/2014/main" id="{8D345744-4BB6-A552-A696-3E29F74BAC8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6078" r="16094"/>
          <a:stretch/>
        </p:blipFill>
        <p:spPr>
          <a:xfrm>
            <a:off x="9299674" y="3081534"/>
            <a:ext cx="2433110" cy="244584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5" name="Picture 4" descr="A picture containing tree, water, outdoor, nature&#10;&#10;Description automatically generated">
            <a:extLst>
              <a:ext uri="{FF2B5EF4-FFF2-40B4-BE49-F238E27FC236}">
                <a16:creationId xmlns:a16="http://schemas.microsoft.com/office/drawing/2014/main" id="{CC7E3D49-3990-21E2-46AF-4FE1C76439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9290" y="516571"/>
            <a:ext cx="4583494" cy="255808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Footer Placeholder 19"/>
          <p:cNvSpPr>
            <a:spLocks noGrp="1"/>
          </p:cNvSpPr>
          <p:nvPr>
            <p:ph type="ftr" sz="quarter" idx="3"/>
          </p:nvPr>
        </p:nvSpPr>
        <p:spPr>
          <a:xfrm>
            <a:off x="125346" y="6504409"/>
            <a:ext cx="42142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1" name="Title Placeholder 17"/>
          <p:cNvSpPr>
            <a:spLocks noGrp="1"/>
          </p:cNvSpPr>
          <p:nvPr>
            <p:ph type="title"/>
          </p:nvPr>
        </p:nvSpPr>
        <p:spPr>
          <a:xfrm>
            <a:off x="654050" y="1606545"/>
            <a:ext cx="7984853" cy="127381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idx="1"/>
          </p:nvPr>
        </p:nvSpPr>
        <p:spPr>
          <a:xfrm>
            <a:off x="654050" y="2505109"/>
            <a:ext cx="7984853" cy="27819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90668" y="6577159"/>
            <a:ext cx="977900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 algn="r">
              <a:defRPr sz="9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D665B91-8567-DD4A-BD2E-E719F20E35F0}"/>
              </a:ext>
            </a:extLst>
          </p:cNvPr>
          <p:cNvCxnSpPr/>
          <p:nvPr/>
        </p:nvCxnSpPr>
        <p:spPr>
          <a:xfrm flipH="1">
            <a:off x="1476587" y="6373877"/>
            <a:ext cx="1020741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A2EE2D-7BB5-4F44-82C4-5CF4EE388EFF}"/>
              </a:ext>
            </a:extLst>
          </p:cNvPr>
          <p:cNvSpPr txBox="1"/>
          <p:nvPr/>
        </p:nvSpPr>
        <p:spPr>
          <a:xfrm>
            <a:off x="6224694" y="6442287"/>
            <a:ext cx="55676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i="1" dirty="0">
                <a:solidFill>
                  <a:prstClr val="black"/>
                </a:solidFill>
              </a:rPr>
              <a:t>DISCOVER  |  DEVELOP  |  DELIVER</a:t>
            </a:r>
          </a:p>
        </p:txBody>
      </p:sp>
    </p:spTree>
    <p:extLst>
      <p:ext uri="{BB962C8B-B14F-4D97-AF65-F5344CB8AC3E}">
        <p14:creationId xmlns:p14="http://schemas.microsoft.com/office/powerpoint/2010/main" val="2030013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</p:sldLayoutIdLst>
  <p:hf hdr="0" ft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700" b="1" kern="1200" cap="all" baseline="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">
          <p15:clr>
            <a:srgbClr val="5ACBF0"/>
          </p15:clr>
        </p15:guide>
        <p15:guide id="2" pos="6144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CAF9F99-F54C-A57F-DAA4-B479617EFA28}"/>
              </a:ext>
            </a:extLst>
          </p:cNvPr>
          <p:cNvSpPr/>
          <p:nvPr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1046" y="6580037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//CUI//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//CUI//</a:t>
            </a:r>
          </a:p>
        </p:txBody>
      </p:sp>
    </p:spTree>
    <p:extLst>
      <p:ext uri="{BB962C8B-B14F-4D97-AF65-F5344CB8AC3E}">
        <p14:creationId xmlns:p14="http://schemas.microsoft.com/office/powerpoint/2010/main" val="1066407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Wingdings" panose="05000000000000000000" pitchFamily="2" charset="2"/>
        <a:buChar char="§"/>
        <a:defRPr sz="20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•"/>
        <a:defRPr sz="18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SzPct val="70000"/>
        <a:buFont typeface="Arial" panose="020B0604020202020204" pitchFamily="34" charset="0"/>
        <a:buChar char="►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–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»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UNCLASSIFIED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UNCLASSIFIED</a:t>
            </a:r>
          </a:p>
        </p:txBody>
      </p:sp>
    </p:spTree>
    <p:extLst>
      <p:ext uri="{BB962C8B-B14F-4D97-AF65-F5344CB8AC3E}">
        <p14:creationId xmlns:p14="http://schemas.microsoft.com/office/powerpoint/2010/main" val="1517980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0E67D63-A09B-E760-5A10-8242BCEA7941}"/>
              </a:ext>
            </a:extLst>
          </p:cNvPr>
          <p:cNvSpPr/>
          <p:nvPr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92808" y="6587122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CLASSIFICATION</a:t>
            </a:r>
            <a:r>
              <a:rPr lang="en-US" sz="1000" b="1" baseline="0" dirty="0">
                <a:solidFill>
                  <a:schemeClr val="bg2">
                    <a:lumMod val="50000"/>
                  </a:schemeClr>
                </a:solidFill>
              </a:rPr>
              <a:t> STATEMENT HERE</a:t>
            </a:r>
            <a:endParaRPr lang="en-US" sz="10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CLASSIFICATION</a:t>
            </a:r>
            <a:r>
              <a:rPr lang="en-US" sz="1000" b="1" baseline="0" dirty="0">
                <a:solidFill>
                  <a:schemeClr val="bg2">
                    <a:lumMod val="50000"/>
                  </a:schemeClr>
                </a:solidFill>
              </a:rPr>
              <a:t> STATEMENT HERE</a:t>
            </a:r>
            <a:endParaRPr lang="en-US" sz="1000" b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6596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4FCF4A6-EBC9-C2AC-2815-3FFFD71A1CF8}"/>
              </a:ext>
            </a:extLst>
          </p:cNvPr>
          <p:cNvSpPr/>
          <p:nvPr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17522" y="-1985"/>
            <a:ext cx="969433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50" b="1">
                <a:solidFill>
                  <a:srgbClr val="898989"/>
                </a:solidFill>
                <a:cs typeface="Arial" pitchFamily="34" charset="0"/>
              </a:defRPr>
            </a:lvl1pPr>
          </a:lstStyle>
          <a:p>
            <a:fld id="{139BD942-CC14-44A4-87FB-46239297AF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/>
          <p:cNvCxnSpPr/>
          <p:nvPr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prstClr val="black"/>
                </a:solidFill>
              </a:rPr>
              <a:t>US Army Corps of Engineers  </a:t>
            </a:r>
            <a:r>
              <a:rPr lang="en-US" sz="1400" dirty="0">
                <a:solidFill>
                  <a:prstClr val="black"/>
                </a:solidFill>
                <a:sym typeface="Symbol" panose="05050102010706020507" pitchFamily="18" charset="2"/>
              </a:rPr>
              <a:t></a:t>
            </a:r>
            <a:r>
              <a:rPr lang="en-US" sz="1400" dirty="0">
                <a:solidFill>
                  <a:prstClr val="black"/>
                </a:solidFill>
              </a:rPr>
              <a:t>   Engineer Research and Development Center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EBEBEB">
                    <a:lumMod val="50000"/>
                  </a:srgbClr>
                </a:solidFill>
              </a:rPr>
              <a:t>//CUI//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EBEBEB">
                    <a:lumMod val="50000"/>
                  </a:srgbClr>
                </a:solidFill>
              </a:rPr>
              <a:t>//CUI//</a:t>
            </a:r>
          </a:p>
        </p:txBody>
      </p:sp>
    </p:spTree>
    <p:extLst>
      <p:ext uri="{BB962C8B-B14F-4D97-AF65-F5344CB8AC3E}">
        <p14:creationId xmlns:p14="http://schemas.microsoft.com/office/powerpoint/2010/main" val="34532398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://www.erdc.usace.army.mil/Media/Images/igphoto/2002471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9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1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4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6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"/>
          <p:cNvSpPr txBox="1">
            <a:spLocks noGrp="1"/>
          </p:cNvSpPr>
          <p:nvPr>
            <p:ph type="title"/>
          </p:nvPr>
        </p:nvSpPr>
        <p:spPr>
          <a:xfrm>
            <a:off x="609603" y="1787233"/>
            <a:ext cx="3643420" cy="400110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/>
          <a:p>
            <a:pPr defTabSz="685800">
              <a:spcBef>
                <a:spcPct val="0"/>
              </a:spcBef>
            </a:pPr>
            <a:r>
              <a:rPr lang="en-US" sz="2000" kern="1200" cap="all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MODEL SETUP I: LECTURE</a:t>
            </a:r>
            <a:endParaRPr sz="2000" kern="1200" cap="all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76" name="Google Shape;76;p1"/>
          <p:cNvSpPr txBox="1">
            <a:spLocks noGrp="1"/>
          </p:cNvSpPr>
          <p:nvPr>
            <p:ph type="sldNum" idx="12"/>
          </p:nvPr>
        </p:nvSpPr>
        <p:spPr>
          <a:xfrm>
            <a:off x="11190668" y="6577159"/>
            <a:ext cx="977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Calibri"/>
              <a:buNone/>
            </a:pPr>
            <a:fld id="{00000000-1234-1234-1234-123412341234}" type="slidenum">
              <a:rPr lang="en-US" sz="90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900" b="1" i="0" u="none" strike="noStrike" cap="none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"/>
          <p:cNvSpPr txBox="1">
            <a:spLocks noGrp="1"/>
          </p:cNvSpPr>
          <p:nvPr>
            <p:ph type="body" idx="2"/>
          </p:nvPr>
        </p:nvSpPr>
        <p:spPr>
          <a:xfrm>
            <a:off x="1" y="106998"/>
            <a:ext cx="12191999" cy="403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UNCLASSIFIED</a:t>
            </a:r>
            <a:endParaRPr/>
          </a:p>
        </p:txBody>
      </p:sp>
      <p:sp>
        <p:nvSpPr>
          <p:cNvPr id="78" name="Google Shape;78;p1"/>
          <p:cNvSpPr txBox="1">
            <a:spLocks noGrp="1"/>
          </p:cNvSpPr>
          <p:nvPr>
            <p:ph type="body" idx="3"/>
          </p:nvPr>
        </p:nvSpPr>
        <p:spPr>
          <a:xfrm>
            <a:off x="0" y="6455410"/>
            <a:ext cx="12192000" cy="295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-US">
                <a:solidFill>
                  <a:schemeClr val="dk1"/>
                </a:solidFill>
              </a:rPr>
              <a:t>UNCLASSIFIED</a:t>
            </a:r>
            <a:endParaRPr/>
          </a:p>
        </p:txBody>
      </p:sp>
      <p:pic>
        <p:nvPicPr>
          <p:cNvPr id="79" name="Google Shape;79;p1" descr="A close up of a sig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46600" y="5784725"/>
            <a:ext cx="977900" cy="958918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"/>
          <p:cNvPicPr preferRelativeResize="0"/>
          <p:nvPr/>
        </p:nvPicPr>
        <p:blipFill rotWithShape="1">
          <a:blip r:embed="rId4">
            <a:alphaModFix/>
          </a:blip>
          <a:srcRect b="13809"/>
          <a:stretch/>
        </p:blipFill>
        <p:spPr>
          <a:xfrm>
            <a:off x="8261685" y="5635231"/>
            <a:ext cx="1162230" cy="129608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" descr="Environmental Systems &#10;Modeling Team"/>
          <p:cNvSpPr/>
          <p:nvPr/>
        </p:nvSpPr>
        <p:spPr>
          <a:xfrm>
            <a:off x="8340651" y="5794410"/>
            <a:ext cx="977900" cy="12151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0">
                <a:ln w="15875" cap="flat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rgbClr val="000000"/>
                </a:solidFill>
                <a:latin typeface="Calibri"/>
              </a:rPr>
              <a:t>Environmental Systems</a:t>
            </a:r>
            <a:br>
              <a:rPr b="0" i="0">
                <a:ln w="15875" cap="flat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rgbClr val="000000"/>
                </a:solidFill>
                <a:latin typeface="Calibri"/>
              </a:rPr>
            </a:br>
            <a:r>
              <a:rPr b="0" i="0">
                <a:ln w="15875" cap="flat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rgbClr val="000000"/>
                </a:solidFill>
                <a:latin typeface="Calibri"/>
              </a:rPr>
              <a:t>Modeling Team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D10CF836-2272-AEDC-B883-7B08DBD17932}"/>
              </a:ext>
            </a:extLst>
          </p:cNvPr>
          <p:cNvSpPr txBox="1">
            <a:spLocks/>
          </p:cNvSpPr>
          <p:nvPr/>
        </p:nvSpPr>
        <p:spPr>
          <a:xfrm>
            <a:off x="609603" y="2392809"/>
            <a:ext cx="7652082" cy="2625334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defTabSz="51435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None/>
              <a:defRPr sz="1800" b="1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85763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125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42938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125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900113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125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157288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125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414463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71638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8813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85988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dirty="0"/>
              <a:t>Hailie Suk, PhD</a:t>
            </a:r>
          </a:p>
          <a:p>
            <a:r>
              <a:rPr lang="en-US" b="0"/>
              <a:t>Cold Regions Research and Engineering Laboratory (CRREL)</a:t>
            </a:r>
            <a:endParaRPr lang="en-US" b="0" dirty="0"/>
          </a:p>
          <a:p>
            <a:r>
              <a:rPr lang="en-US" b="0" dirty="0"/>
              <a:t>Engineer Research and Development Center (ERDC)</a:t>
            </a:r>
          </a:p>
          <a:p>
            <a:r>
              <a:rPr lang="en-US" b="0" dirty="0"/>
              <a:t>U.S. Army Corps of Engineers</a:t>
            </a:r>
          </a:p>
          <a:p>
            <a:endParaRPr lang="en-US" b="0" dirty="0"/>
          </a:p>
          <a:p>
            <a:r>
              <a:rPr lang="en-US" b="0" dirty="0"/>
              <a:t>CE-QUAL-W2 Water Quality Modeling Workshop</a:t>
            </a:r>
          </a:p>
          <a:p>
            <a:endParaRPr lang="en-US" b="0" dirty="0"/>
          </a:p>
          <a:p>
            <a:r>
              <a:rPr lang="en-US" b="0" dirty="0"/>
              <a:t>September 17-18,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Outline</a:t>
            </a:r>
            <a:endParaRPr/>
          </a:p>
        </p:txBody>
      </p:sp>
      <p:pic>
        <p:nvPicPr>
          <p:cNvPr id="87" name="Google Shape;87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56956" y="920460"/>
            <a:ext cx="7425444" cy="501708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2"/>
          <p:cNvSpPr txBox="1"/>
          <p:nvPr/>
        </p:nvSpPr>
        <p:spPr>
          <a:xfrm>
            <a:off x="406400" y="1665055"/>
            <a:ext cx="3400926" cy="3527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6825" rIns="0" bIns="0" anchor="t" anchorCtr="0">
            <a:spAutoFit/>
          </a:bodyPr>
          <a:lstStyle/>
          <a:p>
            <a:pPr marL="285115" marR="0" lvl="0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Background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Definition of problem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7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Required Information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Bathymetry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65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Flow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Meteorology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65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Observations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7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2"/>
          <p:cNvSpPr txBox="1"/>
          <p:nvPr/>
        </p:nvSpPr>
        <p:spPr>
          <a:xfrm>
            <a:off x="6819824" y="5937540"/>
            <a:ext cx="2099707" cy="212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Detroit Dam, Oregon</a:t>
            </a:r>
            <a:endParaRPr sz="13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Background</a:t>
            </a:r>
            <a:endParaRPr/>
          </a:p>
        </p:txBody>
      </p:sp>
      <p:sp>
        <p:nvSpPr>
          <p:cNvPr id="95" name="Google Shape;95;p3"/>
          <p:cNvSpPr txBox="1"/>
          <p:nvPr/>
        </p:nvSpPr>
        <p:spPr>
          <a:xfrm>
            <a:off x="406400" y="1385107"/>
            <a:ext cx="6347400" cy="40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285115" marR="96520" lvl="0" indent="-273050" algn="l" rtl="0">
              <a:lnSpc>
                <a:spcPct val="993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Setting up a computational model is an effort to create a computational approximation of a real system.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260984" lvl="0" indent="-273050" algn="l" rtl="0">
              <a:lnSpc>
                <a:spcPct val="99400"/>
              </a:lnSpc>
              <a:spcBef>
                <a:spcPts val="175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model enables one to investigate past behavior or future conditions with regard to changes in conditions.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5080" lvl="0" indent="-273050" algn="l" rtl="0">
              <a:lnSpc>
                <a:spcPct val="99100"/>
              </a:lnSpc>
              <a:spcBef>
                <a:spcPts val="185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Approximations, simplifications, and omissions are necessary but must be balanced with regards to the model’s ability to accurately capture the behavior of the real system.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6" name="Google Shape;96;p3"/>
          <p:cNvGrpSpPr/>
          <p:nvPr/>
        </p:nvGrpSpPr>
        <p:grpSpPr>
          <a:xfrm>
            <a:off x="8140879" y="413996"/>
            <a:ext cx="3436806" cy="5709341"/>
            <a:chOff x="6610653" y="1536015"/>
            <a:chExt cx="2790190" cy="4585351"/>
          </a:xfrm>
        </p:grpSpPr>
        <p:pic>
          <p:nvPicPr>
            <p:cNvPr id="97" name="Google Shape;97;p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614451" y="1539811"/>
              <a:ext cx="2781007" cy="226179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8" name="Google Shape;98;p3"/>
            <p:cNvSpPr/>
            <p:nvPr/>
          </p:nvSpPr>
          <p:spPr>
            <a:xfrm>
              <a:off x="6610653" y="1536015"/>
              <a:ext cx="2790190" cy="2269490"/>
            </a:xfrm>
            <a:custGeom>
              <a:avLst/>
              <a:gdLst/>
              <a:ahLst/>
              <a:cxnLst/>
              <a:rect l="l" t="t" r="r" b="b"/>
              <a:pathLst>
                <a:path w="2790190" h="2269490" extrusionOk="0">
                  <a:moveTo>
                    <a:pt x="0" y="0"/>
                  </a:moveTo>
                  <a:lnTo>
                    <a:pt x="2790194" y="0"/>
                  </a:lnTo>
                  <a:lnTo>
                    <a:pt x="2790194" y="2269369"/>
                  </a:lnTo>
                  <a:lnTo>
                    <a:pt x="0" y="226936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" name="Google Shape;99;p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614451" y="3855669"/>
              <a:ext cx="2781007" cy="22618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0" name="Google Shape;100;p3"/>
            <p:cNvSpPr/>
            <p:nvPr/>
          </p:nvSpPr>
          <p:spPr>
            <a:xfrm>
              <a:off x="6610653" y="3851876"/>
              <a:ext cx="2790190" cy="2269490"/>
            </a:xfrm>
            <a:custGeom>
              <a:avLst/>
              <a:gdLst/>
              <a:ahLst/>
              <a:cxnLst/>
              <a:rect l="l" t="t" r="r" b="b"/>
              <a:pathLst>
                <a:path w="2790190" h="2269490" extrusionOk="0">
                  <a:moveTo>
                    <a:pt x="0" y="0"/>
                  </a:moveTo>
                  <a:lnTo>
                    <a:pt x="2790194" y="0"/>
                  </a:lnTo>
                  <a:lnTo>
                    <a:pt x="2790194" y="2269368"/>
                  </a:lnTo>
                  <a:lnTo>
                    <a:pt x="0" y="226936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How to Set Up and Run a Model Application</a:t>
            </a:r>
            <a:endParaRPr/>
          </a:p>
        </p:txBody>
      </p:sp>
      <p:pic>
        <p:nvPicPr>
          <p:cNvPr id="106" name="Google Shape;106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08186" y="1081093"/>
            <a:ext cx="3375628" cy="50304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Definition of Problem</a:t>
            </a:r>
            <a:endParaRPr/>
          </a:p>
        </p:txBody>
      </p:sp>
      <p:sp>
        <p:nvSpPr>
          <p:cNvPr id="112" name="Google Shape;112;p5"/>
          <p:cNvSpPr txBox="1"/>
          <p:nvPr/>
        </p:nvSpPr>
        <p:spPr>
          <a:xfrm>
            <a:off x="406400" y="1416910"/>
            <a:ext cx="5534702" cy="4024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2850" rIns="0" bIns="0" anchor="t" anchorCtr="0">
            <a:spAutoFit/>
          </a:bodyPr>
          <a:lstStyle/>
          <a:p>
            <a:pPr marL="285115" marR="5080" lvl="0" indent="-2730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are water quality issues occurring in system that warrant a model?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Are they the result of: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Flow alterations?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Operations?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65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Boundary Loadings?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Intermediate loadings?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65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Meteorology?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Altered system conditions?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139700" lvl="1" indent="-171450" algn="l" rtl="0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Anticipated future changes in any of above?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Other?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6985" lvl="0" indent="-272415" algn="l" rtl="0">
              <a:lnSpc>
                <a:spcPct val="99500"/>
              </a:lnSpc>
              <a:spcBef>
                <a:spcPts val="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information is required to set up a model to capture the behavior in question?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3" name="Google Shape;113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04788" y="1081093"/>
            <a:ext cx="5917133" cy="3947049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5"/>
          <p:cNvSpPr txBox="1"/>
          <p:nvPr/>
        </p:nvSpPr>
        <p:spPr>
          <a:xfrm>
            <a:off x="6250900" y="5028142"/>
            <a:ext cx="5768778" cy="212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Source: https://</a:t>
            </a:r>
            <a:r>
              <a:rPr lang="en-US" sz="13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www.erdc.usace.army.mil/Media/Images/igphoto/2002471</a:t>
            </a:r>
            <a:r>
              <a:rPr lang="en-US"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393/</a:t>
            </a:r>
            <a:endParaRPr sz="13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Bathymetry</a:t>
            </a:r>
            <a:endParaRPr/>
          </a:p>
        </p:txBody>
      </p:sp>
      <p:sp>
        <p:nvSpPr>
          <p:cNvPr id="120" name="Google Shape;120;p6"/>
          <p:cNvSpPr txBox="1"/>
          <p:nvPr/>
        </p:nvSpPr>
        <p:spPr>
          <a:xfrm>
            <a:off x="406400" y="1306624"/>
            <a:ext cx="6363368" cy="4244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285115" marR="5080" lvl="0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Defines the physical structure of the natural system for the model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16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Sources</a:t>
            </a:r>
            <a:endParaRPr sz="2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Sediment range surveys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 Sections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Pre-impoundment surveys for reservoirs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7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Extent</a:t>
            </a:r>
            <a:endParaRPr sz="2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 of area of concern and beyond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Reaching upstream to control point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73685" algn="l" rtl="0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Resolution</a:t>
            </a:r>
            <a:endParaRPr sz="2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994" marR="0" lvl="1" indent="-171450" algn="l" rtl="0">
              <a:lnSpc>
                <a:spcPct val="100000"/>
              </a:lnSpc>
              <a:spcBef>
                <a:spcPts val="165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Horizontal (across system) – meters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994" marR="0" lvl="1" indent="-171450" algn="l" rtl="0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Longitudinal (along system) – 10s or meters or more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994" marR="0" lvl="1" indent="-171450" algn="l" rtl="0">
              <a:lnSpc>
                <a:spcPct val="100000"/>
              </a:lnSpc>
              <a:spcBef>
                <a:spcPts val="17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Vertical (through water column) – meter or less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1" name="Google Shape;121;p6"/>
          <p:cNvGrpSpPr/>
          <p:nvPr/>
        </p:nvGrpSpPr>
        <p:grpSpPr>
          <a:xfrm>
            <a:off x="7271084" y="520674"/>
            <a:ext cx="4054142" cy="5654148"/>
            <a:chOff x="6042435" y="1538566"/>
            <a:chExt cx="3229212" cy="4618432"/>
          </a:xfrm>
        </p:grpSpPr>
        <p:pic>
          <p:nvPicPr>
            <p:cNvPr id="122" name="Google Shape;122;p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042435" y="1538566"/>
              <a:ext cx="3229212" cy="28134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3" name="Google Shape;123;p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042435" y="4144899"/>
              <a:ext cx="3229212" cy="201209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Flow</a:t>
            </a:r>
            <a:endParaRPr/>
          </a:p>
        </p:txBody>
      </p:sp>
      <p:pic>
        <p:nvPicPr>
          <p:cNvPr id="129" name="Google Shape;129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02905" y="477556"/>
            <a:ext cx="4487865" cy="5613089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7"/>
          <p:cNvSpPr txBox="1"/>
          <p:nvPr/>
        </p:nvSpPr>
        <p:spPr>
          <a:xfrm>
            <a:off x="406400" y="1151325"/>
            <a:ext cx="3834239" cy="2352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285115" marR="0" lvl="0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Required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7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Headwater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Downstream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Tributary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Withdrawals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0" lvl="0" indent="-273050" algn="l" rtl="0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Water surface elevations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Google Shape;131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06400" y="3897562"/>
            <a:ext cx="6316665" cy="21930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Meteorology</a:t>
            </a:r>
            <a:endParaRPr>
              <a:solidFill>
                <a:schemeClr val="dk1"/>
              </a:solidFill>
            </a:endParaRPr>
          </a:p>
        </p:txBody>
      </p:sp>
      <p:grpSp>
        <p:nvGrpSpPr>
          <p:cNvPr id="137" name="Google Shape;137;p8"/>
          <p:cNvGrpSpPr/>
          <p:nvPr/>
        </p:nvGrpSpPr>
        <p:grpSpPr>
          <a:xfrm>
            <a:off x="7566213" y="454757"/>
            <a:ext cx="3621647" cy="5697184"/>
            <a:chOff x="6489537" y="1566896"/>
            <a:chExt cx="2909570" cy="4577021"/>
          </a:xfrm>
        </p:grpSpPr>
        <p:pic>
          <p:nvPicPr>
            <p:cNvPr id="138" name="Google Shape;138;p8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497122" y="1574482"/>
              <a:ext cx="2892597" cy="217070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9" name="Google Shape;139;p8"/>
            <p:cNvSpPr/>
            <p:nvPr/>
          </p:nvSpPr>
          <p:spPr>
            <a:xfrm>
              <a:off x="6489537" y="1566896"/>
              <a:ext cx="2909570" cy="2186305"/>
            </a:xfrm>
            <a:custGeom>
              <a:avLst/>
              <a:gdLst/>
              <a:ahLst/>
              <a:cxnLst/>
              <a:rect l="l" t="t" r="r" b="b"/>
              <a:pathLst>
                <a:path w="2909570" h="2186304" extrusionOk="0">
                  <a:moveTo>
                    <a:pt x="0" y="0"/>
                  </a:moveTo>
                  <a:lnTo>
                    <a:pt x="2909428" y="0"/>
                  </a:lnTo>
                  <a:lnTo>
                    <a:pt x="2909428" y="2185865"/>
                  </a:lnTo>
                  <a:lnTo>
                    <a:pt x="0" y="218586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51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40" name="Google Shape;140;p8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97122" y="3742334"/>
              <a:ext cx="2892597" cy="239721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1" name="Google Shape;141;p8"/>
            <p:cNvSpPr/>
            <p:nvPr/>
          </p:nvSpPr>
          <p:spPr>
            <a:xfrm>
              <a:off x="6493329" y="3738537"/>
              <a:ext cx="2901950" cy="2405380"/>
            </a:xfrm>
            <a:custGeom>
              <a:avLst/>
              <a:gdLst/>
              <a:ahLst/>
              <a:cxnLst/>
              <a:rect l="l" t="t" r="r" b="b"/>
              <a:pathLst>
                <a:path w="2901950" h="2405379" extrusionOk="0">
                  <a:moveTo>
                    <a:pt x="0" y="0"/>
                  </a:moveTo>
                  <a:lnTo>
                    <a:pt x="2901843" y="0"/>
                  </a:lnTo>
                  <a:lnTo>
                    <a:pt x="2901843" y="2404786"/>
                  </a:lnTo>
                  <a:lnTo>
                    <a:pt x="0" y="240478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90C22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2" name="Google Shape;142;p8"/>
          <p:cNvSpPr txBox="1"/>
          <p:nvPr/>
        </p:nvSpPr>
        <p:spPr>
          <a:xfrm>
            <a:off x="406400" y="1096264"/>
            <a:ext cx="6433608" cy="48523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950" rIns="0" bIns="0" anchor="t" anchorCtr="0">
            <a:spAutoFit/>
          </a:bodyPr>
          <a:lstStyle/>
          <a:p>
            <a:pPr marL="285115" marR="5080" lvl="0" indent="-273050" algn="l" rtl="0">
              <a:lnSpc>
                <a:spcPct val="994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Reliable data is essential to model performance, accuracy of model results, and validity of any concepts developed from model.</a:t>
            </a:r>
            <a:endParaRPr/>
          </a:p>
          <a:p>
            <a:pPr marL="285115" marR="0" lvl="0" indent="-273050" algn="l" rtl="0">
              <a:lnSpc>
                <a:spcPct val="100000"/>
              </a:lnSpc>
              <a:spcBef>
                <a:spcPts val="17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There is no substitute for good met data.</a:t>
            </a:r>
            <a:endParaRPr/>
          </a:p>
          <a:p>
            <a:pPr marL="285115" marR="0" lvl="0" indent="-27305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Typical sources are airports in vicinity of project.</a:t>
            </a:r>
            <a:endParaRPr/>
          </a:p>
          <a:p>
            <a:pPr marL="285115" marR="475615" lvl="0" indent="-273050" algn="l" rtl="0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available multiple airports may be used to evaluate model sensitivity.</a:t>
            </a:r>
            <a:endParaRPr/>
          </a:p>
          <a:p>
            <a:pPr marL="285115" marR="0" lvl="0" indent="-273050" algn="l" rtl="0">
              <a:lnSpc>
                <a:spcPct val="100000"/>
              </a:lnSpc>
              <a:spcBef>
                <a:spcPts val="17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 A</a:t>
            </a:r>
            <a:endParaRPr/>
          </a:p>
          <a:p>
            <a:pPr marL="285115" marR="0" lvl="0" indent="-273050" algn="l" rtl="0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Required information:</a:t>
            </a:r>
            <a:endParaRPr/>
          </a:p>
          <a:p>
            <a:pPr marL="467359" marR="0" lvl="1" indent="-171450" algn="l" rtl="0">
              <a:lnSpc>
                <a:spcPct val="100000"/>
              </a:lnSpc>
              <a:spcBef>
                <a:spcPts val="165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Air Temperature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75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Dew Point Temperature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Wind Speed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Wind Direction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75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Cloud Cover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Solar Radiation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Observations</a:t>
            </a:r>
            <a:endParaRPr/>
          </a:p>
        </p:txBody>
      </p:sp>
      <p:sp>
        <p:nvSpPr>
          <p:cNvPr id="148" name="Google Shape;148;p9"/>
          <p:cNvSpPr txBox="1"/>
          <p:nvPr/>
        </p:nvSpPr>
        <p:spPr>
          <a:xfrm>
            <a:off x="406400" y="1198261"/>
            <a:ext cx="3128386" cy="44614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6825" rIns="0" bIns="0" anchor="t" anchorCtr="0">
            <a:spAutoFit/>
          </a:bodyPr>
          <a:lstStyle/>
          <a:p>
            <a:pPr marL="285115" marR="0" lvl="0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Observed data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788035" lvl="1" indent="-171450" algn="l" rtl="0">
              <a:spcBef>
                <a:spcPts val="27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all water quality constituents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832485" lvl="1" indent="-171450" algn="l" rtl="0">
              <a:spcBef>
                <a:spcPts val="21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Provides Boundary conditions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spcBef>
                <a:spcPts val="5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Calibration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15240" lvl="0" indent="-27241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Analysis provides insight as to what is occurring in system PRIOR to modeling.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5080" lvl="0" indent="-272415" algn="l" rtl="0"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Aids in refinement of modeling approach.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9" name="Google Shape;149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75455" y="1161337"/>
            <a:ext cx="8210145" cy="4535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Other</a:t>
            </a:r>
            <a:endParaRPr/>
          </a:p>
        </p:txBody>
      </p:sp>
      <p:sp>
        <p:nvSpPr>
          <p:cNvPr id="155" name="Google Shape;155;p10"/>
          <p:cNvSpPr txBox="1"/>
          <p:nvPr/>
        </p:nvSpPr>
        <p:spPr>
          <a:xfrm>
            <a:off x="459698" y="1687177"/>
            <a:ext cx="5534702" cy="34836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285115" marR="0" lvl="0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Loadings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7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 source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0" lvl="1" indent="-17145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Non-point source/runoff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359" marR="400050" lvl="1" indent="-171450" algn="l" rtl="0">
              <a:lnSpc>
                <a:spcPct val="95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 forms of water quality constituent loads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73685" algn="l" rtl="0">
              <a:lnSpc>
                <a:spcPct val="100000"/>
              </a:lnSpc>
              <a:spcBef>
                <a:spcPts val="13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Sediment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73685" algn="l" rtl="0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Operations records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994" marR="0" lvl="1" indent="-172084" algn="l" rtl="0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Which gates used for how long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994" marR="0" lvl="1" indent="-172084" algn="l" rtl="0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Power generation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994" marR="0" lvl="1" indent="-172084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Spills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67994" marR="0" lvl="1" indent="-172084" algn="l" rtl="0">
              <a:lnSpc>
                <a:spcPct val="100000"/>
              </a:lnSpc>
              <a:spcBef>
                <a:spcPts val="17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Anything else that impacts water movement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6" name="Google Shape;156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3525" y="549529"/>
            <a:ext cx="5452063" cy="2718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3525" y="3429000"/>
            <a:ext cx="5452051" cy="27183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Output</a:t>
            </a:r>
            <a:endParaRPr/>
          </a:p>
        </p:txBody>
      </p:sp>
      <p:sp>
        <p:nvSpPr>
          <p:cNvPr id="163" name="Google Shape;163;p11"/>
          <p:cNvSpPr txBox="1"/>
          <p:nvPr/>
        </p:nvSpPr>
        <p:spPr>
          <a:xfrm>
            <a:off x="406400" y="1256045"/>
            <a:ext cx="4825870" cy="1910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285115" marR="5080" lvl="0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Identify what information is desired from model output.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254634" lvl="0" indent="-273050" algn="l" rtl="0">
              <a:spcBef>
                <a:spcPts val="24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Ensure that it is being output at times and locations desired.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115" marR="15875" lvl="0" indent="-273050" algn="l" rtl="0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Process and evaluate model output and compare to applicable observations.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4" name="Google Shape;164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83438" y="3485697"/>
            <a:ext cx="3936687" cy="262598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649" y="474778"/>
            <a:ext cx="6030144" cy="42095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Questions?</a:t>
            </a:r>
            <a:endParaRPr/>
          </a:p>
        </p:txBody>
      </p:sp>
      <p:grpSp>
        <p:nvGrpSpPr>
          <p:cNvPr id="171" name="Google Shape;171;p12"/>
          <p:cNvGrpSpPr/>
          <p:nvPr/>
        </p:nvGrpSpPr>
        <p:grpSpPr>
          <a:xfrm>
            <a:off x="1539570" y="1085825"/>
            <a:ext cx="9113607" cy="5133733"/>
            <a:chOff x="1363587" y="1895533"/>
            <a:chExt cx="7302500" cy="4113529"/>
          </a:xfrm>
        </p:grpSpPr>
        <p:pic>
          <p:nvPicPr>
            <p:cNvPr id="172" name="Google Shape;172;p1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67377" y="1899325"/>
              <a:ext cx="7294299" cy="410543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3" name="Google Shape;173;p12"/>
            <p:cNvSpPr/>
            <p:nvPr/>
          </p:nvSpPr>
          <p:spPr>
            <a:xfrm>
              <a:off x="1363587" y="1895533"/>
              <a:ext cx="7302500" cy="4113529"/>
            </a:xfrm>
            <a:custGeom>
              <a:avLst/>
              <a:gdLst/>
              <a:ahLst/>
              <a:cxnLst/>
              <a:rect l="l" t="t" r="r" b="b"/>
              <a:pathLst>
                <a:path w="7302500" h="4113529" extrusionOk="0">
                  <a:moveTo>
                    <a:pt x="0" y="0"/>
                  </a:moveTo>
                  <a:lnTo>
                    <a:pt x="7301880" y="0"/>
                  </a:lnTo>
                  <a:lnTo>
                    <a:pt x="7301880" y="4113016"/>
                  </a:lnTo>
                  <a:lnTo>
                    <a:pt x="0" y="411301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Title Slide Templates">
  <a:themeElements>
    <a:clrScheme name="Custom 2">
      <a:dk1>
        <a:srgbClr val="000000"/>
      </a:dk1>
      <a:lt1>
        <a:srgbClr val="FFFFFF"/>
      </a:lt1>
      <a:dk2>
        <a:srgbClr val="83847A"/>
      </a:dk2>
      <a:lt2>
        <a:srgbClr val="A3A3A3"/>
      </a:lt2>
      <a:accent1>
        <a:srgbClr val="82786F"/>
      </a:accent1>
      <a:accent2>
        <a:srgbClr val="6E8778"/>
      </a:accent2>
      <a:accent3>
        <a:srgbClr val="705C38"/>
      </a:accent3>
      <a:accent4>
        <a:srgbClr val="3E6682"/>
      </a:accent4>
      <a:accent5>
        <a:srgbClr val="663830"/>
      </a:accent5>
      <a:accent6>
        <a:srgbClr val="EF4135"/>
      </a:accent6>
      <a:hlink>
        <a:srgbClr val="3E6682"/>
      </a:hlink>
      <a:folHlink>
        <a:srgbClr val="EF413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eme1">
  <a:themeElements>
    <a:clrScheme name="Custom 2">
      <a:dk1>
        <a:srgbClr val="000000"/>
      </a:dk1>
      <a:lt1>
        <a:srgbClr val="FFFFFF"/>
      </a:lt1>
      <a:dk2>
        <a:srgbClr val="83847A"/>
      </a:dk2>
      <a:lt2>
        <a:srgbClr val="A3A3A3"/>
      </a:lt2>
      <a:accent1>
        <a:srgbClr val="82786F"/>
      </a:accent1>
      <a:accent2>
        <a:srgbClr val="6E8778"/>
      </a:accent2>
      <a:accent3>
        <a:srgbClr val="705C38"/>
      </a:accent3>
      <a:accent4>
        <a:srgbClr val="3E6682"/>
      </a:accent4>
      <a:accent5>
        <a:srgbClr val="663830"/>
      </a:accent5>
      <a:accent6>
        <a:srgbClr val="EF4135"/>
      </a:accent6>
      <a:hlink>
        <a:srgbClr val="3E6682"/>
      </a:hlink>
      <a:folHlink>
        <a:srgbClr val="EF413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5BD5409E-D28A-4DE1-B742-12A5FE8EEDE3}" vid="{659E9C23-BBC0-40D1-881C-ED13B734E766}"/>
    </a:ext>
  </a:extLst>
</a:theme>
</file>

<file path=ppt/theme/theme3.xml><?xml version="1.0" encoding="utf-8"?>
<a:theme xmlns:a="http://schemas.openxmlformats.org/drawingml/2006/main" name="UNCL // FOUO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A99B459A-8B1A-4C1C-862F-E0F9CCA22596}"/>
    </a:ext>
  </a:extLst>
</a:theme>
</file>

<file path=ppt/theme/theme4.xml><?xml version="1.0" encoding="utf-8"?>
<a:theme xmlns:a="http://schemas.openxmlformats.org/drawingml/2006/main" name="UNCLASSIFIED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63E75002-AE9D-4785-8124-3AFCCDC59DC3}"/>
    </a:ext>
  </a:extLst>
</a:theme>
</file>

<file path=ppt/theme/theme5.xml><?xml version="1.0" encoding="utf-8"?>
<a:theme xmlns:a="http://schemas.openxmlformats.org/drawingml/2006/main" name="Custom Classification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C6CC15A3-3625-4B74-BD53-DE8C42AE3990}"/>
    </a:ext>
  </a:extLst>
</a:theme>
</file>

<file path=ppt/theme/theme6.xml><?xml version="1.0" encoding="utf-8"?>
<a:theme xmlns:a="http://schemas.openxmlformats.org/drawingml/2006/main" name="Standard White Theme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0957B2FE-61BF-4E25-9901-9769BBB77ACE}"/>
    </a:ext>
  </a:extLst>
</a:theme>
</file>

<file path=ppt/theme/theme7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3868113-c0a5-43de-a876-5fe4e9e92519">
      <Terms xmlns="http://schemas.microsoft.com/office/infopath/2007/PartnerControls"/>
    </lcf76f155ced4ddcb4097134ff3c332f>
    <TaxCatchAll xmlns="33812d21-cc6d-40d3-8190-1784895c4f8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AF2FAC55F63A40BD9EED0C36836299" ma:contentTypeVersion="11" ma:contentTypeDescription="Create a new document." ma:contentTypeScope="" ma:versionID="3728a24128c8d92f839bb13793558aed">
  <xsd:schema xmlns:xsd="http://www.w3.org/2001/XMLSchema" xmlns:xs="http://www.w3.org/2001/XMLSchema" xmlns:p="http://schemas.microsoft.com/office/2006/metadata/properties" xmlns:ns2="83868113-c0a5-43de-a876-5fe4e9e92519" xmlns:ns3="33812d21-cc6d-40d3-8190-1784895c4f86" targetNamespace="http://schemas.microsoft.com/office/2006/metadata/properties" ma:root="true" ma:fieldsID="b12b5e841fafb2392613c5d5cd91cc7a" ns2:_="" ns3:_="">
    <xsd:import namespace="83868113-c0a5-43de-a876-5fe4e9e92519"/>
    <xsd:import namespace="33812d21-cc6d-40d3-8190-1784895c4f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868113-c0a5-43de-a876-5fe4e9e925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2e6c1609-49e0-4fdc-8f5b-8b798a96913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812d21-cc6d-40d3-8190-1784895c4f86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c54ceb61-3fcb-461d-8e52-255959401034}" ma:internalName="TaxCatchAll" ma:showField="CatchAllData" ma:web="33812d21-cc6d-40d3-8190-1784895c4f8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549D06F-12D0-4D1D-8D60-DE2138CB363F}">
  <ds:schemaRefs>
    <ds:schemaRef ds:uri="http://schemas.microsoft.com/office/2006/metadata/properties"/>
    <ds:schemaRef ds:uri="http://schemas.microsoft.com/office/infopath/2007/PartnerControls"/>
    <ds:schemaRef ds:uri="83868113-c0a5-43de-a876-5fe4e9e92519"/>
    <ds:schemaRef ds:uri="33812d21-cc6d-40d3-8190-1784895c4f86"/>
  </ds:schemaRefs>
</ds:datastoreItem>
</file>

<file path=customXml/itemProps2.xml><?xml version="1.0" encoding="utf-8"?>
<ds:datastoreItem xmlns:ds="http://schemas.openxmlformats.org/officeDocument/2006/customXml" ds:itemID="{78C38433-CB52-411E-8012-C9D5FCEDE14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3868113-c0a5-43de-a876-5fe4e9e92519"/>
    <ds:schemaRef ds:uri="33812d21-cc6d-40d3-8190-1784895c4f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9ACEA16-2912-4228-91BC-B339579C38C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475</Words>
  <Application>Microsoft Macintosh PowerPoint</Application>
  <PresentationFormat>Widescreen</PresentationFormat>
  <Paragraphs>98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Arial</vt:lpstr>
      <vt:lpstr>Calibri</vt:lpstr>
      <vt:lpstr>Wingdings</vt:lpstr>
      <vt:lpstr>Title Slide Templates</vt:lpstr>
      <vt:lpstr>Theme1</vt:lpstr>
      <vt:lpstr>UNCL // FOUO Content</vt:lpstr>
      <vt:lpstr>UNCLASSIFIED Content</vt:lpstr>
      <vt:lpstr>Custom Classification Content</vt:lpstr>
      <vt:lpstr>Standard White Theme</vt:lpstr>
      <vt:lpstr>MODEL SETUP I: LECTURE</vt:lpstr>
      <vt:lpstr>Outline</vt:lpstr>
      <vt:lpstr>Background</vt:lpstr>
      <vt:lpstr>How to Set Up and Run a Model Application</vt:lpstr>
      <vt:lpstr>Definition of Problem</vt:lpstr>
      <vt:lpstr>Bathymetry</vt:lpstr>
      <vt:lpstr>Flow</vt:lpstr>
      <vt:lpstr>Meteorology</vt:lpstr>
      <vt:lpstr>Observations</vt:lpstr>
      <vt:lpstr>Other</vt:lpstr>
      <vt:lpstr>Output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 SETUP I LECTURE</dc:title>
  <dc:creator>Melendez, Lauren L CIV USARMY CEERD-EL (USA)</dc:creator>
  <cp:lastModifiedBy>Todd Steissberg</cp:lastModifiedBy>
  <cp:revision>6</cp:revision>
  <dcterms:created xsi:type="dcterms:W3CDTF">2023-05-10T14:43:25Z</dcterms:created>
  <dcterms:modified xsi:type="dcterms:W3CDTF">2025-09-15T06:44:04Z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0x01010031AF2FAC55F63A40BD9EED0C36836299</vt:lpwstr>
  </property>
</Properties>
</file>