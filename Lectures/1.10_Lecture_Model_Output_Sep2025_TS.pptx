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4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47" r:id="rId4"/>
    <p:sldMasterId id="2147484301" r:id="rId5"/>
    <p:sldMasterId id="2147484311" r:id="rId6"/>
    <p:sldMasterId id="2147484272" r:id="rId7"/>
    <p:sldMasterId id="2147484318" r:id="rId8"/>
  </p:sldMasterIdLst>
  <p:notesMasterIdLst>
    <p:notesMasterId r:id="rId17"/>
  </p:notesMasterIdLst>
  <p:handoutMasterIdLst>
    <p:handoutMasterId r:id="rId18"/>
  </p:handoutMasterIdLst>
  <p:sldIdLst>
    <p:sldId id="286" r:id="rId9"/>
    <p:sldId id="347" r:id="rId10"/>
    <p:sldId id="372" r:id="rId11"/>
    <p:sldId id="371" r:id="rId12"/>
    <p:sldId id="369" r:id="rId13"/>
    <p:sldId id="370" r:id="rId14"/>
    <p:sldId id="368" r:id="rId15"/>
    <p:sldId id="301" r:id="rId16"/>
  </p:sldIdLst>
  <p:sldSz cx="12192000" cy="6858000"/>
  <p:notesSz cx="7010400" cy="120396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464" userDrawn="1">
          <p15:clr>
            <a:srgbClr val="A4A3A4"/>
          </p15:clr>
        </p15:guide>
        <p15:guide id="4" pos="6408" userDrawn="1">
          <p15:clr>
            <a:srgbClr val="A4A3A4"/>
          </p15:clr>
        </p15:guide>
        <p15:guide id="5" orient="horz" pos="288" userDrawn="1">
          <p15:clr>
            <a:srgbClr val="A4A3A4"/>
          </p15:clr>
        </p15:guide>
        <p15:guide id="7" orient="horz" pos="34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66"/>
    <a:srgbClr val="227EEE"/>
    <a:srgbClr val="9F9C95"/>
    <a:srgbClr val="A4A5A3"/>
    <a:srgbClr val="CBCBCB"/>
    <a:srgbClr val="FFFFFF"/>
    <a:srgbClr val="FCAE3B"/>
    <a:srgbClr val="50771B"/>
    <a:srgbClr val="C19859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78F3DA-CE62-408C-8297-C3486CD7C5E0}" v="2" dt="2022-08-06T17:43:29.808"/>
    <p1510:client id="{C64E5B7A-D61A-4671-A8B7-33ECA5735BCA}" v="80" dt="2022-08-11T00:14:38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26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32" y="192"/>
      </p:cViewPr>
      <p:guideLst>
        <p:guide orient="horz" pos="2160"/>
        <p:guide pos="3840"/>
        <p:guide pos="4464"/>
        <p:guide pos="6408"/>
        <p:guide orient="horz" pos="288"/>
        <p:guide orient="horz" pos="3456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microsoft.com/office/2015/10/relationships/revisionInfo" Target="revisionInfo.xml"/><Relationship Id="rId10" Type="http://schemas.openxmlformats.org/officeDocument/2006/relationships/slide" Target="slides/slide2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1A2DE62-24B0-4972-852B-4785B8FCBE77}" type="datetimeFigureOut">
              <a:rPr lang="en-US"/>
              <a:pPr/>
              <a:t>9/15/25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03F1684-B626-4C74-9731-CBE8CE5003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6536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39" y="0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ADC5788-3AFA-4451-BC67-BFEEAB944D67}" type="datetimeFigureOut">
              <a:rPr lang="en-US"/>
              <a:pPr/>
              <a:t>9/15/25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508000" y="903288"/>
            <a:ext cx="8026400" cy="4514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5719633"/>
            <a:ext cx="5607050" cy="5417409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11435153"/>
            <a:ext cx="3038475" cy="602392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39" y="11435153"/>
            <a:ext cx="3038475" cy="602392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6A0A3C6-4E22-46FB-836F-CA2C48EC4DC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3370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ackgro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 userDrawn="1">
            <p:ph type="body" sz="quarter" idx="12"/>
          </p:nvPr>
        </p:nvSpPr>
        <p:spPr>
          <a:xfrm>
            <a:off x="609602" y="3200405"/>
            <a:ext cx="9144001" cy="1562099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 userDrawn="1">
            <p:ph type="title"/>
          </p:nvPr>
        </p:nvSpPr>
        <p:spPr>
          <a:xfrm>
            <a:off x="609600" y="1924055"/>
            <a:ext cx="9144000" cy="1107559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 userDrawn="1">
            <p:ph type="sldNum" sz="quarter" idx="10"/>
          </p:nvPr>
        </p:nvSpPr>
        <p:spPr/>
        <p:txBody>
          <a:bodyPr/>
          <a:lstStyle>
            <a:lvl1pPr>
              <a:defRPr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106998"/>
            <a:ext cx="12191999" cy="403225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buFontTx/>
              <a:buNone/>
              <a:defRPr sz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ENTER CLASSIFICATION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455410"/>
            <a:ext cx="12192000" cy="295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ctr">
              <a:defRPr lang="en-US" sz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 algn="ctr">
              <a:buFontTx/>
            </a:pPr>
            <a:r>
              <a:rPr lang="en-US" dirty="0"/>
              <a:t>CLICK TO ENTER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242102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010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86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422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260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697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95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065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97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13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8203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0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961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5742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2999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60041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473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 userDrawn="1">
          <p15:clr>
            <a:srgbClr val="FBAE40"/>
          </p15:clr>
        </p15:guide>
        <p15:guide id="2" orient="horz" pos="516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0" y="1225550"/>
            <a:ext cx="11176000" cy="4718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878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idx="1"/>
          </p:nvPr>
        </p:nvSpPr>
        <p:spPr bwMode="auto">
          <a:xfrm>
            <a:off x="406403" y="5834379"/>
            <a:ext cx="8470900" cy="3282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0" numCol="1"/>
          <a:lstStyle>
            <a:lvl1pPr marL="0" indent="0"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rgbClr val="83847A"/>
                </a:solidFill>
              </a:defRPr>
            </a:lvl2pPr>
            <a:lvl3pPr>
              <a:defRPr sz="1500">
                <a:solidFill>
                  <a:srgbClr val="83847A"/>
                </a:solidFill>
              </a:defRPr>
            </a:lvl3pPr>
            <a:lvl4pPr>
              <a:defRPr sz="1500">
                <a:solidFill>
                  <a:srgbClr val="83847A"/>
                </a:solidFill>
              </a:defRPr>
            </a:lvl4pPr>
            <a:lvl5pPr>
              <a:defRPr sz="1500">
                <a:solidFill>
                  <a:srgbClr val="83847A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406400" y="942975"/>
            <a:ext cx="11176000" cy="476122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871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561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1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1230511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1230516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981200"/>
            <a:ext cx="5486400" cy="3962400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87137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2 Odd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3" y="1225550"/>
            <a:ext cx="35941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4127503" y="1225550"/>
            <a:ext cx="7454900" cy="471805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902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Quad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42"/>
            <a:ext cx="11176000" cy="806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225550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fld id="{3B773CDB-7973-454B-9699-5CCFA043586B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sz="quarter" idx="18"/>
          </p:nvPr>
        </p:nvSpPr>
        <p:spPr>
          <a:xfrm>
            <a:off x="4064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9"/>
          </p:nvPr>
        </p:nvSpPr>
        <p:spPr>
          <a:xfrm>
            <a:off x="6096000" y="3597275"/>
            <a:ext cx="5486400" cy="228600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3549650"/>
            <a:ext cx="111760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5990527" y="1225554"/>
            <a:ext cx="0" cy="46577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7155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Title - Sub-Head 2 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538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9A257827-C34C-4251-B995-96C9C233CCC8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096000" y="942975"/>
            <a:ext cx="5486400" cy="663266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406400" y="942980"/>
            <a:ext cx="5486400" cy="666241"/>
          </a:xfrm>
        </p:spPr>
        <p:txBody>
          <a:bodyPr bIns="0" anchor="b"/>
          <a:lstStyle>
            <a:lvl1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5"/>
          </p:nvPr>
        </p:nvSpPr>
        <p:spPr>
          <a:xfrm>
            <a:off x="4064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quarter" idx="16"/>
          </p:nvPr>
        </p:nvSpPr>
        <p:spPr>
          <a:xfrm>
            <a:off x="6096000" y="1693664"/>
            <a:ext cx="5486400" cy="4230886"/>
          </a:xfrm>
        </p:spPr>
        <p:txBody>
          <a:bodyPr tIns="0"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4">
          <p15:clr>
            <a:srgbClr val="FBAE40"/>
          </p15:clr>
        </p15:guide>
        <p15:guide id="2" orient="horz" pos="5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jpg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10" Type="http://schemas.openxmlformats.org/officeDocument/2006/relationships/image" Target="../media/image6.png"/><Relationship Id="rId4" Type="http://schemas.openxmlformats.org/officeDocument/2006/relationships/slideLayout" Target="../slideLayouts/slideLayout16.xml"/><Relationship Id="rId9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3.xml"/><Relationship Id="rId9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C930DDFD-C2CD-854E-EAA8-FC5C400F36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84"/>
          <a:stretch/>
        </p:blipFill>
        <p:spPr>
          <a:xfrm>
            <a:off x="7149290" y="3082338"/>
            <a:ext cx="2150384" cy="244585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7" name="Picture 6" descr="A body of water&#10;&#10;Description automatically generated">
            <a:extLst>
              <a:ext uri="{FF2B5EF4-FFF2-40B4-BE49-F238E27FC236}">
                <a16:creationId xmlns:a16="http://schemas.microsoft.com/office/drawing/2014/main" id="{8D345744-4BB6-A552-A696-3E29F74BAC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l="16078" r="16094"/>
          <a:stretch/>
        </p:blipFill>
        <p:spPr>
          <a:xfrm>
            <a:off x="9299674" y="3081534"/>
            <a:ext cx="2433110" cy="244584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5" name="Picture 4" descr="A picture containing tree, water, outdoor, nature&#10;&#10;Description automatically generated">
            <a:extLst>
              <a:ext uri="{FF2B5EF4-FFF2-40B4-BE49-F238E27FC236}">
                <a16:creationId xmlns:a16="http://schemas.microsoft.com/office/drawing/2014/main" id="{CC7E3D49-3990-21E2-46AF-4FE1C76439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149290" y="516571"/>
            <a:ext cx="4583494" cy="255808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Footer Placeholder 19"/>
          <p:cNvSpPr>
            <a:spLocks noGrp="1"/>
          </p:cNvSpPr>
          <p:nvPr userDrawn="1">
            <p:ph type="ftr" sz="quarter" idx="3"/>
          </p:nvPr>
        </p:nvSpPr>
        <p:spPr>
          <a:xfrm>
            <a:off x="125346" y="6504409"/>
            <a:ext cx="42142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/>
                </a:solidFill>
              </a:defRPr>
            </a:lvl1pPr>
          </a:lstStyle>
          <a:p>
            <a:r>
              <a:rPr lang="en-US"/>
              <a:t>File Name</a:t>
            </a:r>
            <a:endParaRPr lang="en-US" dirty="0"/>
          </a:p>
        </p:txBody>
      </p:sp>
      <p:sp>
        <p:nvSpPr>
          <p:cNvPr id="41" name="Title Placeholder 17"/>
          <p:cNvSpPr>
            <a:spLocks noGrp="1"/>
          </p:cNvSpPr>
          <p:nvPr userDrawn="1">
            <p:ph type="title"/>
          </p:nvPr>
        </p:nvSpPr>
        <p:spPr>
          <a:xfrm>
            <a:off x="654050" y="1606545"/>
            <a:ext cx="7984853" cy="12738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 userDrawn="1">
            <p:ph type="body" idx="1"/>
          </p:nvPr>
        </p:nvSpPr>
        <p:spPr>
          <a:xfrm>
            <a:off x="654050" y="2505109"/>
            <a:ext cx="7984853" cy="27819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190668" y="6577159"/>
            <a:ext cx="977900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fld id="{0D0E9D3B-CB56-40AE-B0A9-8DA5E1AEFDB7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665B91-8567-DD4A-BD2E-E719F20E35F0}"/>
              </a:ext>
            </a:extLst>
          </p:cNvPr>
          <p:cNvCxnSpPr/>
          <p:nvPr userDrawn="1"/>
        </p:nvCxnSpPr>
        <p:spPr>
          <a:xfrm flipH="1">
            <a:off x="1476587" y="6373877"/>
            <a:ext cx="1020741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A2EE2D-7BB5-4F44-82C4-5CF4EE388EFF}"/>
              </a:ext>
            </a:extLst>
          </p:cNvPr>
          <p:cNvSpPr txBox="1"/>
          <p:nvPr userDrawn="1"/>
        </p:nvSpPr>
        <p:spPr>
          <a:xfrm>
            <a:off x="6224694" y="6442287"/>
            <a:ext cx="55676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>
                <a:solidFill>
                  <a:prstClr val="black"/>
                </a:solidFill>
              </a:rPr>
              <a:t>DISCOVER  |  DEVELOP  |  DELIVER</a:t>
            </a:r>
          </a:p>
        </p:txBody>
      </p:sp>
    </p:spTree>
    <p:extLst>
      <p:ext uri="{BB962C8B-B14F-4D97-AF65-F5344CB8AC3E}">
        <p14:creationId xmlns:p14="http://schemas.microsoft.com/office/powerpoint/2010/main" val="2919789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1" r:id="rId1"/>
    <p:sldLayoutId id="2147484327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700" b="1" kern="1200" cap="all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" userDrawn="1">
          <p15:clr>
            <a:srgbClr val="5ACBF0"/>
          </p15:clr>
        </p15:guide>
        <p15:guide id="2" pos="6144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CAF9F99-F54C-A57F-DAA4-B479617EFA2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1046" y="6580037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2080234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8" r:id="rId2"/>
    <p:sldLayoutId id="2147484316" r:id="rId3"/>
    <p:sldLayoutId id="2147484309" r:id="rId4"/>
    <p:sldLayoutId id="2147484310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Wingdings" panose="05000000000000000000" pitchFamily="2" charset="2"/>
        <a:buChar char="§"/>
        <a:defRPr sz="20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•"/>
        <a:defRPr sz="18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SzPct val="70000"/>
        <a:buFont typeface="Arial" panose="020B0604020202020204" pitchFamily="34" charset="0"/>
        <a:buChar char="►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–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Clr>
          <a:schemeClr val="tx1"/>
        </a:buClr>
        <a:buFont typeface="Arial" pitchFamily="34" charset="0"/>
        <a:buChar char="»"/>
        <a:defRPr sz="1600" b="1" kern="120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1" name="Rounded Rectangle 10"/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84570" y="6595360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UNCLASSIFIED</a:t>
            </a:r>
          </a:p>
        </p:txBody>
      </p:sp>
    </p:spTree>
    <p:extLst>
      <p:ext uri="{BB962C8B-B14F-4D97-AF65-F5344CB8AC3E}">
        <p14:creationId xmlns:p14="http://schemas.microsoft.com/office/powerpoint/2010/main" val="79919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2" r:id="rId1"/>
    <p:sldLayoutId id="2147484313" r:id="rId2"/>
    <p:sldLayoutId id="2147484314" r:id="rId3"/>
    <p:sldLayoutId id="2147484317" r:id="rId4"/>
    <p:sldLayoutId id="2147484315" r:id="rId5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0E67D63-A09B-E760-5A10-8242BCEA7941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2808" y="6587122"/>
            <a:ext cx="969433" cy="365125"/>
          </a:xfrm>
          <a:prstGeom prst="rect">
            <a:avLst/>
          </a:prstGeom>
          <a:ln w="57150">
            <a:noFill/>
          </a:ln>
        </p:spPr>
        <p:txBody>
          <a:bodyPr/>
          <a:lstStyle>
            <a:lvl1pPr>
              <a:defRPr lang="en-US" sz="90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pPr algn="r"/>
            <a:fld id="{139BD942-CC14-44A4-87FB-46239297AFE5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1033" name="Picture 6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 bwMode="auto">
          <a:xfrm>
            <a:off x="6079067" y="3416305"/>
            <a:ext cx="25400" cy="3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US Army Corps of Engineers  </a:t>
            </a:r>
            <a:r>
              <a:rPr lang="en-US" sz="1400" dirty="0">
                <a:sym typeface="Symbol" panose="05050102010706020507" pitchFamily="18" charset="2"/>
              </a:rPr>
              <a:t></a:t>
            </a:r>
            <a:r>
              <a:rPr lang="en-US" sz="1400" dirty="0"/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chemeClr val="bg2">
                    <a:lumMod val="50000"/>
                  </a:schemeClr>
                </a:solidFill>
              </a:rPr>
              <a:t>CLASSIFICATION</a:t>
            </a:r>
            <a:r>
              <a:rPr lang="en-US" sz="1000" b="1" baseline="0" dirty="0">
                <a:solidFill>
                  <a:schemeClr val="bg2">
                    <a:lumMod val="50000"/>
                  </a:schemeClr>
                </a:solidFill>
              </a:rPr>
              <a:t> STATEMENT HERE</a:t>
            </a:r>
            <a:endParaRPr lang="en-US" sz="10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1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73" r:id="rId1"/>
    <p:sldLayoutId id="2147484279" r:id="rId2"/>
    <p:sldLayoutId id="2147484280" r:id="rId3"/>
    <p:sldLayoutId id="2147484281" r:id="rId4"/>
    <p:sldLayoutId id="2147484282" r:id="rId5"/>
    <p:sldLayoutId id="2147484283" r:id="rId6"/>
    <p:sldLayoutId id="2147484284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 userDrawn="1">
          <p15:clr>
            <a:srgbClr val="5ACBF0"/>
          </p15:clr>
        </p15:guide>
        <p15:guide id="2" pos="7296" userDrawn="1">
          <p15:clr>
            <a:srgbClr val="5ACBF0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8D8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FCF4A6-EBC9-C2AC-2815-3FFFD71A1CF8}"/>
              </a:ext>
            </a:extLst>
          </p:cNvPr>
          <p:cNvSpPr/>
          <p:nvPr userDrawn="1"/>
        </p:nvSpPr>
        <p:spPr>
          <a:xfrm>
            <a:off x="182880" y="217300"/>
            <a:ext cx="11788140" cy="6351139"/>
          </a:xfrm>
          <a:prstGeom prst="roundRect">
            <a:avLst>
              <a:gd name="adj" fmla="val 2258"/>
            </a:avLst>
          </a:prstGeom>
          <a:gradFill>
            <a:gsLst>
              <a:gs pos="0">
                <a:schemeClr val="bg1"/>
              </a:gs>
              <a:gs pos="83000">
                <a:srgbClr val="00B0F0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406400" y="274638"/>
            <a:ext cx="11176000" cy="80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Slide</a:t>
            </a:r>
          </a:p>
        </p:txBody>
      </p:sp>
      <p:sp>
        <p:nvSpPr>
          <p:cNvPr id="10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06400" y="1233932"/>
            <a:ext cx="11176000" cy="4709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buClr>
                <a:schemeClr val="tx1"/>
              </a:buClr>
            </a:pPr>
            <a:r>
              <a:rPr lang="en-US" dirty="0"/>
              <a:t>Click to edit Master text styles</a:t>
            </a:r>
          </a:p>
          <a:p>
            <a:pPr lvl="1">
              <a:buClr>
                <a:schemeClr val="tx1"/>
              </a:buClr>
            </a:pPr>
            <a:r>
              <a:rPr lang="en-US" dirty="0"/>
              <a:t>Second level</a:t>
            </a:r>
          </a:p>
          <a:p>
            <a:pPr lvl="2">
              <a:buClr>
                <a:schemeClr val="tx1"/>
              </a:buClr>
            </a:pPr>
            <a:r>
              <a:rPr lang="en-US" dirty="0"/>
              <a:t>Third level</a:t>
            </a:r>
          </a:p>
          <a:p>
            <a:pPr lvl="3">
              <a:buClr>
                <a:schemeClr val="tx1"/>
              </a:buClr>
            </a:pPr>
            <a:r>
              <a:rPr lang="en-US" dirty="0"/>
              <a:t>Fourth level</a:t>
            </a:r>
          </a:p>
          <a:p>
            <a:pPr lvl="4">
              <a:buClr>
                <a:schemeClr val="tx1"/>
              </a:buClr>
            </a:pPr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17522" y="-1985"/>
            <a:ext cx="969433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750" b="1">
                <a:solidFill>
                  <a:srgbClr val="898989"/>
                </a:solidFill>
                <a:cs typeface="Arial" pitchFamily="34" charset="0"/>
              </a:defRPr>
            </a:lvl1pPr>
          </a:lstStyle>
          <a:p>
            <a:fld id="{139BD942-CC14-44A4-87FB-46239297AF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406400" y="6309360"/>
            <a:ext cx="11358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413316" y="6286500"/>
            <a:ext cx="113519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prstClr val="black"/>
                </a:solidFill>
              </a:rPr>
              <a:t>US Army Corps of Engineers  </a:t>
            </a:r>
            <a:r>
              <a:rPr lang="en-US" sz="1400" dirty="0">
                <a:solidFill>
                  <a:prstClr val="black"/>
                </a:solidFill>
                <a:sym typeface="Symbol" panose="05050102010706020507" pitchFamily="18" charset="2"/>
              </a:rPr>
              <a:t></a:t>
            </a:r>
            <a:r>
              <a:rPr lang="en-US" sz="1400" dirty="0">
                <a:solidFill>
                  <a:prstClr val="black"/>
                </a:solidFill>
              </a:rPr>
              <a:t>   Engineer Research and Development Center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  <p:sp>
        <p:nvSpPr>
          <p:cNvPr id="18" name="TextBox 17"/>
          <p:cNvSpPr txBox="1"/>
          <p:nvPr userDrawn="1"/>
        </p:nvSpPr>
        <p:spPr>
          <a:xfrm>
            <a:off x="-6773" y="6583538"/>
            <a:ext cx="1219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EBEBEB">
                    <a:lumMod val="50000"/>
                  </a:srgbClr>
                </a:solidFill>
              </a:rPr>
              <a:t>//CUI//</a:t>
            </a:r>
          </a:p>
        </p:txBody>
      </p:sp>
    </p:spTree>
    <p:extLst>
      <p:ext uri="{BB962C8B-B14F-4D97-AF65-F5344CB8AC3E}">
        <p14:creationId xmlns:p14="http://schemas.microsoft.com/office/powerpoint/2010/main" val="4238848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20" r:id="rId1"/>
    <p:sldLayoutId id="2147484321" r:id="rId2"/>
    <p:sldLayoutId id="2147484322" r:id="rId3"/>
    <p:sldLayoutId id="2147484323" r:id="rId4"/>
    <p:sldLayoutId id="2147484324" r:id="rId5"/>
    <p:sldLayoutId id="2147484325" r:id="rId6"/>
    <p:sldLayoutId id="2147484326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 kern="1200" cap="none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18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228600" indent="-22860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lang="en-US" sz="20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71500" indent="-214313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Font typeface="Arial" pitchFamily="34" charset="0"/>
        <a:buChar char="•"/>
        <a:defRPr lang="en-US" sz="18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2pPr>
      <a:lvl3pPr marL="860425" indent="-171450" algn="l" rtl="0" eaLnBrk="1" fontAlgn="base" hangingPunct="1">
        <a:spcBef>
          <a:spcPts val="225"/>
        </a:spcBef>
        <a:spcAft>
          <a:spcPct val="0"/>
        </a:spcAft>
        <a:buClr>
          <a:srgbClr val="FF0000"/>
        </a:buClr>
        <a:buSzPct val="70000"/>
        <a:buFont typeface="Arial" panose="020B0604020202020204" pitchFamily="34" charset="0"/>
        <a:buChar char="►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3pPr>
      <a:lvl4pPr marL="11430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–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4pPr>
      <a:lvl5pPr marL="1371600" indent="-171450" algn="l" rtl="0" eaLnBrk="1" fontAlgn="base" hangingPunct="1">
        <a:spcBef>
          <a:spcPts val="225"/>
        </a:spcBef>
        <a:spcAft>
          <a:spcPct val="0"/>
        </a:spcAft>
        <a:buFont typeface="Arial" pitchFamily="34" charset="0"/>
        <a:buChar char="»"/>
        <a:defRPr lang="en-US" sz="1600" b="1" kern="1200" dirty="0">
          <a:solidFill>
            <a:schemeClr val="tx1">
              <a:lumMod val="75000"/>
              <a:lumOff val="25000"/>
            </a:schemeClr>
          </a:solidFill>
          <a:latin typeface="Arial" pitchFamily="34" charset="0"/>
          <a:ea typeface="Arial" charset="0"/>
          <a:cs typeface="Arial" pitchFamily="34" charset="0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5ACBF0"/>
          </p15:clr>
        </p15:guide>
        <p15:guide id="2" pos="729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1784595"/>
            <a:ext cx="5700762" cy="400110"/>
          </a:xfrm>
        </p:spPr>
        <p:txBody>
          <a:bodyPr vert="horz" wrap="square" lIns="91440" tIns="45720" rIns="91440" bIns="45720" rtlCol="0" anchor="t">
            <a:spAutoFit/>
          </a:bodyPr>
          <a:lstStyle/>
          <a:p>
            <a:r>
              <a:rPr lang="en-US" sz="2000" dirty="0"/>
              <a:t>CE-QUAL-W2 Model Outputs: Overview</a:t>
            </a:r>
          </a:p>
        </p:txBody>
      </p:sp>
      <p:sp>
        <p:nvSpPr>
          <p:cNvPr id="14339" name="Slide Number Placeholder 4"/>
          <p:cNvSpPr>
            <a:spLocks noGrp="1"/>
          </p:cNvSpPr>
          <p:nvPr>
            <p:ph type="sldNum" sz="quarter" idx="10"/>
          </p:nvPr>
        </p:nvSpPr>
        <p:spPr>
          <a:ln w="57150">
            <a:noFill/>
          </a:ln>
        </p:spPr>
        <p:txBody>
          <a:bodyPr/>
          <a:lstStyle/>
          <a:p>
            <a:fld id="{744B3473-5193-4AC1-9169-6977ADF2DCFC}" type="slidenum">
              <a:rPr lang="en-US"/>
              <a:pPr/>
              <a:t>1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UNCLASSIFIED</a:t>
            </a:r>
          </a:p>
        </p:txBody>
      </p:sp>
      <p:pic>
        <p:nvPicPr>
          <p:cNvPr id="11" name="Picture 10" descr="A close up of a sign&#10;&#10;Description automatically generated">
            <a:extLst>
              <a:ext uri="{FF2B5EF4-FFF2-40B4-BE49-F238E27FC236}">
                <a16:creationId xmlns:a16="http://schemas.microsoft.com/office/drawing/2014/main" id="{7223F22D-5DFC-42EB-8948-9B1384385F0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6600" y="5784725"/>
            <a:ext cx="977900" cy="95891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7FAA9B-4EFE-46EC-9922-77579BE627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3809"/>
          <a:stretch/>
        </p:blipFill>
        <p:spPr>
          <a:xfrm>
            <a:off x="8261685" y="5635231"/>
            <a:ext cx="1162230" cy="1296087"/>
          </a:xfrm>
          <a:prstGeom prst="rect">
            <a:avLst/>
          </a:prstGeom>
        </p:spPr>
      </p:pic>
      <p:sp>
        <p:nvSpPr>
          <p:cNvPr id="15" name="WordArt 3" descr="Environmental Systems &#10;Modeling Team">
            <a:extLst>
              <a:ext uri="{FF2B5EF4-FFF2-40B4-BE49-F238E27FC236}">
                <a16:creationId xmlns:a16="http://schemas.microsoft.com/office/drawing/2014/main" id="{82DC1E1B-09D6-45CD-941D-66951F4189B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8340651" y="5794410"/>
            <a:ext cx="977900" cy="121515"/>
          </a:xfrm>
          <a:prstGeom prst="rect">
            <a:avLst/>
          </a:prstGeom>
          <a:extLst>
            <a:ext uri="{AF507438-7753-43E0-B8FC-AC1667EBCBE1}">
              <a14:hiddenEffects xmlns:a14="http://schemas.microsoft.com/office/drawing/2010/main">
                <a:effectLst/>
              </a14:hiddenEffects>
            </a:ext>
          </a:extLst>
        </p:spPr>
        <p:txBody>
          <a:bodyPr wrap="none" fromWordArt="1">
            <a:prstTxWarp prst="textArchUp">
              <a:avLst>
                <a:gd name="adj" fmla="val 11218855"/>
              </a:avLst>
            </a:prstTxWarp>
          </a:bodyPr>
          <a:lstStyle/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Environmental Systems</a:t>
            </a:r>
          </a:p>
          <a:p>
            <a:pPr algn="ctr" rtl="0">
              <a:buNone/>
            </a:pPr>
            <a:r>
              <a:rPr lang="en-US" sz="3600" kern="10" spc="0" dirty="0">
                <a:ln w="15875" algn="ctr">
                  <a:solidFill>
                    <a:srgbClr val="000000"/>
                  </a:solidFill>
                  <a:round/>
                  <a:headEnd/>
                  <a:tailEnd/>
                </a:ln>
                <a:solidFill>
                  <a:srgbClr val="000000"/>
                </a:solidFill>
                <a:effectLst/>
                <a:latin typeface="+mj-lt"/>
                <a:cs typeface="Times New Roman" panose="02020603050405020304" pitchFamily="18" charset="0"/>
              </a:rPr>
              <a:t>Modeling Team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C6F711E-A386-040D-2E1F-C80891E67AB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3" y="2355649"/>
            <a:ext cx="7652082" cy="2625334"/>
          </a:xfrm>
        </p:spPr>
        <p:txBody>
          <a:bodyPr vert="horz" lIns="91440" tIns="45720" rIns="91440" bIns="45720" rtlCol="0">
            <a:spAutoFit/>
          </a:bodyPr>
          <a:lstStyle/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Todd E. Steissberg, PhD, PE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Environmental Laboratory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Engineer Research and Development Center (ERDC)</a:t>
            </a: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U.S. Army Corps of Engineers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CE-QUAL-W2 Water Quality Modeling Workshop</a:t>
            </a:r>
          </a:p>
          <a:p>
            <a:pPr defTabSz="514350">
              <a:spcBef>
                <a:spcPts val="563"/>
              </a:spcBef>
            </a:pPr>
            <a:endParaRPr lang="en-US" sz="1800" b="0" dirty="0">
              <a:solidFill>
                <a:schemeClr val="bg1"/>
              </a:solidFill>
            </a:endParaRPr>
          </a:p>
          <a:p>
            <a:pPr defTabSz="514350">
              <a:spcBef>
                <a:spcPts val="563"/>
              </a:spcBef>
            </a:pPr>
            <a:r>
              <a:rPr lang="en-US" sz="1800" b="0" dirty="0">
                <a:solidFill>
                  <a:schemeClr val="bg1"/>
                </a:solidFill>
              </a:rPr>
              <a:t>September 17-18,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5677" y="264594"/>
            <a:ext cx="11176000" cy="806451"/>
          </a:xfrm>
        </p:spPr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Outputs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9606C-C4FD-00B1-9AFD-A4CFBF189023}"/>
              </a:ext>
            </a:extLst>
          </p:cNvPr>
          <p:cNvSpPr txBox="1"/>
          <p:nvPr/>
        </p:nvSpPr>
        <p:spPr>
          <a:xfrm>
            <a:off x="609600" y="1301756"/>
            <a:ext cx="861837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Model preprocessor outputs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 err="1">
                <a:solidFill>
                  <a:schemeClr val="tx1"/>
                </a:solidFill>
                <a:latin typeface="+mn-lt"/>
              </a:rPr>
              <a:t>pre.opt</a:t>
            </a:r>
            <a:endParaRPr lang="en-US" sz="2800" dirty="0">
              <a:latin typeface="+mn-lt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 err="1">
                <a:solidFill>
                  <a:schemeClr val="tx1"/>
                </a:solidFill>
                <a:latin typeface="+mn-lt"/>
              </a:rPr>
              <a:t>pre.wrn</a:t>
            </a:r>
            <a:endParaRPr lang="en-US" sz="2800" dirty="0">
              <a:latin typeface="+mn-lt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 err="1">
                <a:solidFill>
                  <a:schemeClr val="tx1"/>
                </a:solidFill>
                <a:latin typeface="+mn-lt"/>
              </a:rPr>
              <a:t>pre.err</a:t>
            </a:r>
            <a:endParaRPr lang="en-US" sz="2800" b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44C51D-B895-4EBF-65B0-D8D94934BEFC}"/>
              </a:ext>
            </a:extLst>
          </p:cNvPr>
          <p:cNvSpPr txBox="1"/>
          <p:nvPr/>
        </p:nvSpPr>
        <p:spPr>
          <a:xfrm>
            <a:off x="611257" y="3624767"/>
            <a:ext cx="6004145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Model outputs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w2.wrn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w2.err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chemeClr val="tx1"/>
                </a:solidFill>
                <a:latin typeface="+mn-lt"/>
              </a:rPr>
              <a:t>W2ErrorDump.csv</a:t>
            </a:r>
          </a:p>
          <a:p>
            <a:pPr marL="514350" indent="-514350">
              <a:buAutoNum type="arabicPlain" startAt="15"/>
            </a:pPr>
            <a:endParaRPr lang="en-US" sz="2400" kern="0" dirty="0"/>
          </a:p>
        </p:txBody>
      </p:sp>
    </p:spTree>
    <p:extLst>
      <p:ext uri="{BB962C8B-B14F-4D97-AF65-F5344CB8AC3E}">
        <p14:creationId xmlns:p14="http://schemas.microsoft.com/office/powerpoint/2010/main" val="3144980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532" y="254546"/>
            <a:ext cx="11176000" cy="806451"/>
          </a:xfrm>
        </p:spPr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Files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9606C-C4FD-00B1-9AFD-A4CFBF189023}"/>
              </a:ext>
            </a:extLst>
          </p:cNvPr>
          <p:cNvSpPr txBox="1"/>
          <p:nvPr/>
        </p:nvSpPr>
        <p:spPr>
          <a:xfrm>
            <a:off x="712239" y="1011788"/>
            <a:ext cx="5585927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1	SNP - Snapshot </a:t>
            </a:r>
          </a:p>
          <a:p>
            <a:pPr marL="514350" indent="-514350">
              <a:spcAft>
                <a:spcPts val="600"/>
              </a:spcAft>
            </a:pPr>
            <a:r>
              <a:rPr lang="en-US" sz="2200" kern="0" dirty="0"/>
              <a:t>2	PRF - Profile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3	SPR - Spreadsheet profile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4	W2L – W2Post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5	CPL - Contour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6	TECPLOT - Contour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7	FLUX - Kinetic fluxes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8	TSR - Time series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9	WLEVEL – Water level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10	FLOWBAL - Flow balance</a:t>
            </a:r>
          </a:p>
          <a:p>
            <a:pPr marL="514350" indent="-514350">
              <a:spcAft>
                <a:spcPts val="600"/>
              </a:spcAft>
              <a:buNone/>
            </a:pPr>
            <a:r>
              <a:rPr lang="en-US" sz="2200" kern="0" dirty="0"/>
              <a:t>11	NPBAL – N and P mass balance</a:t>
            </a:r>
          </a:p>
          <a:p>
            <a:pPr marL="514350" indent="-514350">
              <a:spcAft>
                <a:spcPts val="600"/>
              </a:spcAft>
              <a:buAutoNum type="arabicPlain" startAt="12"/>
            </a:pPr>
            <a:r>
              <a:rPr lang="en-US" sz="2200" kern="0" dirty="0"/>
              <a:t>WDO - Withdrawal outflow</a:t>
            </a:r>
          </a:p>
          <a:p>
            <a:pPr marL="514350" indent="-514350">
              <a:spcAft>
                <a:spcPts val="600"/>
              </a:spcAft>
              <a:buFontTx/>
              <a:buAutoNum type="arabicPlain" startAt="12"/>
            </a:pPr>
            <a:r>
              <a:rPr lang="en-US" sz="2200" kern="0" dirty="0"/>
              <a:t>RESTART</a:t>
            </a:r>
          </a:p>
        </p:txBody>
      </p:sp>
    </p:spTree>
    <p:extLst>
      <p:ext uri="{BB962C8B-B14F-4D97-AF65-F5344CB8AC3E}">
        <p14:creationId xmlns:p14="http://schemas.microsoft.com/office/powerpoint/2010/main" val="570857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533" y="254546"/>
            <a:ext cx="11176000" cy="806451"/>
          </a:xfrm>
        </p:spPr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Control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52FEE4-4CFC-58B8-ED46-3BC5149DB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85" y="1162978"/>
            <a:ext cx="6457561" cy="50304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18D0359-25E7-F870-60C3-D1A7239142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6842" y="1162978"/>
            <a:ext cx="4448698" cy="512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239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5531" y="244498"/>
            <a:ext cx="11176000" cy="806451"/>
          </a:xfrm>
        </p:spPr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Control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9FD5BE61-2DE5-FC60-F24F-1D8C462576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79" y="1016297"/>
            <a:ext cx="5738535" cy="527993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Table&#10;&#10;Description automatically generated">
            <a:extLst>
              <a:ext uri="{FF2B5EF4-FFF2-40B4-BE49-F238E27FC236}">
                <a16:creationId xmlns:a16="http://schemas.microsoft.com/office/drawing/2014/main" id="{F078DD5F-430F-5494-544B-2770AB4F51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814" y="1016297"/>
            <a:ext cx="5363786" cy="46782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219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484" y="244498"/>
            <a:ext cx="11176000" cy="806451"/>
          </a:xfrm>
        </p:spPr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W2 Model Output Control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7F8C71-8052-E722-8C57-B95B89B3D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63" y="1205271"/>
            <a:ext cx="5383778" cy="29142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4DDD7E-E6D5-E1BD-26D7-9D1816F27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863" y="1205272"/>
            <a:ext cx="5475257" cy="296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836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580" y="264594"/>
            <a:ext cx="11176000" cy="806451"/>
          </a:xfrm>
        </p:spPr>
        <p:txBody>
          <a:bodyPr/>
          <a:lstStyle/>
          <a:p>
            <a:r>
              <a:rPr lang="en-US" sz="3600" dirty="0">
                <a:solidFill>
                  <a:schemeClr val="tx1"/>
                </a:solidFill>
                <a:latin typeface="Arial"/>
                <a:ea typeface="DengXian" panose="02010600030101010101" pitchFamily="2" charset="-122"/>
                <a:cs typeface="Arial"/>
              </a:rPr>
              <a:t>Review DeGray Reservoir Output Files</a:t>
            </a:r>
            <a:endParaRPr 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E68EC9-041B-B511-0640-BADEF05A6CFC}"/>
              </a:ext>
            </a:extLst>
          </p:cNvPr>
          <p:cNvSpPr txBox="1"/>
          <p:nvPr/>
        </p:nvSpPr>
        <p:spPr>
          <a:xfrm>
            <a:off x="381836" y="1175659"/>
            <a:ext cx="11384783" cy="452431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Run the DeGray W2 model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Review the following W2 model output files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pre.opt</a:t>
            </a:r>
            <a:r>
              <a:rPr lang="en-US" sz="1600" dirty="0"/>
              <a:t> – Preprocessor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tsr_1_seg31.csv – Segment time series plot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spr.csv</a:t>
            </a:r>
            <a:r>
              <a:rPr lang="en-US" sz="1600" dirty="0"/>
              <a:t> – Segment spreadsheet profile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flx.opt</a:t>
            </a:r>
            <a:r>
              <a:rPr lang="en-US" sz="1600" dirty="0"/>
              <a:t> – Segment flux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kflux_wb1.csv – Waterbody flux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qwo_31.csv - Withdrawal outflow file for flow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two_31.csv - Withdrawal outflow file for temperature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cwo_31.csv - Withdrawal outflow file for constituent concentrations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dwo_31.csv - Withdrawal outflow file for derived constituent concentrations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wl.csv</a:t>
            </a:r>
            <a:r>
              <a:rPr lang="en-US" sz="1600" dirty="0"/>
              <a:t> – Surface water level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flowbal.csv</a:t>
            </a:r>
            <a:r>
              <a:rPr lang="en-US" sz="1600" dirty="0"/>
              <a:t> - Waterbody flow balance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massbal.csv</a:t>
            </a:r>
            <a:r>
              <a:rPr lang="en-US" sz="1600" dirty="0"/>
              <a:t> - Waterbody N and P mass balance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/>
              <a:t>degray.w2l - W2Post Postprocessor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 err="1"/>
              <a:t>snp.opt</a:t>
            </a:r>
            <a:r>
              <a:rPr lang="en-US" sz="1600" dirty="0"/>
              <a:t> - Snapshot</a:t>
            </a:r>
          </a:p>
        </p:txBody>
      </p:sp>
    </p:spTree>
    <p:extLst>
      <p:ext uri="{BB962C8B-B14F-4D97-AF65-F5344CB8AC3E}">
        <p14:creationId xmlns:p14="http://schemas.microsoft.com/office/powerpoint/2010/main" val="2535791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359" y="209283"/>
            <a:ext cx="11176000" cy="594586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+mj-lt"/>
              </a:rPr>
              <a:t>Questions?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A257827-C34C-4251-B995-96C9C233CCC8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4" name="Picture 3" descr="A picture containing mountain, nature, outdoor, track&#10;&#10;Description automatically generated">
            <a:extLst>
              <a:ext uri="{FF2B5EF4-FFF2-40B4-BE49-F238E27FC236}">
                <a16:creationId xmlns:a16="http://schemas.microsoft.com/office/drawing/2014/main" id="{1AF182D0-0F6D-0A39-F4C5-543A714F7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102" y="898087"/>
            <a:ext cx="8168509" cy="530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877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 Templates">
  <a:themeElements>
    <a:clrScheme name="Custom 2">
      <a:dk1>
        <a:srgbClr val="000000"/>
      </a:dk1>
      <a:lt1>
        <a:srgbClr val="FFFFFF"/>
      </a:lt1>
      <a:dk2>
        <a:srgbClr val="83847A"/>
      </a:dk2>
      <a:lt2>
        <a:srgbClr val="A3A3A3"/>
      </a:lt2>
      <a:accent1>
        <a:srgbClr val="82786F"/>
      </a:accent1>
      <a:accent2>
        <a:srgbClr val="6E8778"/>
      </a:accent2>
      <a:accent3>
        <a:srgbClr val="705C38"/>
      </a:accent3>
      <a:accent4>
        <a:srgbClr val="3E6682"/>
      </a:accent4>
      <a:accent5>
        <a:srgbClr val="663830"/>
      </a:accent5>
      <a:accent6>
        <a:srgbClr val="EF4135"/>
      </a:accent6>
      <a:hlink>
        <a:srgbClr val="3E6682"/>
      </a:hlink>
      <a:folHlink>
        <a:srgbClr val="EF413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22F0FA2-19C7-43A3-AA26-1FC3028BC721}" vid="{2BB31517-1312-4F35-8F70-B9A7CDB59602}"/>
    </a:ext>
  </a:extLst>
</a:theme>
</file>

<file path=ppt/theme/theme2.xml><?xml version="1.0" encoding="utf-8"?>
<a:theme xmlns:a="http://schemas.openxmlformats.org/drawingml/2006/main" name="UNCL // FOUO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A99B459A-8B1A-4C1C-862F-E0F9CCA22596}"/>
    </a:ext>
  </a:extLst>
</a:theme>
</file>

<file path=ppt/theme/theme3.xml><?xml version="1.0" encoding="utf-8"?>
<a:theme xmlns:a="http://schemas.openxmlformats.org/drawingml/2006/main" name="UNCLASSIFIED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63E75002-AE9D-4785-8124-3AFCCDC59DC3}"/>
    </a:ext>
  </a:extLst>
</a:theme>
</file>

<file path=ppt/theme/theme4.xml><?xml version="1.0" encoding="utf-8"?>
<a:theme xmlns:a="http://schemas.openxmlformats.org/drawingml/2006/main" name="Custom Classification Content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C6CC15A3-3625-4B74-BD53-DE8C42AE3990}"/>
    </a:ext>
  </a:extLst>
</a:theme>
</file>

<file path=ppt/theme/theme5.xml><?xml version="1.0" encoding="utf-8"?>
<a:theme xmlns:a="http://schemas.openxmlformats.org/drawingml/2006/main" name="Standard White Theme">
  <a:themeElements>
    <a:clrScheme name="Custom 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0F0"/>
      </a:hlink>
      <a:folHlink>
        <a:srgbClr val="0070C0"/>
      </a:folHlink>
    </a:clrScheme>
    <a:fontScheme name="USACE TEMPLATE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F4339">
            <a:alpha val="89000"/>
          </a:srgbClr>
        </a:solidFill>
        <a:ln>
          <a:noFill/>
        </a:ln>
        <a:effectLst/>
      </a:spPr>
      <a:bodyPr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on1" id="{122F0FA2-19C7-43A3-AA26-1FC3028BC721}" vid="{0957B2FE-61BF-4E25-9901-9769BBB77AC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3868113-c0a5-43de-a876-5fe4e9e92519">
      <Terms xmlns="http://schemas.microsoft.com/office/infopath/2007/PartnerControls"/>
    </lcf76f155ced4ddcb4097134ff3c332f>
    <TaxCatchAll xmlns="33812d21-cc6d-40d3-8190-1784895c4f8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F2FAC55F63A40BD9EED0C36836299" ma:contentTypeVersion="11" ma:contentTypeDescription="Create a new document." ma:contentTypeScope="" ma:versionID="3728a24128c8d92f839bb13793558aed">
  <xsd:schema xmlns:xsd="http://www.w3.org/2001/XMLSchema" xmlns:xs="http://www.w3.org/2001/XMLSchema" xmlns:p="http://schemas.microsoft.com/office/2006/metadata/properties" xmlns:ns2="83868113-c0a5-43de-a876-5fe4e9e92519" xmlns:ns3="33812d21-cc6d-40d3-8190-1784895c4f86" targetNamespace="http://schemas.microsoft.com/office/2006/metadata/properties" ma:root="true" ma:fieldsID="b12b5e841fafb2392613c5d5cd91cc7a" ns2:_="" ns3:_="">
    <xsd:import namespace="83868113-c0a5-43de-a876-5fe4e9e92519"/>
    <xsd:import namespace="33812d21-cc6d-40d3-8190-1784895c4f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68113-c0a5-43de-a876-5fe4e9e925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2e6c1609-49e0-4fdc-8f5b-8b798a96913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3812d21-cc6d-40d3-8190-1784895c4f8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c54ceb61-3fcb-461d-8e52-255959401034}" ma:internalName="TaxCatchAll" ma:showField="CatchAllData" ma:web="33812d21-cc6d-40d3-8190-1784895c4f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8FABFF-2334-4719-9D84-3E10528D1EE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991F692-3C53-4CCC-ABAB-DE325E273E84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d0df2f8a-2bd1-4a75-833f-ab046cdad13d"/>
    <ds:schemaRef ds:uri="3d7cd9bf-014c-4164-aa31-ccc0b16984c2"/>
    <ds:schemaRef ds:uri="83868113-c0a5-43de-a876-5fe4e9e92519"/>
    <ds:schemaRef ds:uri="33812d21-cc6d-40d3-8190-1784895c4f86"/>
  </ds:schemaRefs>
</ds:datastoreItem>
</file>

<file path=customXml/itemProps3.xml><?xml version="1.0" encoding="utf-8"?>
<ds:datastoreItem xmlns:ds="http://schemas.openxmlformats.org/officeDocument/2006/customXml" ds:itemID="{78CBD256-2BB3-4133-8F6F-96EF2A4B64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3868113-c0a5-43de-a876-5fe4e9e92519"/>
    <ds:schemaRef ds:uri="33812d21-cc6d-40d3-8190-1784895c4f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ERDC PowerPoint Template - CUI</Template>
  <TotalTime>588</TotalTime>
  <Words>298</Words>
  <Application>Microsoft Macintosh PowerPoint</Application>
  <PresentationFormat>Widescreen</PresentationFormat>
  <Paragraphs>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Wingdings</vt:lpstr>
      <vt:lpstr>Title Slide Templates</vt:lpstr>
      <vt:lpstr>UNCL // FOUO Content</vt:lpstr>
      <vt:lpstr>UNCLASSIFIED Content</vt:lpstr>
      <vt:lpstr>Custom Classification Content</vt:lpstr>
      <vt:lpstr>Standard White Theme</vt:lpstr>
      <vt:lpstr>CE-QUAL-W2 Model Outputs: Overview</vt:lpstr>
      <vt:lpstr>W2 Model Outputs</vt:lpstr>
      <vt:lpstr>W2 Model Output Files</vt:lpstr>
      <vt:lpstr>W2 Model Output Control</vt:lpstr>
      <vt:lpstr>W2 Model Output Control</vt:lpstr>
      <vt:lpstr>W2 Model Output Control</vt:lpstr>
      <vt:lpstr>Review DeGray Reservoir Output Files</vt:lpstr>
      <vt:lpstr>Questions?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CE-QUAL-W2 workshop Bathymetry</dc:title>
  <dc:creator>Melendez, Lauren L CIV USARMY CEERD-EL (USA)</dc:creator>
  <cp:lastModifiedBy>Todd Steissberg</cp:lastModifiedBy>
  <cp:revision>182</cp:revision>
  <cp:lastPrinted>2018-03-14T15:02:38Z</cp:lastPrinted>
  <dcterms:created xsi:type="dcterms:W3CDTF">2022-08-04T21:02:01Z</dcterms:created>
  <dcterms:modified xsi:type="dcterms:W3CDTF">2025-09-15T07:24:37Z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0x01010031AF2FAC55F63A40BD9EED0C36836299</vt:lpwstr>
  </property>
</Properties>
</file>