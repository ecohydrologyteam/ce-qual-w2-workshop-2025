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674" r:id="rId5"/>
    <p:sldMasterId id="2147483681" r:id="rId6"/>
    <p:sldMasterId id="2147483685" r:id="rId7"/>
    <p:sldMasterId id="2147483689" r:id="rId8"/>
    <p:sldMasterId id="2147483695" r:id="rId9"/>
    <p:sldMasterId id="2147483701" r:id="rId10"/>
    <p:sldMasterId id="2147483709" r:id="rId11"/>
  </p:sldMasterIdLst>
  <p:notesMasterIdLst>
    <p:notesMasterId r:id="rId34"/>
  </p:notesMasterIdLst>
  <p:handoutMasterIdLst>
    <p:handoutMasterId r:id="rId35"/>
  </p:handoutMasterIdLst>
  <p:sldIdLst>
    <p:sldId id="286" r:id="rId12"/>
    <p:sldId id="670" r:id="rId13"/>
    <p:sldId id="668" r:id="rId14"/>
    <p:sldId id="664" r:id="rId15"/>
    <p:sldId id="660" r:id="rId16"/>
    <p:sldId id="669" r:id="rId17"/>
    <p:sldId id="671" r:id="rId18"/>
    <p:sldId id="672" r:id="rId19"/>
    <p:sldId id="673" r:id="rId20"/>
    <p:sldId id="674" r:id="rId21"/>
    <p:sldId id="666" r:id="rId22"/>
    <p:sldId id="676" r:id="rId23"/>
    <p:sldId id="675" r:id="rId24"/>
    <p:sldId id="680" r:id="rId25"/>
    <p:sldId id="679" r:id="rId26"/>
    <p:sldId id="681" r:id="rId27"/>
    <p:sldId id="677" r:id="rId28"/>
    <p:sldId id="686" r:id="rId29"/>
    <p:sldId id="687" r:id="rId30"/>
    <p:sldId id="688" r:id="rId31"/>
    <p:sldId id="689" r:id="rId32"/>
    <p:sldId id="301" r:id="rId33"/>
  </p:sldIdLst>
  <p:sldSz cx="12192000" cy="6858000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96" userDrawn="1">
          <p15:clr>
            <a:srgbClr val="A4A3A4"/>
          </p15:clr>
        </p15:guide>
        <p15:guide id="4" orient="horz" pos="240" userDrawn="1">
          <p15:clr>
            <a:srgbClr val="A4A3A4"/>
          </p15:clr>
        </p15:guide>
        <p15:guide id="5" pos="7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BEDED"/>
    <a:srgbClr val="F1F8F9"/>
    <a:srgbClr val="ED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1"/>
    <p:restoredTop sz="94658"/>
  </p:normalViewPr>
  <p:slideViewPr>
    <p:cSldViewPr snapToGrid="0">
      <p:cViewPr varScale="1">
        <p:scale>
          <a:sx n="94" d="100"/>
          <a:sy n="94" d="100"/>
        </p:scale>
        <p:origin x="216" y="752"/>
      </p:cViewPr>
      <p:guideLst>
        <p:guide orient="horz" pos="2160"/>
        <p:guide pos="3840"/>
        <p:guide orient="horz" pos="696"/>
        <p:guide orient="horz" pos="240"/>
        <p:guide pos="73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tableStyles" Target="tableStyles.xml"/><Relationship Id="rId21" Type="http://schemas.openxmlformats.org/officeDocument/2006/relationships/slide" Target="slides/slide10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handoutMaster" Target="handoutMasters/handoutMaster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B980B342-48CC-406F-A9DE-42A3E8B5A7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12ED653F-54FD-4B51-976A-86F528DDF9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404" name="Rectangle 4">
            <a:extLst>
              <a:ext uri="{FF2B5EF4-FFF2-40B4-BE49-F238E27FC236}">
                <a16:creationId xmlns:a16="http://schemas.microsoft.com/office/drawing/2014/main" id="{D2627E17-93F4-44EC-BECE-43E4626A4E0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0405" name="Rectangle 5">
            <a:extLst>
              <a:ext uri="{FF2B5EF4-FFF2-40B4-BE49-F238E27FC236}">
                <a16:creationId xmlns:a16="http://schemas.microsoft.com/office/drawing/2014/main" id="{10D50539-3C7E-4B05-BE23-DFC38302C9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8D299CB-C521-453D-A253-520B7CAA9D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FA24A4E-64CE-4789-B4B6-3DB0934032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6C34B1A6-3257-4EE6-BBB1-922240D3F1E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DF79CBD6-C23B-4E74-8450-63EC454DB2A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9575" y="698500"/>
            <a:ext cx="62039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B8EFD0B9-F181-4FAD-B15C-9BB0B110C00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21188"/>
            <a:ext cx="5619750" cy="41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CD574270-24D8-4A67-B7BC-73261641E4F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9911F5D5-3455-4900-8D66-95D79AE817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12" tIns="46656" rIns="93312" bIns="46656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/>
            </a:lvl1pPr>
          </a:lstStyle>
          <a:p>
            <a:fld id="{36826D95-CC44-42FF-9962-D96C39633D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45EB2430-500A-056F-BDB3-1C3EF1CB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6AD5341A-7756-ECE3-7D0D-2E4469388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800F55AB-4FA1-D247-4D4D-A09A6FF41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DE052A5E-8E22-2DAB-4697-4964A9FE87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8089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3427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9783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01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0733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CB08CA7F-73E8-690E-97B0-9A4BE327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6D59627B-B0EA-57CD-884C-EF969CE73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82A09F3A-0403-5665-152F-A1379ED1D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C6C7F804-969D-D2AE-7664-99FD5FDBFE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8803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F7D52C01-DAC5-D38C-CF0E-851BD19A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C0A4DCB4-D3F2-C34D-A6B3-6EAFBE050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E7C32F74-8977-4EE6-66B4-16A828B928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A8A7DA8B-D7CC-D828-AE75-45F9EE1774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085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170D2B71-C9A4-D232-678D-F04F1301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4077F48F-2115-2C8B-9D3C-0E2680A959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AF1206FB-C562-84FE-F9E2-71069872D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99310DB6-9AC0-54DA-0C87-72AEB34BC0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217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CF44E686-BF09-FCE5-F2E3-A5CD236D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35D5A001-42BD-BA0E-8042-E78B0BC0D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0032EA64-7220-980B-33E5-5AAB618A8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FD6AB5DC-8CA8-EFB3-6EC3-1E10CA5672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2282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/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/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8312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70392638-DB5D-FD37-65AA-96EF662D7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82D84AA2-A0A6-FD06-3D84-99F8159DAA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4EC1AAAB-45AC-0DFC-6060-1A2DA416BA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CC25409B-A3A2-6BBB-3879-4679560774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4641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3906CB5C-0E72-2957-9E27-1EA61361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C5372916-08F7-4C12-06E7-7A660378E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A3420808-CF06-391F-FA3E-2E7825CF69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6C6494D8-0CC7-5473-1C8A-829AB44ECF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0423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E6B84D32-5306-A147-98B6-70836318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8D480088-4B83-6718-2363-E409A1BBFD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14D5925A-E2E2-EB41-1230-B1F2E205FB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93CE171C-997A-55BB-0E68-52ED1FABAC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6354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8435EF1C-1431-B9F4-D0E4-D9024CEE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28BE6A12-3B53-6310-23B7-9EDF4F05A2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20CEF0D7-38F8-6CD1-CCD2-B1A41B32C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04CCC965-B454-232D-D36C-A38311DA5B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9423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D95535A3-72FF-4E65-B20A-B1F2E8ED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4D8AE4B6-3B15-55B3-3D4B-54CA364DB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F84B3CA0-4688-A69E-54E7-7AE00ECBF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E3BB2A0B-EFE7-D5D2-60BC-8CD53AEBD63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3527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3D61BAB4-8223-EE4C-F2B7-07BD59BC8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3365A284-0CB6-3E39-C93E-EB7FB95C70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6E740DE2-33BF-D3D1-00CB-F8384A058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616CBF7C-E2DA-FCC7-6E77-1C7D67F524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5015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A32CC82A-83EB-8298-3FAB-1913D049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C1B62245-224B-3364-AB45-4BFFBD0DB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998F75E0-491E-FAD4-02EA-80D8753416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2250038E-AE4E-434C-A19C-9049389E62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09937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8CD328E7-66E7-3965-38BB-6F4C87583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5E4BC8E7-3F5D-DE5C-D04F-838D5B3096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C3B08FCC-90B2-4392-C0FF-AC39A3915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0A3BE412-275D-2DBF-8016-81C2CDE5AD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6498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F8BADF6C-782F-053E-32B0-F00228B0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E7EB8794-674D-10B3-50CD-A1C2B1BAEF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C4FD482D-5145-8B76-BC21-83C243B5C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FE42E2FD-7491-6132-CE36-87ED0526BB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8378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>
          <a:extLst>
            <a:ext uri="{FF2B5EF4-FFF2-40B4-BE49-F238E27FC236}">
              <a16:creationId xmlns:a16="http://schemas.microsoft.com/office/drawing/2014/main" id="{87DE0A92-ADD4-7E74-B256-B8FAEF03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>
            <a:extLst>
              <a:ext uri="{FF2B5EF4-FFF2-40B4-BE49-F238E27FC236}">
                <a16:creationId xmlns:a16="http://schemas.microsoft.com/office/drawing/2014/main" id="{B59563D2-3C53-C382-BA3D-3788A36079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1" name="Google Shape;561;p26:notes">
            <a:extLst>
              <a:ext uri="{FF2B5EF4-FFF2-40B4-BE49-F238E27FC236}">
                <a16:creationId xmlns:a16="http://schemas.microsoft.com/office/drawing/2014/main" id="{92A236F1-6510-95B1-8A49-28147BF81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rmAutofit/>
          </a:bodyPr>
          <a:lstStyle/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562" name="Google Shape;562;p26:notes">
            <a:extLst>
              <a:ext uri="{FF2B5EF4-FFF2-40B4-BE49-F238E27FC236}">
                <a16:creationId xmlns:a16="http://schemas.microsoft.com/office/drawing/2014/main" id="{7F47F4CD-B401-FF81-8325-38339642FD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5237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7597A7-AAEE-4D44-8E25-193B18EC3F8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363AAD-A570-4E87-AA61-2CA271E91D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83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1EF2E2-F766-4EC3-BD3B-504C5A1606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8A6C9-F883-4878-8D09-025D23FE82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53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3EEEFC-9449-4773-8C56-5CD8581E5B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C88DC8-BEC8-44D6-84B6-B2DEAA2F93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242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FB7904-8178-4A84-9486-68E2B949E8B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F55399-BE6E-4785-9616-703F2E8C89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564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C4A72-8B44-4049-B3BF-E737154DC9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6D01C-8C09-40B6-87B8-4A340A8FDA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10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E1C0899-BB03-4C63-8285-B639CFEF57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31A7A9-3784-420E-8BC6-4C9B1E3D6E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54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37F3953-CFFE-4261-848B-29FCF841660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4C535B-4A7D-462D-8B25-8F47172E7D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667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A6B355-CF6F-4E7D-A7FD-6959729240C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2F3CC9-ABEA-40F9-89AA-F60771B12D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52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83FE8D8-8451-4C6F-BED8-42F8B8577A2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0B2391-B323-4970-9B18-79D08236C4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44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D489CF-28CB-44CF-BE23-E7E443363D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34988D-3043-4292-A5F4-05A4FE8EB7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63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211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211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63FFC0C-B34F-4DA7-8FDB-EB71663EE8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724E34-502A-4DD5-B5DD-9BE9488FFA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92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207714-DE9B-4B9B-8F2A-9AF85A8C26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FA8E84-A2D4-4833-A163-9E927A1153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819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2117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D55682C-BED2-4067-A7E9-7D2BCCBEEF4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4F993-E6A8-4373-8023-B37EBBE7C0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4215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469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rgbClr val="83847A"/>
                </a:solidFill>
              </a:defRPr>
            </a:lvl2pPr>
            <a:lvl3pPr>
              <a:defRPr sz="1125">
                <a:solidFill>
                  <a:srgbClr val="83847A"/>
                </a:solidFill>
              </a:defRPr>
            </a:lvl3pPr>
            <a:lvl4pPr>
              <a:defRPr sz="1125">
                <a:solidFill>
                  <a:srgbClr val="83847A"/>
                </a:solidFill>
              </a:defRPr>
            </a:lvl4pPr>
            <a:lvl5pPr>
              <a:defRPr sz="1125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05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966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0985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01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8"/>
            <a:ext cx="5486400" cy="666241"/>
          </a:xfrm>
        </p:spPr>
        <p:txBody>
          <a:bodyPr bIns="0" anchor="b"/>
          <a:lstStyle>
            <a:lvl1pPr>
              <a:defRPr sz="101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69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1EF2E2-F766-4EC3-BD3B-504C5A1606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8A6C9-F883-4878-8D09-025D23FE82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4248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4" y="3200407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7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" y="107000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257175" indent="0">
              <a:buFontTx/>
              <a:buNone/>
              <a:defRPr/>
            </a:lvl2pPr>
            <a:lvl3pPr marL="514350" indent="0">
              <a:buFontTx/>
              <a:buNone/>
              <a:defRPr/>
            </a:lvl3pPr>
            <a:lvl4pPr marL="771525" indent="0">
              <a:buFontTx/>
              <a:buNone/>
              <a:defRPr/>
            </a:lvl4pPr>
            <a:lvl5pPr marL="10287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9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5304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A249-0877-4181-9CEC-76809EE5C2F2}" type="datetime1">
              <a:rPr lang="en-US" smtClean="0"/>
              <a:t>9/18/25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Water Quality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0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F7A79-6C5F-4610-A09B-5F9FF9EEA428}" type="datetime1">
              <a:rPr lang="en-US" smtClean="0"/>
              <a:t>9/18/25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Water Quality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242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3133961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F3C-CFEC-2FD7-F9F7-38425E5D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19CB-EE4F-A351-321D-9548229B6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B8013-6DB5-4FC7-934F-82C2E8D31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E06F7-6DC6-4586-B3ED-D4191F2A1E2A}" type="datetimeFigureOut">
              <a:rPr lang="en-US" smtClean="0"/>
              <a:t>9/18/25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CD9E4-0999-A20E-109B-CEE73D47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9713-BDA6-635C-1862-6C7B17A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8A6C9-F883-4878-8D09-025D23FE82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2537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4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2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437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674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09233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997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036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052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60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87815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59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9199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7317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93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611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8345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359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761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642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784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92886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952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274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934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6213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975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theme" Target="../theme/theme4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3" descr="ppt_camo_bkgrnd-02">
            <a:extLst>
              <a:ext uri="{FF2B5EF4-FFF2-40B4-BE49-F238E27FC236}">
                <a16:creationId xmlns:a16="http://schemas.microsoft.com/office/drawing/2014/main" id="{07E0C119-AAC9-46DC-93D5-3C24913C9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>
            <a:extLst>
              <a:ext uri="{FF2B5EF4-FFF2-40B4-BE49-F238E27FC236}">
                <a16:creationId xmlns:a16="http://schemas.microsoft.com/office/drawing/2014/main" id="{D18D6CD7-0128-470E-89B3-5B525A010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1A921F5-BFF2-49E3-92E3-CBAB86368F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 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7662450-B012-4B7E-9A2B-590A2EC947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768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968E7F01-041C-4010-88FE-1B9185A755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34F20E99-D30D-4ED6-AF0E-DB45751F4AAC}"/>
              </a:ext>
            </a:extLst>
          </p:cNvPr>
          <p:cNvSpPr>
            <a:spLocks noChangeShapeType="1"/>
          </p:cNvSpPr>
          <p:nvPr userDrawn="1"/>
        </p:nvSpPr>
        <p:spPr bwMode="auto">
          <a:xfrm flipH="1">
            <a:off x="609600" y="6248400"/>
            <a:ext cx="1097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Font typeface="Arial" panose="020B0604020202020204" pitchFamily="34" charset="0"/>
        <a:buChar char="►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 3" panose="05040102010807070707" pitchFamily="18" charset="2"/>
        <a:buChar char="w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anose="05000000000000000000" pitchFamily="2" charset="2"/>
        <a:buChar char="¡"/>
        <a:defRPr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50000"/>
        <a:buFont typeface="Wingdings" pitchFamily="2" charset="2"/>
        <a:buChar char="¡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2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1" y="217302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8" y="6580039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675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79067" y="3416307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7" y="6286500"/>
            <a:ext cx="113519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 Army Corps of Engineers  </a:t>
            </a:r>
            <a:r>
              <a:rPr lang="en-US" sz="1050" dirty="0">
                <a:sym typeface="Symbol" panose="05050102010706020507" pitchFamily="18" charset="2"/>
              </a:rPr>
              <a:t></a:t>
            </a:r>
            <a:r>
              <a:rPr lang="en-US" sz="105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2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40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20221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35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257175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6pPr>
      <a:lvl7pPr marL="514350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7pPr>
      <a:lvl8pPr marL="771525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8pPr>
      <a:lvl9pPr marL="1028700" algn="l" rtl="0" eaLnBrk="1" fontAlgn="base" hangingPunct="1"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1450" indent="-171450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5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428625" indent="-160735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35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645319" indent="-128588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2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857250" indent="-128588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2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028700" indent="-128588" algn="l" rtl="0" eaLnBrk="1" fontAlgn="base" hangingPunct="1">
        <a:spcBef>
          <a:spcPts val="169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2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1" userDrawn="1">
          <p15:clr>
            <a:srgbClr val="5ACBF0"/>
          </p15:clr>
        </p15:guide>
        <p15:guide id="2" pos="9728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1" y="3082340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6078" r="16094"/>
          <a:stretch/>
        </p:blipFill>
        <p:spPr>
          <a:xfrm>
            <a:off x="9299674" y="3081536"/>
            <a:ext cx="2433111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149290" y="516571"/>
            <a:ext cx="4583495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7" y="6504411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1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1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9" y="6577161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67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8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5" y="6442289"/>
            <a:ext cx="556768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5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38321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hdr="0" dt="0"/>
  <p:txStyles>
    <p:titleStyle>
      <a:lvl1pPr algn="l" defTabSz="514350" rtl="0" eaLnBrk="1" latinLnBrk="0" hangingPunct="1">
        <a:lnSpc>
          <a:spcPct val="100000"/>
        </a:lnSpc>
        <a:spcBef>
          <a:spcPct val="0"/>
        </a:spcBef>
        <a:buNone/>
        <a:defRPr sz="2025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2" userDrawn="1">
          <p15:clr>
            <a:srgbClr val="5ACBF0"/>
          </p15:clr>
        </p15:guide>
        <p15:guide id="2" pos="8192" userDrawn="1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968E7F01-041C-4010-88FE-1B9185A755BE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252E4D-CE85-CBED-6D6D-70324D8957F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2"/>
            <a:ext cx="12192000" cy="6857999"/>
          </a:xfrm>
          <a:prstGeom prst="rect">
            <a:avLst/>
          </a:prstGeom>
        </p:spPr>
      </p:pic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C5A60594-8795-72D7-D5FC-21E8BBFC1210}"/>
              </a:ext>
            </a:extLst>
          </p:cNvPr>
          <p:cNvSpPr/>
          <p:nvPr userDrawn="1"/>
        </p:nvSpPr>
        <p:spPr>
          <a:xfrm>
            <a:off x="182881" y="217302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3C5595-3DC5-7F8D-E4ED-37CC74ED5507}"/>
              </a:ext>
            </a:extLst>
          </p:cNvPr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87BE8D-DE47-5BFD-4EFF-EF21BA2A9669}"/>
              </a:ext>
            </a:extLst>
          </p:cNvPr>
          <p:cNvSpPr txBox="1"/>
          <p:nvPr userDrawn="1"/>
        </p:nvSpPr>
        <p:spPr>
          <a:xfrm>
            <a:off x="413317" y="6286500"/>
            <a:ext cx="113519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 Army Corps of Engineers  </a:t>
            </a:r>
            <a:r>
              <a:rPr lang="en-US" sz="1050" dirty="0">
                <a:sym typeface="Symbol" panose="05050102010706020507" pitchFamily="18" charset="2"/>
              </a:rPr>
              <a:t></a:t>
            </a:r>
            <a:r>
              <a:rPr lang="en-US" sz="1050" dirty="0"/>
              <a:t>   Engineer Research and Development Center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30B06-D8AC-D9E4-3994-46BCCA348611}"/>
              </a:ext>
            </a:extLst>
          </p:cNvPr>
          <p:cNvSpPr txBox="1"/>
          <p:nvPr userDrawn="1"/>
        </p:nvSpPr>
        <p:spPr>
          <a:xfrm>
            <a:off x="0" y="2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2FCCD-C564-9B60-15EF-A56909963F88}"/>
              </a:ext>
            </a:extLst>
          </p:cNvPr>
          <p:cNvSpPr txBox="1"/>
          <p:nvPr userDrawn="1"/>
        </p:nvSpPr>
        <p:spPr>
          <a:xfrm>
            <a:off x="-6773" y="6583540"/>
            <a:ext cx="1219200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5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7653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5ACBF0"/>
          </p15:clr>
        </p15:guide>
        <p15:guide id="2" pos="6144">
          <p15:clr>
            <a:srgbClr val="5ACBF0"/>
          </p15:clr>
        </p15:guide>
        <p15:guide id="3" pos="341" userDrawn="1">
          <p15:clr>
            <a:srgbClr val="5ACBF0"/>
          </p15:clr>
        </p15:guide>
        <p15:guide id="4" pos="9728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328006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6156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7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6666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851037"/>
            <a:ext cx="6237764" cy="400110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pPr defTabSz="685800"/>
            <a:r>
              <a:rPr lang="en-US" sz="2000" dirty="0"/>
              <a:t>New and </a:t>
            </a:r>
            <a:r>
              <a:rPr lang="en-US" sz="2000"/>
              <a:t>Future Capabilities</a:t>
            </a:r>
            <a:endParaRPr lang="en-US" sz="2000" dirty="0"/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pPr defTabSz="685800"/>
            <a:fld id="{744B3473-5193-4AC1-9169-6977ADF2DCFC}" type="slidenum">
              <a:rPr lang="en-US">
                <a:solidFill>
                  <a:srgbClr val="000000">
                    <a:lumMod val="65000"/>
                    <a:lumOff val="35000"/>
                  </a:srgbClr>
                </a:solidFill>
                <a:latin typeface="Calibri" panose="020F0502020204030204"/>
              </a:rPr>
              <a:pPr defTabSz="685800"/>
              <a:t>1</a:t>
            </a:fld>
            <a:endParaRPr lang="en-US">
              <a:solidFill>
                <a:srgbClr val="000000">
                  <a:lumMod val="65000"/>
                  <a:lumOff val="35000"/>
                </a:srgbClr>
              </a:solidFill>
              <a:latin typeface="Calibri" panose="020F0502020204030204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8951" y="5195795"/>
            <a:ext cx="733425" cy="7191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7720265" y="5083675"/>
            <a:ext cx="871673" cy="972065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79489" y="5203058"/>
            <a:ext cx="733425" cy="911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defTabSz="685800"/>
            <a:r>
              <a:rPr lang="en-US" sz="2700" kern="1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Calibri Light" panose="020F0302020204030204"/>
                <a:cs typeface="Times New Roman" panose="02020603050405020304" pitchFamily="18" charset="0"/>
              </a:rPr>
              <a:t>Environmental Systems</a:t>
            </a:r>
          </a:p>
          <a:p>
            <a:pPr algn="ctr" defTabSz="685800"/>
            <a:r>
              <a:rPr lang="en-US" sz="2700" kern="1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Calibri Light" panose="020F0302020204030204"/>
                <a:cs typeface="Times New Roman" panose="02020603050405020304" pitchFamily="18" charset="0"/>
              </a:rPr>
              <a:t>Modeling Team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CB5D082-0125-EFFB-CA80-0A55E7EAB2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3" y="2442113"/>
            <a:ext cx="7652082" cy="2625334"/>
          </a:xfrm>
        </p:spPr>
        <p:txBody>
          <a:bodyPr vert="horz" lIns="91440" tIns="45720" rIns="91440" bIns="45720" rtlCol="0">
            <a:spAutoFit/>
          </a:bodyPr>
          <a:lstStyle/>
          <a:p>
            <a:r>
              <a:rPr lang="en-US" sz="1800" b="0" dirty="0">
                <a:solidFill>
                  <a:schemeClr val="bg1"/>
                </a:solidFill>
              </a:rPr>
              <a:t>Todd E. Steissberg, PhD, PE</a:t>
            </a:r>
          </a:p>
          <a:p>
            <a:r>
              <a:rPr lang="en-US" sz="1800" b="0" dirty="0">
                <a:solidFill>
                  <a:schemeClr val="bg1"/>
                </a:solidFill>
              </a:rPr>
              <a:t>Environmental Laboratory</a:t>
            </a:r>
          </a:p>
          <a:p>
            <a:r>
              <a:rPr lang="en-US" sz="1800" b="0" dirty="0">
                <a:solidFill>
                  <a:schemeClr val="bg1"/>
                </a:solidFill>
              </a:rPr>
              <a:t>Engineer Research and Development Center (ERDC)</a:t>
            </a:r>
          </a:p>
          <a:p>
            <a:r>
              <a:rPr lang="en-US" sz="1800" b="0" dirty="0">
                <a:solidFill>
                  <a:schemeClr val="bg1"/>
                </a:solidFill>
              </a:rPr>
              <a:t>U.S. Army Corps of Engineers</a:t>
            </a:r>
          </a:p>
          <a:p>
            <a:endParaRPr lang="en-US" sz="1800" b="0" dirty="0">
              <a:solidFill>
                <a:schemeClr val="bg1"/>
              </a:solidFill>
            </a:endParaRPr>
          </a:p>
          <a:p>
            <a:r>
              <a:rPr lang="en-US" sz="1800" b="0" dirty="0">
                <a:solidFill>
                  <a:schemeClr val="bg1"/>
                </a:solidFill>
              </a:rPr>
              <a:t>CE-QUAL-W2 Water Quality Modeling Workshop</a:t>
            </a:r>
          </a:p>
          <a:p>
            <a:endParaRPr lang="en-US" sz="1800" b="0" dirty="0">
              <a:solidFill>
                <a:schemeClr val="bg1"/>
              </a:solidFill>
            </a:endParaRPr>
          </a:p>
          <a:p>
            <a:r>
              <a:rPr lang="en-US" sz="1800" b="0" dirty="0">
                <a:solidFill>
                  <a:schemeClr val="bg1"/>
                </a:solidFill>
              </a:rPr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F3306855-27C3-A8A9-C1E9-0FD8A38D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399ADE9A-14AD-4D15-F1DA-1A6270807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400" y="936437"/>
            <a:ext cx="6208156" cy="520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Harmful Algal Blooms (HABs) occur when colonies of algae grow out of control and produce toxic or harmful effects on people, fish, shellfish, mammals, and birds.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Algae blooms can deplete dissolved oxygen in the water and/or release toxins that are harmful to human and ecosystem health through exposure to contaminated water or affected seafood.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The algae in toxic blooms can produce neurotoxins which directly affect fish and other marine life leading to massive fish kills and the accumulation of toxins in the food chain.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A0117347-B4A7-F9D2-2105-AA0A49DD2E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Enhancements to Improve Harmful Algal Bloom Modeling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FE3A74D-A5C7-E3C4-BE2C-86B97FF73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058" y="3471332"/>
            <a:ext cx="4940543" cy="271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oogle Shape;306;p9">
            <a:extLst>
              <a:ext uri="{FF2B5EF4-FFF2-40B4-BE49-F238E27FC236}">
                <a16:creationId xmlns:a16="http://schemas.microsoft.com/office/drawing/2014/main" id="{58F793A5-7A30-BD1C-6714-27F1F74902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5058" y="936437"/>
            <a:ext cx="4940542" cy="25280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510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406399" y="936437"/>
            <a:ext cx="6612966" cy="249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200" b="0" u="sng" dirty="0">
                <a:latin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  <a:t>: Existing models inadequately predict the timing, frequency, intensity, spatial variability, and impacts of Harmful Algal Blooms (HABs).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200" b="0" u="sng" dirty="0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en-US" sz="2200" b="0" dirty="0">
                <a:latin typeface="Calibri" panose="020F0502020204030204" pitchFamily="34" charset="0"/>
                <a:cs typeface="Calibri" panose="020F0502020204030204" pitchFamily="34" charset="0"/>
              </a:rPr>
              <a:t>: New capabilities have been added to CE-QUAL-W2 to improve its ability to simulate and manage HABs.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C20CB-D793-658D-0760-4C38BB51B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8" y="3541380"/>
            <a:ext cx="6041024" cy="269824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FF81E-403D-163F-32BF-EE8617D427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328" y="933123"/>
            <a:ext cx="4248083" cy="283205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40AFA4-8191-7178-53D4-57FC703AE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328" y="3407570"/>
            <a:ext cx="4248083" cy="2832055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128188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406400" y="878969"/>
            <a:ext cx="7312561" cy="52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Developing HAB simulation capabilities applicable to any reservoir is challenging. Reservoirs have characteristics that can vary significantly: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Algal species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Water body morphometry (length, width, etc.)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Volume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Depth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Mixing dynamics (wind forcing, fetch orientation)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Harmful algal blooms can exhibit rapid changes and non-linear dynamics that are difficult to capture in model simulations.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To address these issues: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Extensive literature review. Feedback gathered from HAB experts.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Case study site (Detroit Lake, Oregon) was selected to provide adequate data and a range of conditions that enables development of scaling methods.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Single species selected for algorithm development.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 and Solutions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picture containing mountain, nature, outdoor, track&#10;&#10;Description automatically generated">
            <a:extLst>
              <a:ext uri="{FF2B5EF4-FFF2-40B4-BE49-F238E27FC236}">
                <a16:creationId xmlns:a16="http://schemas.microsoft.com/office/drawing/2014/main" id="{7F6CB9C1-6736-BA06-7EAB-F4642B81C9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8343" y="985655"/>
            <a:ext cx="3675611" cy="238914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532A60-D58F-57B7-CB21-15EDE3239508}"/>
              </a:ext>
            </a:extLst>
          </p:cNvPr>
          <p:cNvSpPr txBox="1">
            <a:spLocks/>
          </p:cNvSpPr>
          <p:nvPr/>
        </p:nvSpPr>
        <p:spPr>
          <a:xfrm>
            <a:off x="7962769" y="3370714"/>
            <a:ext cx="3675611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Detroit Lake, Oregon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C671E8-2D78-7963-8232-7A1563169DE8}"/>
              </a:ext>
            </a:extLst>
          </p:cNvPr>
          <p:cNvSpPr txBox="1">
            <a:spLocks/>
          </p:cNvSpPr>
          <p:nvPr/>
        </p:nvSpPr>
        <p:spPr>
          <a:xfrm>
            <a:off x="7968343" y="5883039"/>
            <a:ext cx="3675612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Detroit Lake HAB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98F11CA-49D8-187B-3B8C-EED5A83FC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085" y="3806981"/>
            <a:ext cx="3692869" cy="2077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66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Survey Results: CE-QUAL-W2 Development Opportunities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B88C49-0D5A-80DA-A6E0-FCF5B6DD6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11" y="1076614"/>
            <a:ext cx="7702346" cy="465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5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Minimum algae concentration enforcement to support post-crash recovery.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Mechanical removal (treatments, harvesting) to simulate interventions such as skimming or pumping.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Hypoxia-induced mortality to reflect algal population dynamics under low oxygen stress.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Nitrogen fixation to support simulation of cyanobacteria dominance in low-nitrogen conditions. Cyanobacteria may outcompete native algae since they can fix nitrogen.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Improved buoyancy dynamics. Developing guidance for use.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CE-QUAL-W2 Enhancements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BC6BB0EE-EAA0-7A96-DC38-388406C49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CEB75A0E-4689-A536-2B71-23D061684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3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53B9B746-BFEA-A9CD-4FA5-391EC486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43295756-2679-2F84-3445-ECA60F15A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4745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prevent complete depletion of algae due to high mortality events, enabling post-bloom recovery in the absence of boundary-driven reintroduction.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 user-defined floor value for algal biomass is enforced after each time step.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 logic is embedded within the wqconstituents.f90 file and applied across all layers and segments where algal concentrations fall below the minimum.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An optional input parameter allows global or group-specific specification of the threshold.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 minimum value acts as a lower bound; once concentrations fall below it due to mortality or other sinks, they are reset to the threshold for subsequent time steps.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1206C43E-DC3C-4587-CEC0-4AE3F3EC7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 Algae Concentration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EAC0B17A-070A-2621-B620-7252B5A53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FB1E8571-151F-3E13-57DB-9B6101922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65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E9240401-6477-D516-2A8E-6D54A29B8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06FE0F06-1F16-9AA1-430C-C8CC6B1C1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607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simulate segment-specific algal biomass removal, reflecting surface skimming, pumping, or other mechanical control actions.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New input file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harvest_option_input.csv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 defines the active segments, interpolation method, and time-series file path.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 time-varying file (e.g., </a:t>
            </a:r>
            <a:r>
              <a:rPr lang="en-US" b="0" dirty="0" err="1">
                <a:latin typeface="Calibri" panose="020F0502020204030204" pitchFamily="34" charset="0"/>
                <a:cs typeface="Calibri" panose="020F0502020204030204" pitchFamily="34" charset="0"/>
              </a:rPr>
              <a:t>algal_harvesting_time-series.csv</a:t>
            </a: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) provides fractional reductions by segment and simulation day.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Variables are declared in w2modules.f90, and logic is added to input.f90, time-varying-data.f90, and wqconstituents.f90.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Removal is implemented as an instantaneous fractional reduction in the algal state variables during the time step corresponding to the input.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92D3B0D0-5C57-A23D-24D5-8DF1CE407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Mechanical Removal (Algal Harvesting and Other Treatments)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4144DA0D-E94C-811D-F21C-F9CE2CAE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E3AC3EE5-DD5D-C1B4-A9DF-12715373F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202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740ED700-FB45-3CC5-19BB-30A57DE2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073F27AB-605D-8F22-2FB6-6A498C945E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374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increase algal mortality in response to low dissolved oxygen (DO), reflecting physiological stress and bloom collapse under hypoxic conditions.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Logic added to algal growth and mortality routines to apply increased death rate when DO falls below a user-defined threshold.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Supports multiple response forms: step function, linear scaling, or Monod-style inhibition.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Applies uniformly to all algae in affected segments unless otherwise configured.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12318BDA-DE0A-D2B8-0882-1F2BEAA37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Hypoxia-Induced Mortality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BB1FE5C2-E2D9-28D2-9D38-1BE2473DB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D9AFE7E1-54CD-6EDD-FA3C-DB927A32F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82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93959387-F8BD-2F24-3115-7626CD94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371C6617-E70C-DC1D-AD8B-A491BD4B4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2270" y="878969"/>
            <a:ext cx="6061636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Purpose: To simulate atmospheric nitrogen uptake by diazotrophic algae under nitrogen-limited conditions.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Implementation: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Optional activation per algal group, enabled through user input.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Adds a supplementary nitrogen source term when DIN concentrations fall below a user-defined threshold.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Internal logic uses a Monod-like function to modulate fixation rate based on DIN availability.</a:t>
            </a:r>
          </a:p>
          <a:p>
            <a:pPr marL="857250" lvl="1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Ensures conservation of mass and allows continuous algal growth in nitrogen-limited but phosphorus-replete environments.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9CF20384-296C-CCD6-469F-EAF6B1E5AB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Nitrogen Fixation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 descr="A close-up of a graph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E9F6F8CC-BB7D-2A38-B546-8679A293C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467" y="902438"/>
            <a:ext cx="5401498" cy="2308595"/>
          </a:xfrm>
          <a:prstGeom prst="rect">
            <a:avLst/>
          </a:prstGeom>
        </p:spPr>
      </p:pic>
      <p:pic>
        <p:nvPicPr>
          <p:cNvPr id="3" name="Picture 2" descr="A graph showing the temperature of a person&#10;&#10;Description automatically generated">
            <a:hlinkClick r:id="" action="ppaction://media"/>
            <a:extLst>
              <a:ext uri="{FF2B5EF4-FFF2-40B4-BE49-F238E27FC236}">
                <a16:creationId xmlns:a16="http://schemas.microsoft.com/office/drawing/2014/main" id="{BE113BBF-B422-5124-2A14-551B1C1089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67" y="3388349"/>
            <a:ext cx="5401498" cy="29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9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/>
          <p:cNvSpPr txBox="1">
            <a:spLocks noGrp="1"/>
          </p:cNvSpPr>
          <p:nvPr>
            <p:ph type="body" idx="1"/>
          </p:nvPr>
        </p:nvSpPr>
        <p:spPr>
          <a:xfrm>
            <a:off x="406399" y="878969"/>
            <a:ext cx="7150848" cy="526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CE-QUAL-W2 (W2) will simulate HAB occurrences with greater precision.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W2 will improve understanding of how various environmental factors contribute to HAB dynamics, enabling more proactive management.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W2 outputs will help formulate effective mitigation strategies to reduce the frequency and severity of HAB events by targeting identified key contributing factors.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W2 outputs will facilitate adaptive management practices.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Improve HAB simulation of multiple future scenarios will improve emergency response and sampling.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Early detection and management of HABs will help protect ecosystem health and public safety, minimizing the adverse effects on wildlife and human populations.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9530DC-599E-C9FE-1A56-239229E69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landscape with trees and water in the background&#10;&#10;Description automatically generated with low confidence">
            <a:extLst>
              <a:ext uri="{FF2B5EF4-FFF2-40B4-BE49-F238E27FC236}">
                <a16:creationId xmlns:a16="http://schemas.microsoft.com/office/drawing/2014/main" id="{94F69EF3-72C3-6A53-2729-40D75FB78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741" y="709912"/>
            <a:ext cx="3634680" cy="2726010"/>
          </a:xfrm>
          <a:prstGeom prst="rect">
            <a:avLst/>
          </a:prstGeom>
        </p:spPr>
      </p:pic>
      <p:pic>
        <p:nvPicPr>
          <p:cNvPr id="7" name="Picture 6" descr="A boat in the water&#10;&#10;Description automatically generated with medium confidence">
            <a:extLst>
              <a:ext uri="{FF2B5EF4-FFF2-40B4-BE49-F238E27FC236}">
                <a16:creationId xmlns:a16="http://schemas.microsoft.com/office/drawing/2014/main" id="{EC0C2186-7ED7-A923-1E61-4E5D77322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741" y="3237567"/>
            <a:ext cx="3634680" cy="30104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5956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B9435EF6-4531-F95F-6C26-AFD00032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F2E60B4B-0553-36A8-DBA9-2EE757486C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 and Future Capabilities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808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27F01BAE-A61C-45B0-26D2-4EDFCFC8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E19EDC57-AC75-A235-39C3-FC40C55A1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398" y="1038300"/>
            <a:ext cx="6089935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Supports reading and writing CE-QUAL-W2 model files (legacy fixed-width format and CSV format).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Julian Days are converted to date-time format allowing the date axis to scale from minutes to decades with readable tick intervals and labels.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Plotting functions were developed for the meteorology and water quality input and output data.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Default plot options were set to make clear and readable plots.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sz="2000" b="0" dirty="0">
                <a:latin typeface="Calibri" panose="020F0502020204030204" pitchFamily="34" charset="0"/>
                <a:cs typeface="Calibri" panose="020F0502020204030204" pitchFamily="34" charset="0"/>
              </a:rPr>
              <a:t>Reporting capabilities are in development.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73EE1775-93C8-F688-9A74-5B707794E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Python CE-QUAL-W2 Library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1" descr="page4image7915344">
            <a:extLst>
              <a:ext uri="{FF2B5EF4-FFF2-40B4-BE49-F238E27FC236}">
                <a16:creationId xmlns:a16="http://schemas.microsoft.com/office/drawing/2014/main" id="{F884DC55-1E29-7080-5DD5-75225B17E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99900" y="804040"/>
            <a:ext cx="3458169" cy="544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16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7A8D31B5-D87B-653C-4DC3-C0E349E4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8D77C8A6-B129-E40B-0DF0-141CE37C8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399" y="942764"/>
            <a:ext cx="4193958" cy="44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 new graphical tool to view and analyze water quality time series data.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Designed to work with CE-QUAL-W2 model input and output data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Reads legacy ASCII formats, CSV, Excel, and SQLite (Data tab)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Converts data to calendar date format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Supports time series operations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Writes Excel and SQLite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Automatically computes summary statistics of all variables (Stats tab)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Leverages the new “cequalw2”Python library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76A6935F-0EA7-C3FC-D01C-15BFAB25C0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ClearView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3AFAC0-301D-5679-FB59-52DA1D3D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521" y="935291"/>
            <a:ext cx="7049415" cy="29154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DDE7D4-618B-1C3E-56A7-1DB763089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522" y="3981886"/>
            <a:ext cx="7049416" cy="207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46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1DEDAFD3-6AF9-369F-A7E0-E184573E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8D505BCF-E396-0868-1F1A-95E093655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398" y="783274"/>
            <a:ext cx="5015741" cy="44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Plot tab: select a variable from the drop-down list to plot it. Standard zoom, pan, save tools provided.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Methods tab: Post-processing methods include hourly, weekly, monthly, yearly, decadal, and cumulative mean, max, and min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4E71F463-3767-3024-E1F4-9E73AA627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ClearView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95059-BAF1-0340-170C-1BBD5B0ED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088" y="852947"/>
            <a:ext cx="3873825" cy="3346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CF06B6-9D90-AEF4-F1BD-F54004FAB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8" y="2987180"/>
            <a:ext cx="5015742" cy="2909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C7BF0-22FE-1994-3F7C-A994E2A8D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258" y="3455582"/>
            <a:ext cx="4071482" cy="277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6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47E1862A-379C-34D2-E3AE-567DB2CB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6">
            <a:extLst>
              <a:ext uri="{FF2B5EF4-FFF2-40B4-BE49-F238E27FC236}">
                <a16:creationId xmlns:a16="http://schemas.microsoft.com/office/drawing/2014/main" id="{EBB0A440-CA99-5F73-70D5-DCB5F2F1B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398" y="974505"/>
            <a:ext cx="4360307" cy="374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 Geometry Plug-in helps develop model bathymetry files from a DEM (digital elevation model).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After loading the DEM and shapefile of the centerline, the tool automatically generates the cross-sections.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 user can then split and/or merge cross-sections to refine the model bathymetry.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Clr>
                <a:srgbClr val="3F3F3F"/>
              </a:buClr>
              <a:buFont typeface="Arial" panose="020B0604020202020204" pitchFamily="34" charset="0"/>
              <a:buChar char="•"/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Then the model bathymetry can be exported for the CE-QUAL-W2 model.</a:t>
            </a:r>
          </a:p>
        </p:txBody>
      </p:sp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6D1B5E4B-4A6C-9B4D-C962-99F2C562D4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Bathymetry Editor (QGIS Plug-in)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2" descr="Figure 1. Example &quot;Segments&quot; showing different symbologies">
            <a:extLst>
              <a:ext uri="{FF2B5EF4-FFF2-40B4-BE49-F238E27FC236}">
                <a16:creationId xmlns:a16="http://schemas.microsoft.com/office/drawing/2014/main" id="{94D1FF9A-5148-F025-23EB-5941E4446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90360" y="913071"/>
            <a:ext cx="6646460" cy="4337508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538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BF4A5E59-316A-581C-36DE-E30EA610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62A73E19-AACB-5180-884E-B94A83DD4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Bathymetry Editor (QGIS Plug-in)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0F74DE-736E-F86E-2F58-9D8D2A0F26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1657" y="914400"/>
            <a:ext cx="608766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59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ABDC14CC-21D1-20FD-02B3-4E95CC41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F12A39A-CC3A-E6DE-1AC5-73B10C934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Bathymetry Editor (QGIS Plug-in)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E51031-F154-23CD-644A-1E261AEB12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0537" y="913474"/>
            <a:ext cx="6089904" cy="503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07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C7744384-7E0A-68BE-9CF3-F106950A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A9C49DCE-916E-DF07-202B-CFBC99B31C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Bathymetry Editor (QGIS Plug-in)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C3B567-5414-2FC6-CB01-F64CB360D3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2168" y="914400"/>
            <a:ext cx="608766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6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E5EEB4AE-8D1C-E9D2-AEB6-83F8E362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09157724-8DED-D3DE-9939-4332F555C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Bathymetry Editor (QGIS Plug-in)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FD0FC4-EA22-01D6-5B64-1F50874592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1048" y="913474"/>
            <a:ext cx="6089904" cy="503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07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>
          <a:extLst>
            <a:ext uri="{FF2B5EF4-FFF2-40B4-BE49-F238E27FC236}">
              <a16:creationId xmlns:a16="http://schemas.microsoft.com/office/drawing/2014/main" id="{F323DC73-7B9D-DD2E-93CE-E81BA3AC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4;p26">
            <a:extLst>
              <a:ext uri="{FF2B5EF4-FFF2-40B4-BE49-F238E27FC236}">
                <a16:creationId xmlns:a16="http://schemas.microsoft.com/office/drawing/2014/main" id="{489D08C1-414C-A365-A689-81BE41135F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186" y="246137"/>
            <a:ext cx="11792607" cy="557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Graphical Bathymetry Editor (QGIS Plug-in)</a:t>
            </a:r>
            <a:endParaRPr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8876EA-BA28-AC1F-635A-A202D91D35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1048" y="913474"/>
            <a:ext cx="6089904" cy="50310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914F8E-8F45-3157-F0ED-F5A2DD8EE8C9}"/>
              </a:ext>
            </a:extLst>
          </p:cNvPr>
          <p:cNvSpPr txBox="1"/>
          <p:nvPr/>
        </p:nvSpPr>
        <p:spPr>
          <a:xfrm>
            <a:off x="4434400" y="1535404"/>
            <a:ext cx="701717" cy="363288"/>
          </a:xfrm>
          <a:prstGeom prst="rect">
            <a:avLst/>
          </a:prstGeom>
          <a:solidFill>
            <a:srgbClr val="996600">
              <a:alpha val="54000"/>
            </a:srgbClr>
          </a:solidFill>
          <a:effectLst>
            <a:softEdge rad="41261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7D9412-3F9C-C527-9CB6-E6E12F5BCC63}"/>
              </a:ext>
            </a:extLst>
          </p:cNvPr>
          <p:cNvSpPr txBox="1"/>
          <p:nvPr/>
        </p:nvSpPr>
        <p:spPr>
          <a:xfrm>
            <a:off x="5256164" y="2235074"/>
            <a:ext cx="792965" cy="363288"/>
          </a:xfrm>
          <a:prstGeom prst="rect">
            <a:avLst/>
          </a:prstGeom>
          <a:solidFill>
            <a:srgbClr val="996600">
              <a:alpha val="54000"/>
            </a:srgbClr>
          </a:solidFill>
          <a:effectLst>
            <a:softEdge rad="41261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Split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275D57-2E9E-C839-62E0-3772273C32D6}"/>
              </a:ext>
            </a:extLst>
          </p:cNvPr>
          <p:cNvSpPr txBox="1"/>
          <p:nvPr/>
        </p:nvSpPr>
        <p:spPr>
          <a:xfrm>
            <a:off x="5703145" y="3366755"/>
            <a:ext cx="952917" cy="363288"/>
          </a:xfrm>
          <a:prstGeom prst="rect">
            <a:avLst/>
          </a:prstGeom>
          <a:solidFill>
            <a:srgbClr val="996600">
              <a:alpha val="54000"/>
            </a:srgbClr>
          </a:solidFill>
          <a:effectLst>
            <a:softEdge rad="41261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Merge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C89240-A84B-7251-A885-40CE669DF9FB}"/>
              </a:ext>
            </a:extLst>
          </p:cNvPr>
          <p:cNvSpPr txBox="1"/>
          <p:nvPr/>
        </p:nvSpPr>
        <p:spPr>
          <a:xfrm>
            <a:off x="6496110" y="3789898"/>
            <a:ext cx="952918" cy="345401"/>
          </a:xfrm>
          <a:prstGeom prst="rect">
            <a:avLst/>
          </a:prstGeom>
          <a:solidFill>
            <a:srgbClr val="996600">
              <a:alpha val="54000"/>
            </a:srgbClr>
          </a:solidFill>
          <a:effectLst>
            <a:softEdge rad="41261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Split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401F08-1825-EFC6-62A5-B16D2FF1F135}"/>
              </a:ext>
            </a:extLst>
          </p:cNvPr>
          <p:cNvSpPr txBox="1"/>
          <p:nvPr/>
        </p:nvSpPr>
        <p:spPr>
          <a:xfrm>
            <a:off x="7076547" y="4921580"/>
            <a:ext cx="846900" cy="345401"/>
          </a:xfrm>
          <a:prstGeom prst="rect">
            <a:avLst/>
          </a:prstGeom>
          <a:solidFill>
            <a:srgbClr val="996600">
              <a:alpha val="54000"/>
            </a:srgbClr>
          </a:solidFill>
          <a:effectLst>
            <a:softEdge rad="41261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Merge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DA6EC-C1BB-2BA2-9D1D-973DD5AFF3C1}"/>
              </a:ext>
            </a:extLst>
          </p:cNvPr>
          <p:cNvSpPr txBox="1"/>
          <p:nvPr/>
        </p:nvSpPr>
        <p:spPr>
          <a:xfrm>
            <a:off x="7393076" y="5282990"/>
            <a:ext cx="1734228" cy="345401"/>
          </a:xfrm>
          <a:prstGeom prst="rect">
            <a:avLst/>
          </a:prstGeom>
          <a:solidFill>
            <a:srgbClr val="996600">
              <a:alpha val="54000"/>
            </a:srgbClr>
          </a:solidFill>
          <a:effectLst>
            <a:softEdge rad="41261"/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Merge, then Split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DF6DF38-50CD-ACAE-BFDE-8FF353E69015}"/>
              </a:ext>
            </a:extLst>
          </p:cNvPr>
          <p:cNvSpPr/>
          <p:nvPr/>
        </p:nvSpPr>
        <p:spPr>
          <a:xfrm>
            <a:off x="6871059" y="5436693"/>
            <a:ext cx="546721" cy="47536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E324546-3811-4DE1-33B5-57CC8BB8D5B8}"/>
              </a:ext>
            </a:extLst>
          </p:cNvPr>
          <p:cNvSpPr/>
          <p:nvPr/>
        </p:nvSpPr>
        <p:spPr>
          <a:xfrm>
            <a:off x="3862540" y="1651290"/>
            <a:ext cx="605574" cy="38354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75FAE6-AB92-E8A7-C68F-25A4A2B797BE}"/>
              </a:ext>
            </a:extLst>
          </p:cNvPr>
          <p:cNvSpPr/>
          <p:nvPr/>
        </p:nvSpPr>
        <p:spPr>
          <a:xfrm>
            <a:off x="4772242" y="2413900"/>
            <a:ext cx="453575" cy="32696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1A8A22-EB46-8FC9-D8FE-B4ADF1628787}"/>
              </a:ext>
            </a:extLst>
          </p:cNvPr>
          <p:cNvSpPr/>
          <p:nvPr/>
        </p:nvSpPr>
        <p:spPr>
          <a:xfrm>
            <a:off x="5346993" y="3698229"/>
            <a:ext cx="721797" cy="55651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CF727D1-D44C-1FD8-FBF0-D85E26CB4F96}"/>
              </a:ext>
            </a:extLst>
          </p:cNvPr>
          <p:cNvSpPr/>
          <p:nvPr/>
        </p:nvSpPr>
        <p:spPr>
          <a:xfrm>
            <a:off x="6117208" y="4090676"/>
            <a:ext cx="403606" cy="3484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9F0084F-2916-30A7-7FC4-F541AC219F0E}"/>
              </a:ext>
            </a:extLst>
          </p:cNvPr>
          <p:cNvSpPr/>
          <p:nvPr/>
        </p:nvSpPr>
        <p:spPr>
          <a:xfrm>
            <a:off x="6631340" y="5124461"/>
            <a:ext cx="403606" cy="3484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61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263" y="243812"/>
            <a:ext cx="11771450" cy="584775"/>
          </a:xfr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BDC0FE-2D3C-8007-DE6D-85411A15D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5" y="964654"/>
            <a:ext cx="9307229" cy="5231874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F4FF284-1579-6DC8-603E-D12CCAB1F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5" y="840259"/>
            <a:ext cx="9601513" cy="53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3">
      <a:dk1>
        <a:srgbClr val="000000"/>
      </a:dk1>
      <a:lt1>
        <a:srgbClr val="000099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AAAACA"/>
      </a:accent3>
      <a:accent4>
        <a:srgbClr val="000000"/>
      </a:accent4>
      <a:accent5>
        <a:srgbClr val="DAEDEF"/>
      </a:accent5>
      <a:accent6>
        <a:srgbClr val="2D2D8A"/>
      </a:accent6>
      <a:hlink>
        <a:srgbClr val="0033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000099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C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3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4.xml><?xml version="1.0" encoding="utf-8"?>
<a:theme xmlns:a="http://schemas.openxmlformats.org/drawingml/2006/main" name="Theme1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5BD5409E-D28A-4DE1-B742-12A5FE8EEDE3}" vid="{659E9C23-BBC0-40D1-881C-ED13B734E766}"/>
    </a:ext>
  </a:extLst>
</a:theme>
</file>

<file path=ppt/theme/theme5.xml><?xml version="1.0" encoding="utf-8"?>
<a:theme xmlns:a="http://schemas.openxmlformats.org/drawingml/2006/main" name="1_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6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7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8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Props1.xml><?xml version="1.0" encoding="utf-8"?>
<ds:datastoreItem xmlns:ds="http://schemas.openxmlformats.org/officeDocument/2006/customXml" ds:itemID="{A1B6B0AC-AE72-491B-82D6-C5FEC7EF9E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C82209-64DA-4724-8F78-9B9ADDE15E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4B435-F776-40B2-9F23-A47D5476E0B1}">
  <ds:schemaRefs>
    <ds:schemaRef ds:uri="http://schemas.microsoft.com/office/2006/metadata/properties"/>
    <ds:schemaRef ds:uri="http://schemas.microsoft.com/office/infopath/2007/PartnerControls"/>
    <ds:schemaRef ds:uri="83868113-c0a5-43de-a876-5fe4e9e92519"/>
    <ds:schemaRef ds:uri="33812d21-cc6d-40d3-8190-1784895c4f8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1220</Words>
  <Application>Microsoft Macintosh PowerPoint</Application>
  <PresentationFormat>Widescreen</PresentationFormat>
  <Paragraphs>133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Arial</vt:lpstr>
      <vt:lpstr>Calibri</vt:lpstr>
      <vt:lpstr>Calibri Light</vt:lpstr>
      <vt:lpstr>Wingdings</vt:lpstr>
      <vt:lpstr>Wingdings 3</vt:lpstr>
      <vt:lpstr>Custom Design</vt:lpstr>
      <vt:lpstr>UNCL // FOUO Content</vt:lpstr>
      <vt:lpstr>Title Slide Templates</vt:lpstr>
      <vt:lpstr>Theme1</vt:lpstr>
      <vt:lpstr>1_UNCL // FOUO Content</vt:lpstr>
      <vt:lpstr>UNCLASSIFIED Content</vt:lpstr>
      <vt:lpstr>Custom Classification Content</vt:lpstr>
      <vt:lpstr>Standard White Theme</vt:lpstr>
      <vt:lpstr>New and Future Capabilities</vt:lpstr>
      <vt:lpstr>Enhancements to Improve Harmful Algal Bloom Modeling</vt:lpstr>
      <vt:lpstr>Introduction</vt:lpstr>
      <vt:lpstr>Challenges and Solutions</vt:lpstr>
      <vt:lpstr>Survey Results: CE-QUAL-W2 Development Opportunities</vt:lpstr>
      <vt:lpstr>CE-QUAL-W2 Enhancements</vt:lpstr>
      <vt:lpstr>Minimum Algae Concentration</vt:lpstr>
      <vt:lpstr>Mechanical Removal (Algal Harvesting and Other Treatments)</vt:lpstr>
      <vt:lpstr>Hypoxia-Induced Mortality</vt:lpstr>
      <vt:lpstr>Nitrogen Fixation</vt:lpstr>
      <vt:lpstr>Benefits</vt:lpstr>
      <vt:lpstr>New and Future Capabilities</vt:lpstr>
      <vt:lpstr>Python CE-QUAL-W2 Library</vt:lpstr>
      <vt:lpstr>ClearView</vt:lpstr>
      <vt:lpstr>ClearView</vt:lpstr>
      <vt:lpstr>Graphical Bathymetry Editor (QGIS Plug-in)</vt:lpstr>
      <vt:lpstr>Graphical Bathymetry Editor (QGIS Plug-in)</vt:lpstr>
      <vt:lpstr>Graphical Bathymetry Editor (QGIS Plug-in)</vt:lpstr>
      <vt:lpstr>Graphical Bathymetry Editor (QGIS Plug-in)</vt:lpstr>
      <vt:lpstr>Graphical Bathymetry Editor (QGIS Plug-in)</vt:lpstr>
      <vt:lpstr>Graphical Bathymetry Editor (QGIS Plug-in)</vt:lpstr>
      <vt:lpstr>Questions?</vt:lpstr>
    </vt:vector>
  </TitlesOfParts>
  <Company>US Army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b6imemb6</dc:creator>
  <cp:lastModifiedBy>Todd Steissberg</cp:lastModifiedBy>
  <cp:revision>381</cp:revision>
  <dcterms:created xsi:type="dcterms:W3CDTF">2011-07-13T22:03:07Z</dcterms:created>
  <dcterms:modified xsi:type="dcterms:W3CDTF">2025-09-18T11:13:30Z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  <property fmtid="{D5CDD505-2E9C-101B-9397-08002B2CF9AE}" pid="3" name="MediaServiceImageTags">
    <vt:lpwstr/>
  </property>
</Properties>
</file>